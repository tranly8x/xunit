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32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cxnSp>
        <p:nvCxnSpPr>
          <p:cNvPr id="2" name="Connector 1"/>
          <p:cNvCxnSpPr/>
          <p:nvPr/>
        </p:nvCxnSpPr>
        <p:spPr>
          <a:xfrm>
            <a:off x="720000" y="2700000"/>
            <a:ext cx="10753200" cy="0"/>
          </a:xfrm>
          <a:prstGeom prst="line">
            <a:avLst/>
          </a:prstGeom>
          <a:ln w="25400">
            <a:solidFill>
              <a:srgbClr val="C9A84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20000" y="900000"/>
            <a:ext cx="10753200" cy="1007999"/>
          </a:xfrm>
          <a:prstGeom prst="rect">
            <a:avLst/>
          </a:prstGeom>
          <a:noFill/>
        </p:spPr>
        <p:txBody>
          <a:bodyPr wrap="square">
            <a:spAutoFit/>
          </a:bodyPr>
          <a:lstStyle/>
          <a:p>
            <a:pPr algn="ctr"/>
            <a:r>
              <a:rPr sz="4000" b="1" i="0">
                <a:solidFill>
                  <a:srgbClr val="C9A84C"/>
                </a:solidFill>
                <a:latin typeface="Calibri"/>
              </a:rPr>
              <a:t>SPLENDORA HH4 DIGITAL PLATFORM</a:t>
            </a:r>
          </a:p>
        </p:txBody>
      </p:sp>
      <p:sp>
        <p:nvSpPr>
          <p:cNvPr id="4" name="TextBox 3"/>
          <p:cNvSpPr txBox="1"/>
          <p:nvPr/>
        </p:nvSpPr>
        <p:spPr>
          <a:xfrm>
            <a:off x="720000" y="1980000"/>
            <a:ext cx="10753200" cy="503999"/>
          </a:xfrm>
          <a:prstGeom prst="rect">
            <a:avLst/>
          </a:prstGeom>
          <a:noFill/>
        </p:spPr>
        <p:txBody>
          <a:bodyPr wrap="square">
            <a:spAutoFit/>
          </a:bodyPr>
          <a:lstStyle/>
          <a:p>
            <a:pPr algn="ctr"/>
            <a:r>
              <a:rPr sz="2200" b="0" i="1">
                <a:solidFill>
                  <a:srgbClr val="FFFFFF"/>
                </a:solidFill>
                <a:latin typeface="Calibri"/>
              </a:rPr>
              <a:t>Where Luxury Living Begins Before Move-In</a:t>
            </a:r>
          </a:p>
        </p:txBody>
      </p:sp>
      <p:sp>
        <p:nvSpPr>
          <p:cNvPr id="5" name="TextBox 4"/>
          <p:cNvSpPr txBox="1"/>
          <p:nvPr/>
        </p:nvSpPr>
        <p:spPr>
          <a:xfrm>
            <a:off x="720000" y="2988000"/>
            <a:ext cx="10753200" cy="396000"/>
          </a:xfrm>
          <a:prstGeom prst="rect">
            <a:avLst/>
          </a:prstGeom>
          <a:noFill/>
        </p:spPr>
        <p:txBody>
          <a:bodyPr wrap="square">
            <a:spAutoFit/>
          </a:bodyPr>
          <a:lstStyle/>
          <a:p>
            <a:pPr algn="ctr"/>
            <a:r>
              <a:rPr sz="1800" b="0" i="0">
                <a:solidFill>
                  <a:srgbClr val="B0C4DE"/>
                </a:solidFill>
                <a:latin typeface="Calibri"/>
              </a:rPr>
              <a:t>Investment Proposal  |  &gt;$10,000,000 USD</a:t>
            </a:r>
          </a:p>
        </p:txBody>
      </p:sp>
      <p:sp>
        <p:nvSpPr>
          <p:cNvPr id="6" name="TextBox 5"/>
          <p:cNvSpPr txBox="1"/>
          <p:nvPr/>
        </p:nvSpPr>
        <p:spPr>
          <a:xfrm>
            <a:off x="720000" y="6066000"/>
            <a:ext cx="10753200" cy="324000"/>
          </a:xfrm>
          <a:prstGeom prst="rect">
            <a:avLst/>
          </a:prstGeom>
          <a:noFill/>
        </p:spPr>
        <p:txBody>
          <a:bodyPr wrap="square">
            <a:spAutoFit/>
          </a:bodyPr>
          <a:lstStyle/>
          <a:p>
            <a:pPr algn="ctr"/>
            <a:r>
              <a:rPr sz="1300" b="0" i="1">
                <a:solidFill>
                  <a:srgbClr val="B0C4DE"/>
                </a:solidFill>
                <a:latin typeface="Calibri"/>
              </a:rPr>
              <a:t>March 2026  |  Strictly Confidential</a:t>
            </a:r>
          </a:p>
        </p:txBody>
      </p:sp>
      <p:sp>
        <p:nvSpPr>
          <p:cNvPr id="7" name="TextBox 6"/>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8" name="Connector 7"/>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473200" y="6462000"/>
            <a:ext cx="576000" cy="288000"/>
          </a:xfrm>
          <a:prstGeom prst="rect">
            <a:avLst/>
          </a:prstGeom>
          <a:noFill/>
        </p:spPr>
        <p:txBody>
          <a:bodyPr wrap="square">
            <a:spAutoFit/>
          </a:bodyPr>
          <a:lstStyle/>
          <a:p>
            <a:pPr algn="r"/>
            <a:r>
              <a:rPr sz="1000" b="0" i="0">
                <a:solidFill>
                  <a:srgbClr val="C9A84C"/>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3 Numbers That Define This Investment</a:t>
            </a:r>
          </a:p>
        </p:txBody>
      </p:sp>
      <p:sp>
        <p:nvSpPr>
          <p:cNvPr id="3" name="Rectangle 2"/>
          <p:cNvSpPr/>
          <p:nvPr/>
        </p:nvSpPr>
        <p:spPr>
          <a:xfrm>
            <a:off x="432000" y="1152000"/>
            <a:ext cx="3311999" cy="2340000"/>
          </a:xfrm>
          <a:prstGeom prst="rect">
            <a:avLst/>
          </a:prstGeom>
          <a:no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0000" y="1403999"/>
            <a:ext cx="3095999" cy="864000"/>
          </a:xfrm>
          <a:prstGeom prst="rect">
            <a:avLst/>
          </a:prstGeom>
          <a:noFill/>
        </p:spPr>
        <p:txBody>
          <a:bodyPr wrap="square">
            <a:spAutoFit/>
          </a:bodyPr>
          <a:lstStyle/>
          <a:p>
            <a:pPr algn="ctr"/>
            <a:r>
              <a:rPr sz="3400" b="1" i="0">
                <a:solidFill>
                  <a:srgbClr val="C9A84C"/>
                </a:solidFill>
                <a:latin typeface="Calibri"/>
              </a:rPr>
              <a:t>$250,000,000</a:t>
            </a:r>
          </a:p>
        </p:txBody>
      </p:sp>
      <p:sp>
        <p:nvSpPr>
          <p:cNvPr id="5" name="TextBox 4"/>
          <p:cNvSpPr txBox="1"/>
          <p:nvPr/>
        </p:nvSpPr>
        <p:spPr>
          <a:xfrm>
            <a:off x="540000" y="2340000"/>
            <a:ext cx="3095999" cy="1007999"/>
          </a:xfrm>
          <a:prstGeom prst="rect">
            <a:avLst/>
          </a:prstGeom>
          <a:noFill/>
        </p:spPr>
        <p:txBody>
          <a:bodyPr wrap="square">
            <a:spAutoFit/>
          </a:bodyPr>
          <a:lstStyle/>
          <a:p>
            <a:pPr algn="ctr"/>
            <a:r>
              <a:rPr sz="1400" b="0" i="0">
                <a:solidFill>
                  <a:srgbClr val="B0C4DE"/>
                </a:solidFill>
                <a:latin typeface="Calibri"/>
              </a:rPr>
              <a:t>Total GTV to Protect &amp; Unlock</a:t>
            </a:r>
          </a:p>
        </p:txBody>
      </p:sp>
      <p:sp>
        <p:nvSpPr>
          <p:cNvPr id="6" name="Rectangle 5"/>
          <p:cNvSpPr/>
          <p:nvPr/>
        </p:nvSpPr>
        <p:spPr>
          <a:xfrm>
            <a:off x="4031999" y="1152000"/>
            <a:ext cx="3311999" cy="2340000"/>
          </a:xfrm>
          <a:prstGeom prst="rect">
            <a:avLst/>
          </a:prstGeom>
          <a:no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39999" y="1403999"/>
            <a:ext cx="3095999" cy="864000"/>
          </a:xfrm>
          <a:prstGeom prst="rect">
            <a:avLst/>
          </a:prstGeom>
          <a:noFill/>
        </p:spPr>
        <p:txBody>
          <a:bodyPr wrap="square">
            <a:spAutoFit/>
          </a:bodyPr>
          <a:lstStyle/>
          <a:p>
            <a:pPr algn="ctr"/>
            <a:r>
              <a:rPr sz="3400" b="1" i="0">
                <a:solidFill>
                  <a:srgbClr val="C9A84C"/>
                </a:solidFill>
                <a:latin typeface="Calibri"/>
              </a:rPr>
              <a:t>$11,900</a:t>
            </a:r>
          </a:p>
        </p:txBody>
      </p:sp>
      <p:sp>
        <p:nvSpPr>
          <p:cNvPr id="8" name="TextBox 7"/>
          <p:cNvSpPr txBox="1"/>
          <p:nvPr/>
        </p:nvSpPr>
        <p:spPr>
          <a:xfrm>
            <a:off x="4139999" y="2340000"/>
            <a:ext cx="3095999" cy="1007999"/>
          </a:xfrm>
          <a:prstGeom prst="rect">
            <a:avLst/>
          </a:prstGeom>
          <a:noFill/>
        </p:spPr>
        <p:txBody>
          <a:bodyPr wrap="square">
            <a:spAutoFit/>
          </a:bodyPr>
          <a:lstStyle/>
          <a:p>
            <a:pPr algn="ctr"/>
            <a:r>
              <a:rPr sz="1400" b="0" i="0">
                <a:solidFill>
                  <a:srgbClr val="B0C4DE"/>
                </a:solidFill>
                <a:latin typeface="Calibri"/>
              </a:rPr>
              <a:t>HNW Prospect's Time Value Per Hour</a:t>
            </a:r>
          </a:p>
        </p:txBody>
      </p:sp>
      <p:sp>
        <p:nvSpPr>
          <p:cNvPr id="9" name="Rectangle 8"/>
          <p:cNvSpPr/>
          <p:nvPr/>
        </p:nvSpPr>
        <p:spPr>
          <a:xfrm>
            <a:off x="7631998" y="1152000"/>
            <a:ext cx="3311999" cy="2340000"/>
          </a:xfrm>
          <a:prstGeom prst="rect">
            <a:avLst/>
          </a:prstGeom>
          <a:no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39998" y="1403999"/>
            <a:ext cx="3095999" cy="864000"/>
          </a:xfrm>
          <a:prstGeom prst="rect">
            <a:avLst/>
          </a:prstGeom>
          <a:noFill/>
        </p:spPr>
        <p:txBody>
          <a:bodyPr wrap="square">
            <a:spAutoFit/>
          </a:bodyPr>
          <a:lstStyle/>
          <a:p>
            <a:pPr algn="ctr"/>
            <a:r>
              <a:rPr sz="3400" b="1" i="0">
                <a:solidFill>
                  <a:srgbClr val="C9A84C"/>
                </a:solidFill>
                <a:latin typeface="Calibri"/>
              </a:rPr>
              <a:t>87%</a:t>
            </a:r>
          </a:p>
        </p:txBody>
      </p:sp>
      <p:sp>
        <p:nvSpPr>
          <p:cNvPr id="11" name="TextBox 10"/>
          <p:cNvSpPr txBox="1"/>
          <p:nvPr/>
        </p:nvSpPr>
        <p:spPr>
          <a:xfrm>
            <a:off x="7739998" y="2340000"/>
            <a:ext cx="3095999" cy="1007999"/>
          </a:xfrm>
          <a:prstGeom prst="rect">
            <a:avLst/>
          </a:prstGeom>
          <a:noFill/>
        </p:spPr>
        <p:txBody>
          <a:bodyPr wrap="square">
            <a:spAutoFit/>
          </a:bodyPr>
          <a:lstStyle/>
          <a:p>
            <a:pPr algn="ctr"/>
            <a:r>
              <a:rPr sz="1400" b="0" i="0">
                <a:solidFill>
                  <a:srgbClr val="B0C4DE"/>
                </a:solidFill>
                <a:latin typeface="Calibri"/>
              </a:rPr>
              <a:t>Buyers Research Digitally Before Physical Visit</a:t>
            </a:r>
          </a:p>
        </p:txBody>
      </p:sp>
      <p:sp>
        <p:nvSpPr>
          <p:cNvPr id="12" name="TextBox 11"/>
          <p:cNvSpPr txBox="1"/>
          <p:nvPr/>
        </p:nvSpPr>
        <p:spPr>
          <a:xfrm>
            <a:off x="720000" y="5994000"/>
            <a:ext cx="10753200" cy="324000"/>
          </a:xfrm>
          <a:prstGeom prst="rect">
            <a:avLst/>
          </a:prstGeom>
          <a:noFill/>
        </p:spPr>
        <p:txBody>
          <a:bodyPr wrap="square">
            <a:spAutoFit/>
          </a:bodyPr>
          <a:lstStyle/>
          <a:p>
            <a:pPr algn="ctr"/>
            <a:r>
              <a:rPr sz="1200" b="0" i="1">
                <a:solidFill>
                  <a:srgbClr val="B0C4DE"/>
                </a:solidFill>
                <a:latin typeface="Calibri"/>
              </a:rPr>
              <a:t>Every second of experience counts. Every data point matters.</a:t>
            </a:r>
          </a:p>
        </p:txBody>
      </p:sp>
      <p:sp>
        <p:nvSpPr>
          <p:cNvPr id="13" name="TextBox 12"/>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14" name="Connector 13"/>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1473200" y="6462000"/>
            <a:ext cx="576000" cy="288000"/>
          </a:xfrm>
          <a:prstGeom prst="rect">
            <a:avLst/>
          </a:prstGeom>
          <a:noFill/>
        </p:spPr>
        <p:txBody>
          <a:bodyPr wrap="square">
            <a:spAutoFit/>
          </a:bodyPr>
          <a:lstStyle/>
          <a:p>
            <a:pPr algn="r"/>
            <a:r>
              <a:rPr sz="1000" b="0" i="0">
                <a:solidFill>
                  <a:srgbClr val="C9A84C"/>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Today's Real Estate Sales Process Is Failing Premium Buyers</a:t>
            </a:r>
          </a:p>
        </p:txBody>
      </p:sp>
      <p:sp>
        <p:nvSpPr>
          <p:cNvPr id="3" name="Rectangle 2"/>
          <p:cNvSpPr/>
          <p:nvPr/>
        </p:nvSpPr>
        <p:spPr>
          <a:xfrm>
            <a:off x="540000" y="1080000"/>
            <a:ext cx="11113200" cy="720000"/>
          </a:xfrm>
          <a:prstGeom prst="rect">
            <a:avLst/>
          </a:prstGeom>
          <a:solidFill>
            <a:srgbClr val="142A42"/>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1170000"/>
            <a:ext cx="10753200" cy="612000"/>
          </a:xfrm>
          <a:prstGeom prst="rect">
            <a:avLst/>
          </a:prstGeom>
          <a:noFill/>
        </p:spPr>
        <p:txBody>
          <a:bodyPr wrap="square">
            <a:spAutoFit/>
          </a:bodyPr>
          <a:lstStyle/>
          <a:p>
            <a:pPr algn="l"/>
            <a:r>
              <a:rPr sz="1600" b="0" i="0">
                <a:solidFill>
                  <a:srgbClr val="FFFFFF"/>
                </a:solidFill>
                <a:latin typeface="Calibri"/>
              </a:rPr>
              <a:t>❌  Brochure PDF — No tracking, no personalization</a:t>
            </a:r>
          </a:p>
        </p:txBody>
      </p:sp>
      <p:sp>
        <p:nvSpPr>
          <p:cNvPr id="5" name="Rectangle 4"/>
          <p:cNvSpPr/>
          <p:nvPr/>
        </p:nvSpPr>
        <p:spPr>
          <a:xfrm>
            <a:off x="540000" y="1925999"/>
            <a:ext cx="11113200" cy="720000"/>
          </a:xfrm>
          <a:prstGeom prst="rect">
            <a:avLst/>
          </a:prstGeom>
          <a:solidFill>
            <a:srgbClr val="142A42"/>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015999"/>
            <a:ext cx="10753200" cy="612000"/>
          </a:xfrm>
          <a:prstGeom prst="rect">
            <a:avLst/>
          </a:prstGeom>
          <a:noFill/>
        </p:spPr>
        <p:txBody>
          <a:bodyPr wrap="square">
            <a:spAutoFit/>
          </a:bodyPr>
          <a:lstStyle/>
          <a:p>
            <a:pPr algn="l"/>
            <a:r>
              <a:rPr sz="1600" b="0" i="0">
                <a:solidFill>
                  <a:srgbClr val="FFFFFF"/>
                </a:solidFill>
                <a:latin typeface="Calibri"/>
              </a:rPr>
              <a:t>❌  Physical showroom — Geography-limited, 9–6 only</a:t>
            </a:r>
          </a:p>
        </p:txBody>
      </p:sp>
      <p:sp>
        <p:nvSpPr>
          <p:cNvPr id="7" name="Rectangle 6"/>
          <p:cNvSpPr/>
          <p:nvPr/>
        </p:nvSpPr>
        <p:spPr>
          <a:xfrm>
            <a:off x="540000" y="2771998"/>
            <a:ext cx="11113200" cy="720000"/>
          </a:xfrm>
          <a:prstGeom prst="rect">
            <a:avLst/>
          </a:prstGeom>
          <a:solidFill>
            <a:srgbClr val="142A42"/>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0000" y="2861998"/>
            <a:ext cx="10753200" cy="612000"/>
          </a:xfrm>
          <a:prstGeom prst="rect">
            <a:avLst/>
          </a:prstGeom>
          <a:noFill/>
        </p:spPr>
        <p:txBody>
          <a:bodyPr wrap="square">
            <a:spAutoFit/>
          </a:bodyPr>
          <a:lstStyle/>
          <a:p>
            <a:pPr algn="l"/>
            <a:r>
              <a:rPr sz="1600" b="0" i="0">
                <a:solidFill>
                  <a:srgbClr val="FFFFFF"/>
                </a:solidFill>
                <a:latin typeface="Calibri"/>
              </a:rPr>
              <a:t>❌  Sales call — Inconsistent, human-dependent</a:t>
            </a:r>
          </a:p>
        </p:txBody>
      </p:sp>
      <p:sp>
        <p:nvSpPr>
          <p:cNvPr id="9" name="Rectangle 8"/>
          <p:cNvSpPr/>
          <p:nvPr/>
        </p:nvSpPr>
        <p:spPr>
          <a:xfrm>
            <a:off x="540000" y="3617997"/>
            <a:ext cx="11113200" cy="720000"/>
          </a:xfrm>
          <a:prstGeom prst="rect">
            <a:avLst/>
          </a:prstGeom>
          <a:solidFill>
            <a:srgbClr val="142A42"/>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0000" y="3707997"/>
            <a:ext cx="10753200" cy="612000"/>
          </a:xfrm>
          <a:prstGeom prst="rect">
            <a:avLst/>
          </a:prstGeom>
          <a:noFill/>
        </p:spPr>
        <p:txBody>
          <a:bodyPr wrap="square">
            <a:spAutoFit/>
          </a:bodyPr>
          <a:lstStyle/>
          <a:p>
            <a:pPr algn="l"/>
            <a:r>
              <a:rPr sz="1600" b="0" i="0">
                <a:solidFill>
                  <a:srgbClr val="FFFFFF"/>
                </a:solidFill>
                <a:latin typeface="Calibri"/>
              </a:rPr>
              <a:t>❌  Post-sale — Zero ecosystem. Zero loyalty.</a:t>
            </a:r>
          </a:p>
        </p:txBody>
      </p:sp>
      <p:sp>
        <p:nvSpPr>
          <p:cNvPr id="11" name="Rectangle 10"/>
          <p:cNvSpPr/>
          <p:nvPr/>
        </p:nvSpPr>
        <p:spPr>
          <a:xfrm>
            <a:off x="540000" y="4932000"/>
            <a:ext cx="11113200" cy="64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0000" y="5004000"/>
            <a:ext cx="10753200" cy="503999"/>
          </a:xfrm>
          <a:prstGeom prst="rect">
            <a:avLst/>
          </a:prstGeom>
          <a:noFill/>
        </p:spPr>
        <p:txBody>
          <a:bodyPr wrap="square">
            <a:spAutoFit/>
          </a:bodyPr>
          <a:lstStyle/>
          <a:p>
            <a:pPr algn="ctr"/>
            <a:r>
              <a:rPr sz="1500" b="1" i="1">
                <a:solidFill>
                  <a:srgbClr val="0D1B2A"/>
                </a:solidFill>
                <a:latin typeface="Calibri"/>
              </a:rPr>
              <a:t>HNW/UHNW buyers expect Amazon-level personalization with Ritz-Carlton-level service.</a:t>
            </a:r>
          </a:p>
        </p:txBody>
      </p:sp>
      <p:sp>
        <p:nvSpPr>
          <p:cNvPr id="13" name="TextBox 12"/>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14" name="Connector 13"/>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1473200" y="6462000"/>
            <a:ext cx="576000" cy="288000"/>
          </a:xfrm>
          <a:prstGeom prst="rect">
            <a:avLst/>
          </a:prstGeom>
          <a:noFill/>
        </p:spPr>
        <p:txBody>
          <a:bodyPr wrap="square">
            <a:spAutoFit/>
          </a:bodyPr>
          <a:lstStyle/>
          <a:p>
            <a:pPr algn="r"/>
            <a:r>
              <a:rPr sz="1000" b="0" i="0">
                <a:solidFill>
                  <a:srgbClr val="C9A84C"/>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Why Now? Three Converging Forces</a:t>
            </a:r>
          </a:p>
        </p:txBody>
      </p:sp>
      <p:sp>
        <p:nvSpPr>
          <p:cNvPr id="3" name="Rectangle 2"/>
          <p:cNvSpPr/>
          <p:nvPr/>
        </p:nvSpPr>
        <p:spPr>
          <a:xfrm>
            <a:off x="432000" y="1152000"/>
            <a:ext cx="3420000" cy="3240000"/>
          </a:xfrm>
          <a:prstGeom prst="rect">
            <a:avLst/>
          </a:prstGeom>
          <a:solidFill>
            <a:srgbClr val="2E5090"/>
          </a:solidFill>
          <a:ln w="190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0000" y="1332000"/>
            <a:ext cx="3204000" cy="720000"/>
          </a:xfrm>
          <a:prstGeom prst="rect">
            <a:avLst/>
          </a:prstGeom>
          <a:noFill/>
        </p:spPr>
        <p:txBody>
          <a:bodyPr wrap="square">
            <a:spAutoFit/>
          </a:bodyPr>
          <a:lstStyle/>
          <a:p>
            <a:pPr algn="ctr"/>
            <a:r>
              <a:rPr sz="1600" b="1" i="0">
                <a:solidFill>
                  <a:srgbClr val="C9A84C"/>
                </a:solidFill>
                <a:latin typeface="Calibri"/>
              </a:rPr>
              <a:t>🌐 Digital-native HNW</a:t>
            </a:r>
          </a:p>
        </p:txBody>
      </p:sp>
      <p:sp>
        <p:nvSpPr>
          <p:cNvPr id="5" name="TextBox 4"/>
          <p:cNvSpPr txBox="1"/>
          <p:nvPr/>
        </p:nvSpPr>
        <p:spPr>
          <a:xfrm>
            <a:off x="576000" y="2159999"/>
            <a:ext cx="3132000" cy="1980000"/>
          </a:xfrm>
          <a:prstGeom prst="rect">
            <a:avLst/>
          </a:prstGeom>
          <a:noFill/>
        </p:spPr>
        <p:txBody>
          <a:bodyPr wrap="square">
            <a:spAutoFit/>
          </a:bodyPr>
          <a:lstStyle/>
          <a:p>
            <a:pPr algn="ctr"/>
            <a:r>
              <a:rPr sz="1400" b="0" i="0">
                <a:solidFill>
                  <a:srgbClr val="FFFFFF"/>
                </a:solidFill>
                <a:latin typeface="Calibri"/>
              </a:rPr>
              <a:t>78% of Vietnam UHNW under 50 prefer digital-first engagement</a:t>
            </a:r>
          </a:p>
        </p:txBody>
      </p:sp>
      <p:sp>
        <p:nvSpPr>
          <p:cNvPr id="6" name="Rectangle 5"/>
          <p:cNvSpPr/>
          <p:nvPr/>
        </p:nvSpPr>
        <p:spPr>
          <a:xfrm>
            <a:off x="4068000" y="1152000"/>
            <a:ext cx="3420000" cy="3240000"/>
          </a:xfrm>
          <a:prstGeom prst="rect">
            <a:avLst/>
          </a:prstGeom>
          <a:solidFill>
            <a:srgbClr val="2E5090"/>
          </a:solidFill>
          <a:ln w="190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76000" y="1332000"/>
            <a:ext cx="3204000" cy="720000"/>
          </a:xfrm>
          <a:prstGeom prst="rect">
            <a:avLst/>
          </a:prstGeom>
          <a:noFill/>
        </p:spPr>
        <p:txBody>
          <a:bodyPr wrap="square">
            <a:spAutoFit/>
          </a:bodyPr>
          <a:lstStyle/>
          <a:p>
            <a:pPr algn="ctr"/>
            <a:r>
              <a:rPr sz="1600" b="1" i="0">
                <a:solidFill>
                  <a:srgbClr val="C9A84C"/>
                </a:solidFill>
                <a:latin typeface="Calibri"/>
              </a:rPr>
              <a:t>📊 First-mover Window</a:t>
            </a:r>
          </a:p>
        </p:txBody>
      </p:sp>
      <p:sp>
        <p:nvSpPr>
          <p:cNvPr id="8" name="TextBox 7"/>
          <p:cNvSpPr txBox="1"/>
          <p:nvPr/>
        </p:nvSpPr>
        <p:spPr>
          <a:xfrm>
            <a:off x="4212000" y="2159999"/>
            <a:ext cx="3132000" cy="1980000"/>
          </a:xfrm>
          <a:prstGeom prst="rect">
            <a:avLst/>
          </a:prstGeom>
          <a:noFill/>
        </p:spPr>
        <p:txBody>
          <a:bodyPr wrap="square">
            <a:spAutoFit/>
          </a:bodyPr>
          <a:lstStyle/>
          <a:p>
            <a:pPr algn="ctr"/>
            <a:r>
              <a:rPr sz="1400" b="0" i="0">
                <a:solidFill>
                  <a:srgbClr val="FFFFFF"/>
                </a:solidFill>
                <a:latin typeface="Calibri"/>
              </a:rPr>
              <a:t>No luxury developer in Vietnam has deployed a full-lifecycle digital platform at this scale</a:t>
            </a:r>
          </a:p>
        </p:txBody>
      </p:sp>
      <p:sp>
        <p:nvSpPr>
          <p:cNvPr id="9" name="Rectangle 8"/>
          <p:cNvSpPr/>
          <p:nvPr/>
        </p:nvSpPr>
        <p:spPr>
          <a:xfrm>
            <a:off x="7704000" y="1152000"/>
            <a:ext cx="3420000" cy="3240000"/>
          </a:xfrm>
          <a:prstGeom prst="rect">
            <a:avLst/>
          </a:prstGeom>
          <a:solidFill>
            <a:srgbClr val="2E5090"/>
          </a:solidFill>
          <a:ln w="190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2000" y="1332000"/>
            <a:ext cx="3204000" cy="720000"/>
          </a:xfrm>
          <a:prstGeom prst="rect">
            <a:avLst/>
          </a:prstGeom>
          <a:noFill/>
        </p:spPr>
        <p:txBody>
          <a:bodyPr wrap="square">
            <a:spAutoFit/>
          </a:bodyPr>
          <a:lstStyle/>
          <a:p>
            <a:pPr algn="ctr"/>
            <a:r>
              <a:rPr sz="1600" b="1" i="0">
                <a:solidFill>
                  <a:srgbClr val="C9A84C"/>
                </a:solidFill>
                <a:latin typeface="Calibri"/>
              </a:rPr>
              <a:t>🏆 Data Is the New Land Bank</a:t>
            </a:r>
          </a:p>
        </p:txBody>
      </p:sp>
      <p:sp>
        <p:nvSpPr>
          <p:cNvPr id="11" name="TextBox 10"/>
          <p:cNvSpPr txBox="1"/>
          <p:nvPr/>
        </p:nvSpPr>
        <p:spPr>
          <a:xfrm>
            <a:off x="7848000" y="2159999"/>
            <a:ext cx="3132000" cy="1980000"/>
          </a:xfrm>
          <a:prstGeom prst="rect">
            <a:avLst/>
          </a:prstGeom>
          <a:noFill/>
        </p:spPr>
        <p:txBody>
          <a:bodyPr wrap="square">
            <a:spAutoFit/>
          </a:bodyPr>
          <a:lstStyle/>
          <a:p>
            <a:pPr algn="ctr"/>
            <a:r>
              <a:rPr sz="1400" b="0" i="0">
                <a:solidFill>
                  <a:srgbClr val="FFFFFF"/>
                </a:solidFill>
                <a:latin typeface="Calibri"/>
              </a:rPr>
              <a:t>Whoever owns resident data owns 20+ years of recurring revenue</a:t>
            </a:r>
          </a:p>
        </p:txBody>
      </p:sp>
      <p:sp>
        <p:nvSpPr>
          <p:cNvPr id="12" name="TextBox 11"/>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13" name="Connector 12"/>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473200" y="6462000"/>
            <a:ext cx="576000" cy="288000"/>
          </a:xfrm>
          <a:prstGeom prst="rect">
            <a:avLst/>
          </a:prstGeom>
          <a:noFill/>
        </p:spPr>
        <p:txBody>
          <a:bodyPr wrap="square">
            <a:spAutoFit/>
          </a:bodyPr>
          <a:lstStyle/>
          <a:p>
            <a:pPr algn="r"/>
            <a:r>
              <a:rPr sz="1000" b="0" i="0">
                <a:solidFill>
                  <a:srgbClr val="C9A84C"/>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Introducing the Splendora HH4 Digital Platform</a:t>
            </a:r>
          </a:p>
        </p:txBody>
      </p:sp>
      <p:sp>
        <p:nvSpPr>
          <p:cNvPr id="3" name="Rectangle 2"/>
          <p:cNvSpPr/>
          <p:nvPr/>
        </p:nvSpPr>
        <p:spPr>
          <a:xfrm>
            <a:off x="432000" y="1260000"/>
            <a:ext cx="4500000" cy="1980000"/>
          </a:xfrm>
          <a:prstGeom prst="rect">
            <a:avLst/>
          </a:prstGeom>
          <a:solidFill>
            <a:srgbClr val="2E5090"/>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3999" y="1404000"/>
            <a:ext cx="4356000" cy="503999"/>
          </a:xfrm>
          <a:prstGeom prst="rect">
            <a:avLst/>
          </a:prstGeom>
          <a:noFill/>
        </p:spPr>
        <p:txBody>
          <a:bodyPr wrap="square">
            <a:spAutoFit/>
          </a:bodyPr>
          <a:lstStyle/>
          <a:p>
            <a:pPr algn="ctr"/>
            <a:r>
              <a:rPr sz="1700" b="1" i="0">
                <a:solidFill>
                  <a:srgbClr val="C9A84C"/>
                </a:solidFill>
                <a:latin typeface="Calibri"/>
              </a:rPr>
              <a:t>🏛️ IVA METAVERSE SHOWROOM</a:t>
            </a:r>
          </a:p>
        </p:txBody>
      </p:sp>
      <p:sp>
        <p:nvSpPr>
          <p:cNvPr id="5" name="TextBox 4"/>
          <p:cNvSpPr txBox="1"/>
          <p:nvPr/>
        </p:nvSpPr>
        <p:spPr>
          <a:xfrm>
            <a:off x="503999" y="1944000"/>
            <a:ext cx="4356000" cy="360000"/>
          </a:xfrm>
          <a:prstGeom prst="rect">
            <a:avLst/>
          </a:prstGeom>
          <a:noFill/>
        </p:spPr>
        <p:txBody>
          <a:bodyPr wrap="square">
            <a:spAutoFit/>
          </a:bodyPr>
          <a:lstStyle/>
          <a:p>
            <a:pPr algn="ctr"/>
            <a:r>
              <a:rPr sz="1500" b="0" i="1">
                <a:solidFill>
                  <a:srgbClr val="B0C4DE"/>
                </a:solidFill>
                <a:latin typeface="Calibri"/>
              </a:rPr>
              <a:t>Pre-sale &amp; Sale</a:t>
            </a:r>
          </a:p>
        </p:txBody>
      </p:sp>
      <p:sp>
        <p:nvSpPr>
          <p:cNvPr id="6" name="TextBox 5"/>
          <p:cNvSpPr txBox="1"/>
          <p:nvPr/>
        </p:nvSpPr>
        <p:spPr>
          <a:xfrm>
            <a:off x="503999" y="2340000"/>
            <a:ext cx="4356000" cy="720000"/>
          </a:xfrm>
          <a:prstGeom prst="rect">
            <a:avLst/>
          </a:prstGeom>
          <a:noFill/>
        </p:spPr>
        <p:txBody>
          <a:bodyPr wrap="square">
            <a:spAutoFit/>
          </a:bodyPr>
          <a:lstStyle/>
          <a:p>
            <a:pPr algn="ctr"/>
            <a:r>
              <a:rPr sz="1300" b="0" i="0">
                <a:solidFill>
                  <a:srgbClr val="FFFFFF"/>
                </a:solidFill>
                <a:latin typeface="Calibri"/>
              </a:rPr>
              <a:t>3D tours · AI scoring · Live sessions
Unit configurator · Auto proposals</a:t>
            </a:r>
          </a:p>
        </p:txBody>
      </p:sp>
      <p:sp>
        <p:nvSpPr>
          <p:cNvPr id="7" name="TextBox 6"/>
          <p:cNvSpPr txBox="1"/>
          <p:nvPr/>
        </p:nvSpPr>
        <p:spPr>
          <a:xfrm>
            <a:off x="5004000" y="2052000"/>
            <a:ext cx="1007999" cy="360000"/>
          </a:xfrm>
          <a:prstGeom prst="rect">
            <a:avLst/>
          </a:prstGeom>
          <a:noFill/>
        </p:spPr>
        <p:txBody>
          <a:bodyPr wrap="square">
            <a:spAutoFit/>
          </a:bodyPr>
          <a:lstStyle/>
          <a:p>
            <a:pPr algn="ctr"/>
            <a:r>
              <a:rPr sz="1800" b="1" i="0">
                <a:solidFill>
                  <a:srgbClr val="C9A84C"/>
                </a:solidFill>
                <a:latin typeface="Calibri"/>
              </a:rPr>
              <a:t>◄────────────►</a:t>
            </a:r>
          </a:p>
        </p:txBody>
      </p:sp>
      <p:sp>
        <p:nvSpPr>
          <p:cNvPr id="8" name="Rectangle 7"/>
          <p:cNvSpPr/>
          <p:nvPr/>
        </p:nvSpPr>
        <p:spPr>
          <a:xfrm>
            <a:off x="6048000" y="1260000"/>
            <a:ext cx="4500000" cy="1980000"/>
          </a:xfrm>
          <a:prstGeom prst="rect">
            <a:avLst/>
          </a:prstGeom>
          <a:solidFill>
            <a:srgbClr val="2E5090"/>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0000" y="1404000"/>
            <a:ext cx="4356000" cy="503999"/>
          </a:xfrm>
          <a:prstGeom prst="rect">
            <a:avLst/>
          </a:prstGeom>
          <a:noFill/>
        </p:spPr>
        <p:txBody>
          <a:bodyPr wrap="square">
            <a:spAutoFit/>
          </a:bodyPr>
          <a:lstStyle/>
          <a:p>
            <a:pPr algn="ctr"/>
            <a:r>
              <a:rPr sz="1700" b="1" i="0">
                <a:solidFill>
                  <a:srgbClr val="C9A84C"/>
                </a:solidFill>
                <a:latin typeface="Calibri"/>
              </a:rPr>
              <a:t>🏠 CONCIERGE 360°</a:t>
            </a:r>
          </a:p>
        </p:txBody>
      </p:sp>
      <p:sp>
        <p:nvSpPr>
          <p:cNvPr id="10" name="TextBox 9"/>
          <p:cNvSpPr txBox="1"/>
          <p:nvPr/>
        </p:nvSpPr>
        <p:spPr>
          <a:xfrm>
            <a:off x="6120000" y="1944000"/>
            <a:ext cx="4356000" cy="360000"/>
          </a:xfrm>
          <a:prstGeom prst="rect">
            <a:avLst/>
          </a:prstGeom>
          <a:noFill/>
        </p:spPr>
        <p:txBody>
          <a:bodyPr wrap="square">
            <a:spAutoFit/>
          </a:bodyPr>
          <a:lstStyle/>
          <a:p>
            <a:pPr algn="ctr"/>
            <a:r>
              <a:rPr sz="1500" b="0" i="1">
                <a:solidFill>
                  <a:srgbClr val="B0C4DE"/>
                </a:solidFill>
                <a:latin typeface="Calibri"/>
              </a:rPr>
              <a:t>Post-sale &amp; Lifetime</a:t>
            </a:r>
          </a:p>
        </p:txBody>
      </p:sp>
      <p:sp>
        <p:nvSpPr>
          <p:cNvPr id="11" name="TextBox 10"/>
          <p:cNvSpPr txBox="1"/>
          <p:nvPr/>
        </p:nvSpPr>
        <p:spPr>
          <a:xfrm>
            <a:off x="6120000" y="2340000"/>
            <a:ext cx="4356000" cy="720000"/>
          </a:xfrm>
          <a:prstGeom prst="rect">
            <a:avLst/>
          </a:prstGeom>
          <a:noFill/>
        </p:spPr>
        <p:txBody>
          <a:bodyPr wrap="square">
            <a:spAutoFit/>
          </a:bodyPr>
          <a:lstStyle/>
          <a:p>
            <a:pPr algn="ctr"/>
            <a:r>
              <a:rPr sz="1300" b="0" i="0">
                <a:solidFill>
                  <a:srgbClr val="FFFFFF"/>
                </a:solidFill>
                <a:latin typeface="Calibri"/>
              </a:rPr>
              <a:t>AI concierge · Smart home · Services
Community · Loyalty &amp; rewards</a:t>
            </a:r>
          </a:p>
        </p:txBody>
      </p:sp>
      <p:sp>
        <p:nvSpPr>
          <p:cNvPr id="12" name="TextBox 11"/>
          <p:cNvSpPr txBox="1"/>
          <p:nvPr/>
        </p:nvSpPr>
        <p:spPr>
          <a:xfrm>
            <a:off x="720000" y="3671999"/>
            <a:ext cx="10753200" cy="360000"/>
          </a:xfrm>
          <a:prstGeom prst="rect">
            <a:avLst/>
          </a:prstGeom>
          <a:noFill/>
        </p:spPr>
        <p:txBody>
          <a:bodyPr wrap="square">
            <a:spAutoFit/>
          </a:bodyPr>
          <a:lstStyle/>
          <a:p>
            <a:pPr algn="ctr"/>
            <a:r>
              <a:rPr sz="1800" b="1" i="1">
                <a:solidFill>
                  <a:srgbClr val="FFFFFF"/>
                </a:solidFill>
                <a:latin typeface="Calibri"/>
              </a:rPr>
              <a:t>One Platform. Full Lifecycle. Unmatched Experience.</a:t>
            </a:r>
          </a:p>
        </p:txBody>
      </p:sp>
      <p:sp>
        <p:nvSpPr>
          <p:cNvPr id="13" name="Rectangle 12"/>
          <p:cNvSpPr/>
          <p:nvPr/>
        </p:nvSpPr>
        <p:spPr>
          <a:xfrm>
            <a:off x="432000" y="4176000"/>
            <a:ext cx="1944000" cy="30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000" y="4194000"/>
            <a:ext cx="1872000" cy="270000"/>
          </a:xfrm>
          <a:prstGeom prst="rect">
            <a:avLst/>
          </a:prstGeom>
          <a:noFill/>
        </p:spPr>
        <p:txBody>
          <a:bodyPr wrap="square">
            <a:spAutoFit/>
          </a:bodyPr>
          <a:lstStyle/>
          <a:p>
            <a:pPr algn="ctr"/>
            <a:r>
              <a:rPr sz="1300" b="1" i="0">
                <a:solidFill>
                  <a:srgbClr val="0D1B2A"/>
                </a:solidFill>
                <a:latin typeface="Calibri"/>
              </a:rPr>
              <a:t>[3D/VR]</a:t>
            </a:r>
          </a:p>
        </p:txBody>
      </p:sp>
      <p:sp>
        <p:nvSpPr>
          <p:cNvPr id="15" name="Rectangle 14"/>
          <p:cNvSpPr/>
          <p:nvPr/>
        </p:nvSpPr>
        <p:spPr>
          <a:xfrm>
            <a:off x="2556000" y="4176000"/>
            <a:ext cx="1944000" cy="30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2000" y="4194000"/>
            <a:ext cx="1872000" cy="270000"/>
          </a:xfrm>
          <a:prstGeom prst="rect">
            <a:avLst/>
          </a:prstGeom>
          <a:noFill/>
        </p:spPr>
        <p:txBody>
          <a:bodyPr wrap="square">
            <a:spAutoFit/>
          </a:bodyPr>
          <a:lstStyle/>
          <a:p>
            <a:pPr algn="ctr"/>
            <a:r>
              <a:rPr sz="1300" b="1" i="0">
                <a:solidFill>
                  <a:srgbClr val="0D1B2A"/>
                </a:solidFill>
                <a:latin typeface="Calibri"/>
              </a:rPr>
              <a:t>[AI Scoring]</a:t>
            </a:r>
          </a:p>
        </p:txBody>
      </p:sp>
      <p:sp>
        <p:nvSpPr>
          <p:cNvPr id="17" name="Rectangle 16"/>
          <p:cNvSpPr/>
          <p:nvPr/>
        </p:nvSpPr>
        <p:spPr>
          <a:xfrm>
            <a:off x="4680000" y="4176000"/>
            <a:ext cx="1944000" cy="30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16000" y="4194000"/>
            <a:ext cx="1872000" cy="270000"/>
          </a:xfrm>
          <a:prstGeom prst="rect">
            <a:avLst/>
          </a:prstGeom>
          <a:noFill/>
        </p:spPr>
        <p:txBody>
          <a:bodyPr wrap="square">
            <a:spAutoFit/>
          </a:bodyPr>
          <a:lstStyle/>
          <a:p>
            <a:pPr algn="ctr"/>
            <a:r>
              <a:rPr sz="1300" b="1" i="0">
                <a:solidFill>
                  <a:srgbClr val="0D1B2A"/>
                </a:solidFill>
                <a:latin typeface="Calibri"/>
              </a:rPr>
              <a:t>[Live Tours]</a:t>
            </a:r>
          </a:p>
        </p:txBody>
      </p:sp>
      <p:sp>
        <p:nvSpPr>
          <p:cNvPr id="19" name="Rectangle 18"/>
          <p:cNvSpPr/>
          <p:nvPr/>
        </p:nvSpPr>
        <p:spPr>
          <a:xfrm>
            <a:off x="6804000" y="4176000"/>
            <a:ext cx="1944000" cy="30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40000" y="4194000"/>
            <a:ext cx="1872000" cy="270000"/>
          </a:xfrm>
          <a:prstGeom prst="rect">
            <a:avLst/>
          </a:prstGeom>
          <a:noFill/>
        </p:spPr>
        <p:txBody>
          <a:bodyPr wrap="square">
            <a:spAutoFit/>
          </a:bodyPr>
          <a:lstStyle/>
          <a:p>
            <a:pPr algn="ctr"/>
            <a:r>
              <a:rPr sz="1300" b="1" i="0">
                <a:solidFill>
                  <a:srgbClr val="0D1B2A"/>
                </a:solidFill>
                <a:latin typeface="Calibri"/>
              </a:rPr>
              <a:t>[Smart Home]</a:t>
            </a:r>
          </a:p>
        </p:txBody>
      </p:sp>
      <p:sp>
        <p:nvSpPr>
          <p:cNvPr id="21" name="Rectangle 20"/>
          <p:cNvSpPr/>
          <p:nvPr/>
        </p:nvSpPr>
        <p:spPr>
          <a:xfrm>
            <a:off x="8928000" y="4176000"/>
            <a:ext cx="1944000" cy="30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4000" y="4194000"/>
            <a:ext cx="1872000" cy="270000"/>
          </a:xfrm>
          <a:prstGeom prst="rect">
            <a:avLst/>
          </a:prstGeom>
          <a:noFill/>
        </p:spPr>
        <p:txBody>
          <a:bodyPr wrap="square">
            <a:spAutoFit/>
          </a:bodyPr>
          <a:lstStyle/>
          <a:p>
            <a:pPr algn="ctr"/>
            <a:r>
              <a:rPr sz="1300" b="1" i="0">
                <a:solidFill>
                  <a:srgbClr val="0D1B2A"/>
                </a:solidFill>
                <a:latin typeface="Calibri"/>
              </a:rPr>
              <a:t>[Partner Ecosystem]</a:t>
            </a:r>
          </a:p>
        </p:txBody>
      </p:sp>
      <p:sp>
        <p:nvSpPr>
          <p:cNvPr id="23" name="TextBox 22"/>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24" name="Connector 23"/>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1473200" y="6462000"/>
            <a:ext cx="576000" cy="288000"/>
          </a:xfrm>
          <a:prstGeom prst="rect">
            <a:avLst/>
          </a:prstGeom>
          <a:noFill/>
        </p:spPr>
        <p:txBody>
          <a:bodyPr wrap="square">
            <a:spAutoFit/>
          </a:bodyPr>
          <a:lstStyle/>
          <a:p>
            <a:pPr algn="r"/>
            <a:r>
              <a:rPr sz="1000" b="0" i="0">
                <a:solidFill>
                  <a:srgbClr val="C9A84C"/>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One Platform. Two Worlds. Infinite Touchpoints.</a:t>
            </a:r>
          </a:p>
        </p:txBody>
      </p:sp>
      <p:sp>
        <p:nvSpPr>
          <p:cNvPr id="3" name="Rectangle 2"/>
          <p:cNvSpPr/>
          <p:nvPr/>
        </p:nvSpPr>
        <p:spPr>
          <a:xfrm>
            <a:off x="432000" y="1007999"/>
            <a:ext cx="11329200" cy="684000"/>
          </a:xfrm>
          <a:prstGeom prst="rect">
            <a:avLst/>
          </a:prstGeom>
          <a:solidFill>
            <a:srgbClr val="2E5090"/>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6000" y="1079999"/>
            <a:ext cx="3240000" cy="612000"/>
          </a:xfrm>
          <a:prstGeom prst="rect">
            <a:avLst/>
          </a:prstGeom>
          <a:noFill/>
        </p:spPr>
        <p:txBody>
          <a:bodyPr wrap="square">
            <a:spAutoFit/>
          </a:bodyPr>
          <a:lstStyle/>
          <a:p>
            <a:pPr algn="l"/>
            <a:r>
              <a:rPr sz="1500" b="1" i="0">
                <a:solidFill>
                  <a:srgbClr val="FFFFFF"/>
                </a:solidFill>
                <a:latin typeface="Calibri"/>
              </a:rPr>
              <a:t>1. Marketing Module</a:t>
            </a:r>
          </a:p>
        </p:txBody>
      </p:sp>
      <p:sp>
        <p:nvSpPr>
          <p:cNvPr id="5" name="TextBox 4"/>
          <p:cNvSpPr txBox="1"/>
          <p:nvPr/>
        </p:nvSpPr>
        <p:spPr>
          <a:xfrm>
            <a:off x="3960000" y="1079999"/>
            <a:ext cx="7200000" cy="612000"/>
          </a:xfrm>
          <a:prstGeom prst="rect">
            <a:avLst/>
          </a:prstGeom>
          <a:noFill/>
        </p:spPr>
        <p:txBody>
          <a:bodyPr wrap="square">
            <a:spAutoFit/>
          </a:bodyPr>
          <a:lstStyle/>
          <a:p>
            <a:pPr algn="l"/>
            <a:r>
              <a:rPr sz="1400" b="0" i="0">
                <a:solidFill>
                  <a:srgbClr val="B0C4DE"/>
                </a:solidFill>
                <a:latin typeface="Calibri"/>
              </a:rPr>
              <a:t>Attract &amp; Generate Quality Leads</a:t>
            </a:r>
          </a:p>
        </p:txBody>
      </p:sp>
      <p:sp>
        <p:nvSpPr>
          <p:cNvPr id="6" name="Rectangle 5"/>
          <p:cNvSpPr/>
          <p:nvPr/>
        </p:nvSpPr>
        <p:spPr>
          <a:xfrm>
            <a:off x="432000" y="1763999"/>
            <a:ext cx="11329200" cy="684000"/>
          </a:xfrm>
          <a:prstGeom prst="rect">
            <a:avLst/>
          </a:prstGeom>
          <a:solidFill>
            <a:srgbClr val="2E5090"/>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00" y="1835999"/>
            <a:ext cx="3240000" cy="612000"/>
          </a:xfrm>
          <a:prstGeom prst="rect">
            <a:avLst/>
          </a:prstGeom>
          <a:noFill/>
        </p:spPr>
        <p:txBody>
          <a:bodyPr wrap="square">
            <a:spAutoFit/>
          </a:bodyPr>
          <a:lstStyle/>
          <a:p>
            <a:pPr algn="l"/>
            <a:r>
              <a:rPr sz="1500" b="1" i="0">
                <a:solidFill>
                  <a:srgbClr val="FFFFFF"/>
                </a:solidFill>
                <a:latin typeface="Calibri"/>
              </a:rPr>
              <a:t>2. Experience Module</a:t>
            </a:r>
          </a:p>
        </p:txBody>
      </p:sp>
      <p:sp>
        <p:nvSpPr>
          <p:cNvPr id="8" name="TextBox 7"/>
          <p:cNvSpPr txBox="1"/>
          <p:nvPr/>
        </p:nvSpPr>
        <p:spPr>
          <a:xfrm>
            <a:off x="3960000" y="1835999"/>
            <a:ext cx="7200000" cy="612000"/>
          </a:xfrm>
          <a:prstGeom prst="rect">
            <a:avLst/>
          </a:prstGeom>
          <a:noFill/>
        </p:spPr>
        <p:txBody>
          <a:bodyPr wrap="square">
            <a:spAutoFit/>
          </a:bodyPr>
          <a:lstStyle/>
          <a:p>
            <a:pPr algn="l"/>
            <a:r>
              <a:rPr sz="1400" b="0" i="0">
                <a:solidFill>
                  <a:srgbClr val="B0C4DE"/>
                </a:solidFill>
                <a:latin typeface="Calibri"/>
              </a:rPr>
              <a:t>Immersive Digital Experiences</a:t>
            </a:r>
          </a:p>
        </p:txBody>
      </p:sp>
      <p:sp>
        <p:nvSpPr>
          <p:cNvPr id="9" name="Rectangle 8"/>
          <p:cNvSpPr/>
          <p:nvPr/>
        </p:nvSpPr>
        <p:spPr>
          <a:xfrm>
            <a:off x="432000" y="2519999"/>
            <a:ext cx="11329200" cy="684000"/>
          </a:xfrm>
          <a:prstGeom prst="rect">
            <a:avLst/>
          </a:prstGeom>
          <a:solidFill>
            <a:srgbClr val="2E5090"/>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00" y="2591999"/>
            <a:ext cx="3240000" cy="612000"/>
          </a:xfrm>
          <a:prstGeom prst="rect">
            <a:avLst/>
          </a:prstGeom>
          <a:noFill/>
        </p:spPr>
        <p:txBody>
          <a:bodyPr wrap="square">
            <a:spAutoFit/>
          </a:bodyPr>
          <a:lstStyle/>
          <a:p>
            <a:pPr algn="l"/>
            <a:r>
              <a:rPr sz="1500" b="1" i="0">
                <a:solidFill>
                  <a:srgbClr val="FFFFFF"/>
                </a:solidFill>
                <a:latin typeface="Calibri"/>
              </a:rPr>
              <a:t>3. Sales Enablement</a:t>
            </a:r>
          </a:p>
        </p:txBody>
      </p:sp>
      <p:sp>
        <p:nvSpPr>
          <p:cNvPr id="11" name="TextBox 10"/>
          <p:cNvSpPr txBox="1"/>
          <p:nvPr/>
        </p:nvSpPr>
        <p:spPr>
          <a:xfrm>
            <a:off x="3960000" y="2591999"/>
            <a:ext cx="7200000" cy="612000"/>
          </a:xfrm>
          <a:prstGeom prst="rect">
            <a:avLst/>
          </a:prstGeom>
          <a:noFill/>
        </p:spPr>
        <p:txBody>
          <a:bodyPr wrap="square">
            <a:spAutoFit/>
          </a:bodyPr>
          <a:lstStyle/>
          <a:p>
            <a:pPr algn="l"/>
            <a:r>
              <a:rPr sz="1400" b="0" i="0">
                <a:solidFill>
                  <a:srgbClr val="B0C4DE"/>
                </a:solidFill>
                <a:latin typeface="Calibri"/>
              </a:rPr>
              <a:t>Shorten Sales Cycle, Close Faster</a:t>
            </a:r>
          </a:p>
        </p:txBody>
      </p:sp>
      <p:sp>
        <p:nvSpPr>
          <p:cNvPr id="12" name="Rectangle 11"/>
          <p:cNvSpPr/>
          <p:nvPr/>
        </p:nvSpPr>
        <p:spPr>
          <a:xfrm>
            <a:off x="432000" y="3275999"/>
            <a:ext cx="11329200" cy="684000"/>
          </a:xfrm>
          <a:prstGeom prst="rect">
            <a:avLst/>
          </a:prstGeom>
          <a:solidFill>
            <a:srgbClr val="2E5090"/>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00" y="3347999"/>
            <a:ext cx="3240000" cy="612000"/>
          </a:xfrm>
          <a:prstGeom prst="rect">
            <a:avLst/>
          </a:prstGeom>
          <a:noFill/>
        </p:spPr>
        <p:txBody>
          <a:bodyPr wrap="square">
            <a:spAutoFit/>
          </a:bodyPr>
          <a:lstStyle/>
          <a:p>
            <a:pPr algn="l"/>
            <a:r>
              <a:rPr sz="1500" b="1" i="0">
                <a:solidFill>
                  <a:srgbClr val="FFFFFF"/>
                </a:solidFill>
                <a:latin typeface="Calibri"/>
              </a:rPr>
              <a:t>4. Concierge &amp; Service</a:t>
            </a:r>
          </a:p>
        </p:txBody>
      </p:sp>
      <p:sp>
        <p:nvSpPr>
          <p:cNvPr id="14" name="TextBox 13"/>
          <p:cNvSpPr txBox="1"/>
          <p:nvPr/>
        </p:nvSpPr>
        <p:spPr>
          <a:xfrm>
            <a:off x="3960000" y="3347999"/>
            <a:ext cx="7200000" cy="612000"/>
          </a:xfrm>
          <a:prstGeom prst="rect">
            <a:avLst/>
          </a:prstGeom>
          <a:noFill/>
        </p:spPr>
        <p:txBody>
          <a:bodyPr wrap="square">
            <a:spAutoFit/>
          </a:bodyPr>
          <a:lstStyle/>
          <a:p>
            <a:pPr algn="l"/>
            <a:r>
              <a:rPr sz="1400" b="0" i="0">
                <a:solidFill>
                  <a:srgbClr val="B0C4DE"/>
                </a:solidFill>
                <a:latin typeface="Calibri"/>
              </a:rPr>
              <a:t>Personalize &amp; Retain for Life</a:t>
            </a:r>
          </a:p>
        </p:txBody>
      </p:sp>
      <p:sp>
        <p:nvSpPr>
          <p:cNvPr id="15" name="Rectangle 14"/>
          <p:cNvSpPr/>
          <p:nvPr/>
        </p:nvSpPr>
        <p:spPr>
          <a:xfrm>
            <a:off x="432000" y="4031999"/>
            <a:ext cx="11329200" cy="684000"/>
          </a:xfrm>
          <a:prstGeom prst="rect">
            <a:avLst/>
          </a:prstGeom>
          <a:solidFill>
            <a:srgbClr val="2E5090"/>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00" y="4103999"/>
            <a:ext cx="3240000" cy="612000"/>
          </a:xfrm>
          <a:prstGeom prst="rect">
            <a:avLst/>
          </a:prstGeom>
          <a:noFill/>
        </p:spPr>
        <p:txBody>
          <a:bodyPr wrap="square">
            <a:spAutoFit/>
          </a:bodyPr>
          <a:lstStyle/>
          <a:p>
            <a:pPr algn="l"/>
            <a:r>
              <a:rPr sz="1500" b="1" i="0">
                <a:solidFill>
                  <a:srgbClr val="FFFFFF"/>
                </a:solidFill>
                <a:latin typeface="Calibri"/>
              </a:rPr>
              <a:t>5. Admin &amp; Operations</a:t>
            </a:r>
          </a:p>
        </p:txBody>
      </p:sp>
      <p:sp>
        <p:nvSpPr>
          <p:cNvPr id="17" name="TextBox 16"/>
          <p:cNvSpPr txBox="1"/>
          <p:nvPr/>
        </p:nvSpPr>
        <p:spPr>
          <a:xfrm>
            <a:off x="3960000" y="4103999"/>
            <a:ext cx="7200000" cy="612000"/>
          </a:xfrm>
          <a:prstGeom prst="rect">
            <a:avLst/>
          </a:prstGeom>
          <a:noFill/>
        </p:spPr>
        <p:txBody>
          <a:bodyPr wrap="square">
            <a:spAutoFit/>
          </a:bodyPr>
          <a:lstStyle/>
          <a:p>
            <a:pPr algn="l"/>
            <a:r>
              <a:rPr sz="1400" b="0" i="0">
                <a:solidFill>
                  <a:srgbClr val="B0C4DE"/>
                </a:solidFill>
                <a:latin typeface="Calibri"/>
              </a:rPr>
              <a:t>Control, Monitor, Optimize</a:t>
            </a:r>
          </a:p>
        </p:txBody>
      </p:sp>
      <p:sp>
        <p:nvSpPr>
          <p:cNvPr id="18" name="TextBox 17"/>
          <p:cNvSpPr txBox="1"/>
          <p:nvPr/>
        </p:nvSpPr>
        <p:spPr>
          <a:xfrm>
            <a:off x="432000" y="5922000"/>
            <a:ext cx="11329200" cy="324000"/>
          </a:xfrm>
          <a:prstGeom prst="rect">
            <a:avLst/>
          </a:prstGeom>
          <a:noFill/>
        </p:spPr>
        <p:txBody>
          <a:bodyPr wrap="square">
            <a:spAutoFit/>
          </a:bodyPr>
          <a:lstStyle/>
          <a:p>
            <a:pPr algn="ctr"/>
            <a:r>
              <a:rPr sz="1300" b="1" i="0">
                <a:solidFill>
                  <a:srgbClr val="2E5090"/>
                </a:solidFill>
                <a:latin typeface="Calibri"/>
              </a:rPr>
              <a:t>User Roles:  Guest  ·  Registered  ·  VIP  ·  Sales / Marketing  ·  Admin</a:t>
            </a:r>
          </a:p>
        </p:txBody>
      </p:sp>
      <p:sp>
        <p:nvSpPr>
          <p:cNvPr id="19" name="TextBox 18"/>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20" name="Connector 19"/>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1473200" y="6462000"/>
            <a:ext cx="576000" cy="288000"/>
          </a:xfrm>
          <a:prstGeom prst="rect">
            <a:avLst/>
          </a:prstGeom>
          <a:noFill/>
        </p:spPr>
        <p:txBody>
          <a:bodyPr wrap="square">
            <a:spAutoFit/>
          </a:bodyPr>
          <a:lstStyle/>
          <a:p>
            <a:pPr algn="r"/>
            <a:r>
              <a:rPr sz="1000" b="0" i="0">
                <a:solidFill>
                  <a:srgbClr val="2E509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Your Showroom Is Now Open. 24/7. Worldwide.</a:t>
            </a:r>
          </a:p>
        </p:txBody>
      </p:sp>
      <p:sp>
        <p:nvSpPr>
          <p:cNvPr id="3" name="Rectangle 2"/>
          <p:cNvSpPr/>
          <p:nvPr/>
        </p:nvSpPr>
        <p:spPr>
          <a:xfrm>
            <a:off x="432000" y="1080000"/>
            <a:ext cx="3528000" cy="2951999"/>
          </a:xfrm>
          <a:prstGeom prst="rect">
            <a:avLst/>
          </a:prstGeom>
          <a:solidFill>
            <a:srgbClr val="142A42"/>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6000" y="1260000"/>
            <a:ext cx="3240000" cy="540000"/>
          </a:xfrm>
          <a:prstGeom prst="rect">
            <a:avLst/>
          </a:prstGeom>
          <a:noFill/>
        </p:spPr>
        <p:txBody>
          <a:bodyPr wrap="square">
            <a:spAutoFit/>
          </a:bodyPr>
          <a:lstStyle/>
          <a:p>
            <a:pPr algn="ctr"/>
            <a:r>
              <a:rPr sz="1600" b="1" i="0">
                <a:solidFill>
                  <a:srgbClr val="C9A84C"/>
                </a:solidFill>
                <a:latin typeface="Calibri"/>
              </a:rPr>
              <a:t>🌐 Metaverse Showroom</a:t>
            </a:r>
          </a:p>
        </p:txBody>
      </p:sp>
      <p:sp>
        <p:nvSpPr>
          <p:cNvPr id="5" name="TextBox 4"/>
          <p:cNvSpPr txBox="1"/>
          <p:nvPr/>
        </p:nvSpPr>
        <p:spPr>
          <a:xfrm>
            <a:off x="576000" y="1907999"/>
            <a:ext cx="3240000" cy="1944000"/>
          </a:xfrm>
          <a:prstGeom prst="rect">
            <a:avLst/>
          </a:prstGeom>
          <a:noFill/>
        </p:spPr>
        <p:txBody>
          <a:bodyPr wrap="square">
            <a:spAutoFit/>
          </a:bodyPr>
          <a:lstStyle/>
          <a:p>
            <a:pPr algn="ctr"/>
            <a:r>
              <a:rPr sz="1400" b="0" i="0">
                <a:solidFill>
                  <a:srgbClr val="FFFFFF"/>
                </a:solidFill>
                <a:latin typeface="Calibri"/>
              </a:rPr>
              <a:t>Walk through HH4 before it's built.
3D masterplan, unit configurator,
lifestyle zones.</a:t>
            </a:r>
          </a:p>
        </p:txBody>
      </p:sp>
      <p:sp>
        <p:nvSpPr>
          <p:cNvPr id="6" name="Rectangle 5"/>
          <p:cNvSpPr/>
          <p:nvPr/>
        </p:nvSpPr>
        <p:spPr>
          <a:xfrm>
            <a:off x="4158000" y="1080000"/>
            <a:ext cx="3528000" cy="2951999"/>
          </a:xfrm>
          <a:prstGeom prst="rect">
            <a:avLst/>
          </a:prstGeom>
          <a:solidFill>
            <a:srgbClr val="142A42"/>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02000" y="1260000"/>
            <a:ext cx="3240000" cy="540000"/>
          </a:xfrm>
          <a:prstGeom prst="rect">
            <a:avLst/>
          </a:prstGeom>
          <a:noFill/>
        </p:spPr>
        <p:txBody>
          <a:bodyPr wrap="square">
            <a:spAutoFit/>
          </a:bodyPr>
          <a:lstStyle/>
          <a:p>
            <a:pPr algn="ctr"/>
            <a:r>
              <a:rPr sz="1600" b="1" i="0">
                <a:solidFill>
                  <a:srgbClr val="C9A84C"/>
                </a:solidFill>
                <a:latin typeface="Calibri"/>
              </a:rPr>
              <a:t>🤖 AI Behavioral Scoring</a:t>
            </a:r>
          </a:p>
        </p:txBody>
      </p:sp>
      <p:sp>
        <p:nvSpPr>
          <p:cNvPr id="8" name="TextBox 7"/>
          <p:cNvSpPr txBox="1"/>
          <p:nvPr/>
        </p:nvSpPr>
        <p:spPr>
          <a:xfrm>
            <a:off x="4302000" y="1907999"/>
            <a:ext cx="3240000" cy="1944000"/>
          </a:xfrm>
          <a:prstGeom prst="rect">
            <a:avLst/>
          </a:prstGeom>
          <a:noFill/>
        </p:spPr>
        <p:txBody>
          <a:bodyPr wrap="square">
            <a:spAutoFit/>
          </a:bodyPr>
          <a:lstStyle/>
          <a:p>
            <a:pPr algn="ctr"/>
            <a:r>
              <a:rPr sz="1400" b="0" i="0">
                <a:solidFill>
                  <a:srgbClr val="FFFFFF"/>
                </a:solidFill>
                <a:latin typeface="Calibri"/>
              </a:rPr>
              <a:t>Know who's serious before they call.
Auto-route hot leads in &lt;5 minutes.</a:t>
            </a:r>
          </a:p>
        </p:txBody>
      </p:sp>
      <p:sp>
        <p:nvSpPr>
          <p:cNvPr id="9" name="Rectangle 8"/>
          <p:cNvSpPr/>
          <p:nvPr/>
        </p:nvSpPr>
        <p:spPr>
          <a:xfrm>
            <a:off x="7884000" y="1080000"/>
            <a:ext cx="3528000" cy="2951999"/>
          </a:xfrm>
          <a:prstGeom prst="rect">
            <a:avLst/>
          </a:prstGeom>
          <a:solidFill>
            <a:srgbClr val="142A42"/>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28000" y="1260000"/>
            <a:ext cx="3240000" cy="540000"/>
          </a:xfrm>
          <a:prstGeom prst="rect">
            <a:avLst/>
          </a:prstGeom>
          <a:noFill/>
        </p:spPr>
        <p:txBody>
          <a:bodyPr wrap="square">
            <a:spAutoFit/>
          </a:bodyPr>
          <a:lstStyle/>
          <a:p>
            <a:pPr algn="ctr"/>
            <a:r>
              <a:rPr sz="1600" b="1" i="0">
                <a:solidFill>
                  <a:srgbClr val="C9A84C"/>
                </a:solidFill>
                <a:latin typeface="Calibri"/>
              </a:rPr>
              <a:t>🎯 Guided Tour Engine</a:t>
            </a:r>
          </a:p>
        </p:txBody>
      </p:sp>
      <p:sp>
        <p:nvSpPr>
          <p:cNvPr id="11" name="TextBox 10"/>
          <p:cNvSpPr txBox="1"/>
          <p:nvPr/>
        </p:nvSpPr>
        <p:spPr>
          <a:xfrm>
            <a:off x="8028000" y="1907999"/>
            <a:ext cx="3240000" cy="1944000"/>
          </a:xfrm>
          <a:prstGeom prst="rect">
            <a:avLst/>
          </a:prstGeom>
          <a:noFill/>
        </p:spPr>
        <p:txBody>
          <a:bodyPr wrap="square">
            <a:spAutoFit/>
          </a:bodyPr>
          <a:lstStyle/>
          <a:p>
            <a:pPr algn="ctr"/>
            <a:r>
              <a:rPr sz="1400" b="0" i="0">
                <a:solidFill>
                  <a:srgbClr val="FFFFFF"/>
                </a:solidFill>
                <a:latin typeface="Calibri"/>
              </a:rPr>
              <a:t>Sales-led live tours.
Avatar + Voice/Video.
Co-navigation in real-time.</a:t>
            </a:r>
          </a:p>
        </p:txBody>
      </p:sp>
      <p:sp>
        <p:nvSpPr>
          <p:cNvPr id="12" name="Rectangle 11"/>
          <p:cNvSpPr/>
          <p:nvPr/>
        </p:nvSpPr>
        <p:spPr>
          <a:xfrm>
            <a:off x="4500000" y="5922000"/>
            <a:ext cx="3168000" cy="324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5940001"/>
            <a:ext cx="3024000" cy="288000"/>
          </a:xfrm>
          <a:prstGeom prst="rect">
            <a:avLst/>
          </a:prstGeom>
          <a:noFill/>
        </p:spPr>
        <p:txBody>
          <a:bodyPr wrap="square">
            <a:spAutoFit/>
          </a:bodyPr>
          <a:lstStyle/>
          <a:p>
            <a:pPr algn="ctr"/>
            <a:r>
              <a:rPr sz="1400" b="1" i="0">
                <a:solidFill>
                  <a:srgbClr val="0D1B2A"/>
                </a:solidFill>
                <a:latin typeface="Calibri"/>
              </a:rPr>
              <a:t>[LIVE DEMO — 60 seconds]</a:t>
            </a:r>
          </a:p>
        </p:txBody>
      </p:sp>
      <p:sp>
        <p:nvSpPr>
          <p:cNvPr id="14" name="TextBox 13"/>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15" name="Connector 14"/>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1473200" y="6462000"/>
            <a:ext cx="576000" cy="288000"/>
          </a:xfrm>
          <a:prstGeom prst="rect">
            <a:avLst/>
          </a:prstGeom>
          <a:noFill/>
        </p:spPr>
        <p:txBody>
          <a:bodyPr wrap="square">
            <a:spAutoFit/>
          </a:bodyPr>
          <a:lstStyle/>
          <a:p>
            <a:pPr algn="r"/>
            <a:r>
              <a:rPr sz="1000" b="0" i="0">
                <a:solidFill>
                  <a:srgbClr val="C9A84C"/>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From First Click to Signed Contract in 45 Days</a:t>
            </a:r>
          </a:p>
        </p:txBody>
      </p:sp>
      <p:sp>
        <p:nvSpPr>
          <p:cNvPr id="3" name="Rectangle 2"/>
          <p:cNvSpPr/>
          <p:nvPr/>
        </p:nvSpPr>
        <p:spPr>
          <a:xfrm>
            <a:off x="324000" y="1152000"/>
            <a:ext cx="1764000" cy="2160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6000" y="1296000"/>
            <a:ext cx="1620000" cy="720000"/>
          </a:xfrm>
          <a:prstGeom prst="rect">
            <a:avLst/>
          </a:prstGeom>
          <a:noFill/>
        </p:spPr>
        <p:txBody>
          <a:bodyPr wrap="square">
            <a:spAutoFit/>
          </a:bodyPr>
          <a:lstStyle/>
          <a:p>
            <a:pPr algn="ctr"/>
            <a:r>
              <a:rPr sz="1300" b="1" i="0">
                <a:solidFill>
                  <a:srgbClr val="0D1B2A"/>
                </a:solidFill>
                <a:latin typeface="Calibri"/>
              </a:rPr>
              <a:t>1
Awareness</a:t>
            </a:r>
          </a:p>
        </p:txBody>
      </p:sp>
      <p:sp>
        <p:nvSpPr>
          <p:cNvPr id="5" name="TextBox 4"/>
          <p:cNvSpPr txBox="1"/>
          <p:nvPr/>
        </p:nvSpPr>
        <p:spPr>
          <a:xfrm>
            <a:off x="396000" y="2052000"/>
            <a:ext cx="1620000" cy="720000"/>
          </a:xfrm>
          <a:prstGeom prst="rect">
            <a:avLst/>
          </a:prstGeom>
          <a:noFill/>
        </p:spPr>
        <p:txBody>
          <a:bodyPr wrap="square">
            <a:spAutoFit/>
          </a:bodyPr>
          <a:lstStyle/>
          <a:p>
            <a:pPr algn="ctr"/>
            <a:r>
              <a:rPr sz="1200" b="0" i="0">
                <a:solidFill>
                  <a:srgbClr val="0D1B2A"/>
                </a:solidFill>
                <a:latin typeface="Calibri"/>
              </a:rPr>
              <a:t>Digital ads
&amp; social</a:t>
            </a:r>
          </a:p>
        </p:txBody>
      </p:sp>
      <p:sp>
        <p:nvSpPr>
          <p:cNvPr id="6" name="TextBox 5"/>
          <p:cNvSpPr txBox="1"/>
          <p:nvPr/>
        </p:nvSpPr>
        <p:spPr>
          <a:xfrm>
            <a:off x="396000" y="2772000"/>
            <a:ext cx="1620000" cy="432000"/>
          </a:xfrm>
          <a:prstGeom prst="rect">
            <a:avLst/>
          </a:prstGeom>
          <a:noFill/>
        </p:spPr>
        <p:txBody>
          <a:bodyPr wrap="square">
            <a:spAutoFit/>
          </a:bodyPr>
          <a:lstStyle/>
          <a:p>
            <a:pPr algn="ctr"/>
            <a:r>
              <a:rPr sz="1100" b="1" i="0">
                <a:solidFill>
                  <a:srgbClr val="0D1B2A"/>
                </a:solidFill>
                <a:latin typeface="Calibri"/>
              </a:rPr>
              <a:t>Conv.
60%</a:t>
            </a:r>
          </a:p>
        </p:txBody>
      </p:sp>
      <p:sp>
        <p:nvSpPr>
          <p:cNvPr id="7" name="Rectangle 6"/>
          <p:cNvSpPr/>
          <p:nvPr/>
        </p:nvSpPr>
        <p:spPr>
          <a:xfrm>
            <a:off x="2224800" y="1152000"/>
            <a:ext cx="1764000" cy="2160000"/>
          </a:xfrm>
          <a:prstGeom prst="rect">
            <a:avLst/>
          </a:prstGeom>
          <a:solidFill>
            <a:srgbClr val="2E5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96800" y="1296000"/>
            <a:ext cx="1620000" cy="720000"/>
          </a:xfrm>
          <a:prstGeom prst="rect">
            <a:avLst/>
          </a:prstGeom>
          <a:noFill/>
        </p:spPr>
        <p:txBody>
          <a:bodyPr wrap="square">
            <a:spAutoFit/>
          </a:bodyPr>
          <a:lstStyle/>
          <a:p>
            <a:pPr algn="ctr"/>
            <a:r>
              <a:rPr sz="1300" b="1" i="0">
                <a:solidFill>
                  <a:srgbClr val="FFFFFF"/>
                </a:solidFill>
                <a:latin typeface="Calibri"/>
              </a:rPr>
              <a:t>2
Self-guided</a:t>
            </a:r>
          </a:p>
        </p:txBody>
      </p:sp>
      <p:sp>
        <p:nvSpPr>
          <p:cNvPr id="9" name="TextBox 8"/>
          <p:cNvSpPr txBox="1"/>
          <p:nvPr/>
        </p:nvSpPr>
        <p:spPr>
          <a:xfrm>
            <a:off x="2296800" y="2052000"/>
            <a:ext cx="1620000" cy="720000"/>
          </a:xfrm>
          <a:prstGeom prst="rect">
            <a:avLst/>
          </a:prstGeom>
          <a:noFill/>
        </p:spPr>
        <p:txBody>
          <a:bodyPr wrap="square">
            <a:spAutoFit/>
          </a:bodyPr>
          <a:lstStyle/>
          <a:p>
            <a:pPr algn="ctr"/>
            <a:r>
              <a:rPr sz="1200" b="0" i="0">
                <a:solidFill>
                  <a:srgbClr val="B0C4DE"/>
                </a:solidFill>
                <a:latin typeface="Calibri"/>
              </a:rPr>
              <a:t>3D IVA
exploration</a:t>
            </a:r>
          </a:p>
        </p:txBody>
      </p:sp>
      <p:sp>
        <p:nvSpPr>
          <p:cNvPr id="10" name="TextBox 9"/>
          <p:cNvSpPr txBox="1"/>
          <p:nvPr/>
        </p:nvSpPr>
        <p:spPr>
          <a:xfrm>
            <a:off x="2296800" y="2772000"/>
            <a:ext cx="1620000" cy="432000"/>
          </a:xfrm>
          <a:prstGeom prst="rect">
            <a:avLst/>
          </a:prstGeom>
          <a:noFill/>
        </p:spPr>
        <p:txBody>
          <a:bodyPr wrap="square">
            <a:spAutoFit/>
          </a:bodyPr>
          <a:lstStyle/>
          <a:p>
            <a:pPr algn="ctr"/>
            <a:r>
              <a:rPr sz="1100" b="1" i="0">
                <a:solidFill>
                  <a:srgbClr val="C9A84C"/>
                </a:solidFill>
                <a:latin typeface="Calibri"/>
              </a:rPr>
              <a:t>Conv.
45%</a:t>
            </a:r>
          </a:p>
        </p:txBody>
      </p:sp>
      <p:sp>
        <p:nvSpPr>
          <p:cNvPr id="11" name="Rectangle 10"/>
          <p:cNvSpPr/>
          <p:nvPr/>
        </p:nvSpPr>
        <p:spPr>
          <a:xfrm>
            <a:off x="4125600" y="1152000"/>
            <a:ext cx="1764000" cy="2160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97600" y="1296000"/>
            <a:ext cx="1620000" cy="720000"/>
          </a:xfrm>
          <a:prstGeom prst="rect">
            <a:avLst/>
          </a:prstGeom>
          <a:noFill/>
        </p:spPr>
        <p:txBody>
          <a:bodyPr wrap="square">
            <a:spAutoFit/>
          </a:bodyPr>
          <a:lstStyle/>
          <a:p>
            <a:pPr algn="ctr"/>
            <a:r>
              <a:rPr sz="1300" b="1" i="0">
                <a:solidFill>
                  <a:srgbClr val="0D1B2A"/>
                </a:solidFill>
                <a:latin typeface="Calibri"/>
              </a:rPr>
              <a:t>3
Qualification</a:t>
            </a:r>
          </a:p>
        </p:txBody>
      </p:sp>
      <p:sp>
        <p:nvSpPr>
          <p:cNvPr id="13" name="TextBox 12"/>
          <p:cNvSpPr txBox="1"/>
          <p:nvPr/>
        </p:nvSpPr>
        <p:spPr>
          <a:xfrm>
            <a:off x="4197600" y="2052000"/>
            <a:ext cx="1620000" cy="720000"/>
          </a:xfrm>
          <a:prstGeom prst="rect">
            <a:avLst/>
          </a:prstGeom>
          <a:noFill/>
        </p:spPr>
        <p:txBody>
          <a:bodyPr wrap="square">
            <a:spAutoFit/>
          </a:bodyPr>
          <a:lstStyle/>
          <a:p>
            <a:pPr algn="ctr"/>
            <a:r>
              <a:rPr sz="1200" b="0" i="0">
                <a:solidFill>
                  <a:srgbClr val="0D1B2A"/>
                </a:solidFill>
                <a:latin typeface="Calibri"/>
              </a:rPr>
              <a:t>AI scoring
&amp; routing</a:t>
            </a:r>
          </a:p>
        </p:txBody>
      </p:sp>
      <p:sp>
        <p:nvSpPr>
          <p:cNvPr id="14" name="TextBox 13"/>
          <p:cNvSpPr txBox="1"/>
          <p:nvPr/>
        </p:nvSpPr>
        <p:spPr>
          <a:xfrm>
            <a:off x="4197600" y="2772000"/>
            <a:ext cx="1620000" cy="432000"/>
          </a:xfrm>
          <a:prstGeom prst="rect">
            <a:avLst/>
          </a:prstGeom>
          <a:noFill/>
        </p:spPr>
        <p:txBody>
          <a:bodyPr wrap="square">
            <a:spAutoFit/>
          </a:bodyPr>
          <a:lstStyle/>
          <a:p>
            <a:pPr algn="ctr"/>
            <a:r>
              <a:rPr sz="1100" b="1" i="0">
                <a:solidFill>
                  <a:srgbClr val="0D1B2A"/>
                </a:solidFill>
                <a:latin typeface="Calibri"/>
              </a:rPr>
              <a:t>Conv.
35%</a:t>
            </a:r>
          </a:p>
        </p:txBody>
      </p:sp>
      <p:sp>
        <p:nvSpPr>
          <p:cNvPr id="15" name="Rectangle 14"/>
          <p:cNvSpPr/>
          <p:nvPr/>
        </p:nvSpPr>
        <p:spPr>
          <a:xfrm>
            <a:off x="6026400" y="1152000"/>
            <a:ext cx="1764000" cy="2160000"/>
          </a:xfrm>
          <a:prstGeom prst="rect">
            <a:avLst/>
          </a:prstGeom>
          <a:solidFill>
            <a:srgbClr val="2E5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8400" y="1296000"/>
            <a:ext cx="1620000" cy="720000"/>
          </a:xfrm>
          <a:prstGeom prst="rect">
            <a:avLst/>
          </a:prstGeom>
          <a:noFill/>
        </p:spPr>
        <p:txBody>
          <a:bodyPr wrap="square">
            <a:spAutoFit/>
          </a:bodyPr>
          <a:lstStyle/>
          <a:p>
            <a:pPr algn="ctr"/>
            <a:r>
              <a:rPr sz="1300" b="1" i="0">
                <a:solidFill>
                  <a:srgbClr val="FFFFFF"/>
                </a:solidFill>
                <a:latin typeface="Calibri"/>
              </a:rPr>
              <a:t>4
Private
Viewing</a:t>
            </a:r>
          </a:p>
        </p:txBody>
      </p:sp>
      <p:sp>
        <p:nvSpPr>
          <p:cNvPr id="17" name="TextBox 16"/>
          <p:cNvSpPr txBox="1"/>
          <p:nvPr/>
        </p:nvSpPr>
        <p:spPr>
          <a:xfrm>
            <a:off x="6098400" y="2052000"/>
            <a:ext cx="1620000" cy="720000"/>
          </a:xfrm>
          <a:prstGeom prst="rect">
            <a:avLst/>
          </a:prstGeom>
          <a:noFill/>
        </p:spPr>
        <p:txBody>
          <a:bodyPr wrap="square">
            <a:spAutoFit/>
          </a:bodyPr>
          <a:lstStyle/>
          <a:p>
            <a:pPr algn="ctr"/>
            <a:r>
              <a:rPr sz="1200" b="0" i="0">
                <a:solidFill>
                  <a:srgbClr val="B0C4DE"/>
                </a:solidFill>
                <a:latin typeface="Calibri"/>
              </a:rPr>
              <a:t>Live guided
tour</a:t>
            </a:r>
          </a:p>
        </p:txBody>
      </p:sp>
      <p:sp>
        <p:nvSpPr>
          <p:cNvPr id="18" name="TextBox 17"/>
          <p:cNvSpPr txBox="1"/>
          <p:nvPr/>
        </p:nvSpPr>
        <p:spPr>
          <a:xfrm>
            <a:off x="6098400" y="2772000"/>
            <a:ext cx="1620000" cy="432000"/>
          </a:xfrm>
          <a:prstGeom prst="rect">
            <a:avLst/>
          </a:prstGeom>
          <a:noFill/>
        </p:spPr>
        <p:txBody>
          <a:bodyPr wrap="square">
            <a:spAutoFit/>
          </a:bodyPr>
          <a:lstStyle/>
          <a:p>
            <a:pPr algn="ctr"/>
            <a:r>
              <a:rPr sz="1100" b="1" i="0">
                <a:solidFill>
                  <a:srgbClr val="C9A84C"/>
                </a:solidFill>
                <a:latin typeface="Calibri"/>
              </a:rPr>
              <a:t>Conv.
70%</a:t>
            </a:r>
          </a:p>
        </p:txBody>
      </p:sp>
      <p:sp>
        <p:nvSpPr>
          <p:cNvPr id="19" name="Rectangle 18"/>
          <p:cNvSpPr/>
          <p:nvPr/>
        </p:nvSpPr>
        <p:spPr>
          <a:xfrm>
            <a:off x="7927200" y="1152000"/>
            <a:ext cx="1764000" cy="2160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99200" y="1296000"/>
            <a:ext cx="1620000" cy="720000"/>
          </a:xfrm>
          <a:prstGeom prst="rect">
            <a:avLst/>
          </a:prstGeom>
          <a:noFill/>
        </p:spPr>
        <p:txBody>
          <a:bodyPr wrap="square">
            <a:spAutoFit/>
          </a:bodyPr>
          <a:lstStyle/>
          <a:p>
            <a:pPr algn="ctr"/>
            <a:r>
              <a:rPr sz="1300" b="1" i="0">
                <a:solidFill>
                  <a:srgbClr val="0D1B2A"/>
                </a:solidFill>
                <a:latin typeface="Calibri"/>
              </a:rPr>
              <a:t>5
O2O</a:t>
            </a:r>
          </a:p>
        </p:txBody>
      </p:sp>
      <p:sp>
        <p:nvSpPr>
          <p:cNvPr id="21" name="TextBox 20"/>
          <p:cNvSpPr txBox="1"/>
          <p:nvPr/>
        </p:nvSpPr>
        <p:spPr>
          <a:xfrm>
            <a:off x="7999200" y="2052000"/>
            <a:ext cx="1620000" cy="720000"/>
          </a:xfrm>
          <a:prstGeom prst="rect">
            <a:avLst/>
          </a:prstGeom>
          <a:noFill/>
        </p:spPr>
        <p:txBody>
          <a:bodyPr wrap="square">
            <a:spAutoFit/>
          </a:bodyPr>
          <a:lstStyle/>
          <a:p>
            <a:pPr algn="ctr"/>
            <a:r>
              <a:rPr sz="1200" b="0" i="0">
                <a:solidFill>
                  <a:srgbClr val="0D1B2A"/>
                </a:solidFill>
                <a:latin typeface="Calibri"/>
              </a:rPr>
              <a:t>Site visit
&amp; meeting</a:t>
            </a:r>
          </a:p>
        </p:txBody>
      </p:sp>
      <p:sp>
        <p:nvSpPr>
          <p:cNvPr id="22" name="TextBox 21"/>
          <p:cNvSpPr txBox="1"/>
          <p:nvPr/>
        </p:nvSpPr>
        <p:spPr>
          <a:xfrm>
            <a:off x="7999200" y="2772000"/>
            <a:ext cx="1620000" cy="432000"/>
          </a:xfrm>
          <a:prstGeom prst="rect">
            <a:avLst/>
          </a:prstGeom>
          <a:noFill/>
        </p:spPr>
        <p:txBody>
          <a:bodyPr wrap="square">
            <a:spAutoFit/>
          </a:bodyPr>
          <a:lstStyle/>
          <a:p>
            <a:pPr algn="ctr"/>
            <a:r>
              <a:rPr sz="1100" b="1" i="0">
                <a:solidFill>
                  <a:srgbClr val="0D1B2A"/>
                </a:solidFill>
                <a:latin typeface="Calibri"/>
              </a:rPr>
              <a:t>Conv.
80%</a:t>
            </a:r>
          </a:p>
        </p:txBody>
      </p:sp>
      <p:sp>
        <p:nvSpPr>
          <p:cNvPr id="23" name="Rectangle 22"/>
          <p:cNvSpPr/>
          <p:nvPr/>
        </p:nvSpPr>
        <p:spPr>
          <a:xfrm>
            <a:off x="9828000" y="1152000"/>
            <a:ext cx="1764000" cy="2160000"/>
          </a:xfrm>
          <a:prstGeom prst="rect">
            <a:avLst/>
          </a:prstGeom>
          <a:solidFill>
            <a:srgbClr val="2E5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00000" y="1296000"/>
            <a:ext cx="1620000" cy="720000"/>
          </a:xfrm>
          <a:prstGeom prst="rect">
            <a:avLst/>
          </a:prstGeom>
          <a:noFill/>
        </p:spPr>
        <p:txBody>
          <a:bodyPr wrap="square">
            <a:spAutoFit/>
          </a:bodyPr>
          <a:lstStyle/>
          <a:p>
            <a:pPr algn="ctr"/>
            <a:r>
              <a:rPr sz="1300" b="1" i="0">
                <a:solidFill>
                  <a:srgbClr val="FFFFFF"/>
                </a:solidFill>
                <a:latin typeface="Calibri"/>
              </a:rPr>
              <a:t>6
Decision</a:t>
            </a:r>
          </a:p>
        </p:txBody>
      </p:sp>
      <p:sp>
        <p:nvSpPr>
          <p:cNvPr id="25" name="TextBox 24"/>
          <p:cNvSpPr txBox="1"/>
          <p:nvPr/>
        </p:nvSpPr>
        <p:spPr>
          <a:xfrm>
            <a:off x="9900000" y="2052000"/>
            <a:ext cx="1620000" cy="720000"/>
          </a:xfrm>
          <a:prstGeom prst="rect">
            <a:avLst/>
          </a:prstGeom>
          <a:noFill/>
        </p:spPr>
        <p:txBody>
          <a:bodyPr wrap="square">
            <a:spAutoFit/>
          </a:bodyPr>
          <a:lstStyle/>
          <a:p>
            <a:pPr algn="ctr"/>
            <a:r>
              <a:rPr sz="1200" b="0" i="0">
                <a:solidFill>
                  <a:srgbClr val="B0C4DE"/>
                </a:solidFill>
                <a:latin typeface="Calibri"/>
              </a:rPr>
              <a:t>Proposal
&amp; deposit</a:t>
            </a:r>
          </a:p>
        </p:txBody>
      </p:sp>
      <p:sp>
        <p:nvSpPr>
          <p:cNvPr id="26" name="TextBox 25"/>
          <p:cNvSpPr txBox="1"/>
          <p:nvPr/>
        </p:nvSpPr>
        <p:spPr>
          <a:xfrm>
            <a:off x="9900000" y="2772000"/>
            <a:ext cx="1620000" cy="432000"/>
          </a:xfrm>
          <a:prstGeom prst="rect">
            <a:avLst/>
          </a:prstGeom>
          <a:noFill/>
        </p:spPr>
        <p:txBody>
          <a:bodyPr wrap="square">
            <a:spAutoFit/>
          </a:bodyPr>
          <a:lstStyle/>
          <a:p>
            <a:pPr algn="ctr"/>
            <a:r>
              <a:rPr sz="1100" b="1" i="0">
                <a:solidFill>
                  <a:srgbClr val="C9A84C"/>
                </a:solidFill>
                <a:latin typeface="Calibri"/>
              </a:rPr>
              <a:t>Conv.
25%</a:t>
            </a:r>
          </a:p>
        </p:txBody>
      </p:sp>
      <p:sp>
        <p:nvSpPr>
          <p:cNvPr id="27" name="TextBox 26"/>
          <p:cNvSpPr txBox="1"/>
          <p:nvPr/>
        </p:nvSpPr>
        <p:spPr>
          <a:xfrm>
            <a:off x="432000" y="5958000"/>
            <a:ext cx="11329200" cy="324000"/>
          </a:xfrm>
          <a:prstGeom prst="rect">
            <a:avLst/>
          </a:prstGeom>
          <a:noFill/>
        </p:spPr>
        <p:txBody>
          <a:bodyPr wrap="square">
            <a:spAutoFit/>
          </a:bodyPr>
          <a:lstStyle/>
          <a:p>
            <a:pPr algn="ctr"/>
            <a:r>
              <a:rPr sz="1200" b="0" i="1">
                <a:solidFill>
                  <a:srgbClr val="2E5090"/>
                </a:solidFill>
                <a:latin typeface="Calibri"/>
              </a:rPr>
              <a:t>Each stage captures behavioural data that feeds AI scoring — shortening the full cycle to ≤45 days.</a:t>
            </a:r>
          </a:p>
        </p:txBody>
      </p:sp>
      <p:sp>
        <p:nvSpPr>
          <p:cNvPr id="28" name="TextBox 27"/>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29" name="Connector 28"/>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1473200" y="6462000"/>
            <a:ext cx="576000" cy="288000"/>
          </a:xfrm>
          <a:prstGeom prst="rect">
            <a:avLst/>
          </a:prstGeom>
          <a:noFill/>
        </p:spPr>
        <p:txBody>
          <a:bodyPr wrap="square">
            <a:spAutoFit/>
          </a:bodyPr>
          <a:lstStyle/>
          <a:p>
            <a:pPr algn="r"/>
            <a:r>
              <a:rPr sz="1000" b="0" i="0">
                <a:solidFill>
                  <a:srgbClr val="2E509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We Know Intent Before Your Customer Does</a:t>
            </a:r>
          </a:p>
        </p:txBody>
      </p:sp>
      <p:sp>
        <p:nvSpPr>
          <p:cNvPr id="3" name="TextBox 2"/>
          <p:cNvSpPr txBox="1"/>
          <p:nvPr/>
        </p:nvSpPr>
        <p:spPr>
          <a:xfrm>
            <a:off x="288000" y="1080000"/>
            <a:ext cx="2880000" cy="396000"/>
          </a:xfrm>
          <a:prstGeom prst="rect">
            <a:avLst/>
          </a:prstGeom>
          <a:noFill/>
        </p:spPr>
        <p:txBody>
          <a:bodyPr wrap="square">
            <a:spAutoFit/>
          </a:bodyPr>
          <a:lstStyle/>
          <a:p>
            <a:pPr algn="l"/>
            <a:r>
              <a:rPr sz="1400" b="1" i="0">
                <a:solidFill>
                  <a:srgbClr val="C9A84C"/>
                </a:solidFill>
                <a:latin typeface="Calibri"/>
              </a:rPr>
              <a:t>INPUT SIGNALS</a:t>
            </a:r>
          </a:p>
        </p:txBody>
      </p:sp>
      <p:sp>
        <p:nvSpPr>
          <p:cNvPr id="4" name="TextBox 3"/>
          <p:cNvSpPr txBox="1"/>
          <p:nvPr/>
        </p:nvSpPr>
        <p:spPr>
          <a:xfrm>
            <a:off x="360000" y="1512000"/>
            <a:ext cx="2700000" cy="396000"/>
          </a:xfrm>
          <a:prstGeom prst="rect">
            <a:avLst/>
          </a:prstGeom>
          <a:noFill/>
        </p:spPr>
        <p:txBody>
          <a:bodyPr wrap="square">
            <a:spAutoFit/>
          </a:bodyPr>
          <a:lstStyle/>
          <a:p>
            <a:pPr algn="l"/>
            <a:r>
              <a:rPr sz="1300" b="0" i="0">
                <a:solidFill>
                  <a:srgbClr val="B0C4DE"/>
                </a:solidFill>
                <a:latin typeface="Calibri"/>
              </a:rPr>
              <a:t>▸  Time in 3D unit view</a:t>
            </a:r>
          </a:p>
        </p:txBody>
      </p:sp>
      <p:sp>
        <p:nvSpPr>
          <p:cNvPr id="5" name="TextBox 4"/>
          <p:cNvSpPr txBox="1"/>
          <p:nvPr/>
        </p:nvSpPr>
        <p:spPr>
          <a:xfrm>
            <a:off x="360000" y="1980000"/>
            <a:ext cx="2700000" cy="396000"/>
          </a:xfrm>
          <a:prstGeom prst="rect">
            <a:avLst/>
          </a:prstGeom>
          <a:noFill/>
        </p:spPr>
        <p:txBody>
          <a:bodyPr wrap="square">
            <a:spAutoFit/>
          </a:bodyPr>
          <a:lstStyle/>
          <a:p>
            <a:pPr algn="l"/>
            <a:r>
              <a:rPr sz="1300" b="0" i="0">
                <a:solidFill>
                  <a:srgbClr val="B0C4DE"/>
                </a:solidFill>
                <a:latin typeface="Calibri"/>
              </a:rPr>
              <a:t>▸  Material / config choices</a:t>
            </a:r>
          </a:p>
        </p:txBody>
      </p:sp>
      <p:sp>
        <p:nvSpPr>
          <p:cNvPr id="6" name="TextBox 5"/>
          <p:cNvSpPr txBox="1"/>
          <p:nvPr/>
        </p:nvSpPr>
        <p:spPr>
          <a:xfrm>
            <a:off x="360000" y="2448000"/>
            <a:ext cx="2700000" cy="396000"/>
          </a:xfrm>
          <a:prstGeom prst="rect">
            <a:avLst/>
          </a:prstGeom>
          <a:noFill/>
        </p:spPr>
        <p:txBody>
          <a:bodyPr wrap="square">
            <a:spAutoFit/>
          </a:bodyPr>
          <a:lstStyle/>
          <a:p>
            <a:pPr algn="l"/>
            <a:r>
              <a:rPr sz="1300" b="0" i="0">
                <a:solidFill>
                  <a:srgbClr val="B0C4DE"/>
                </a:solidFill>
                <a:latin typeface="Calibri"/>
              </a:rPr>
              <a:t>▸  Shortlist additions</a:t>
            </a:r>
          </a:p>
        </p:txBody>
      </p:sp>
      <p:sp>
        <p:nvSpPr>
          <p:cNvPr id="7" name="TextBox 6"/>
          <p:cNvSpPr txBox="1"/>
          <p:nvPr/>
        </p:nvSpPr>
        <p:spPr>
          <a:xfrm>
            <a:off x="360000" y="2916000"/>
            <a:ext cx="2700000" cy="396000"/>
          </a:xfrm>
          <a:prstGeom prst="rect">
            <a:avLst/>
          </a:prstGeom>
          <a:noFill/>
        </p:spPr>
        <p:txBody>
          <a:bodyPr wrap="square">
            <a:spAutoFit/>
          </a:bodyPr>
          <a:lstStyle/>
          <a:p>
            <a:pPr algn="l"/>
            <a:r>
              <a:rPr sz="1300" b="0" i="0">
                <a:solidFill>
                  <a:srgbClr val="B0C4DE"/>
                </a:solidFill>
                <a:latin typeface="Calibri"/>
              </a:rPr>
              <a:t>▸  Return visit frequency</a:t>
            </a:r>
          </a:p>
        </p:txBody>
      </p:sp>
      <p:sp>
        <p:nvSpPr>
          <p:cNvPr id="8" name="TextBox 7"/>
          <p:cNvSpPr txBox="1"/>
          <p:nvPr/>
        </p:nvSpPr>
        <p:spPr>
          <a:xfrm>
            <a:off x="360000" y="3384000"/>
            <a:ext cx="2700000" cy="396000"/>
          </a:xfrm>
          <a:prstGeom prst="rect">
            <a:avLst/>
          </a:prstGeom>
          <a:noFill/>
        </p:spPr>
        <p:txBody>
          <a:bodyPr wrap="square">
            <a:spAutoFit/>
          </a:bodyPr>
          <a:lstStyle/>
          <a:p>
            <a:pPr algn="l"/>
            <a:r>
              <a:rPr sz="1300" b="0" i="0">
                <a:solidFill>
                  <a:srgbClr val="B0C4DE"/>
                </a:solidFill>
                <a:latin typeface="Calibri"/>
              </a:rPr>
              <a:t>▸  Video engagement depth</a:t>
            </a:r>
          </a:p>
        </p:txBody>
      </p:sp>
      <p:sp>
        <p:nvSpPr>
          <p:cNvPr id="9" name="TextBox 8"/>
          <p:cNvSpPr txBox="1"/>
          <p:nvPr/>
        </p:nvSpPr>
        <p:spPr>
          <a:xfrm>
            <a:off x="360000" y="3852000"/>
            <a:ext cx="2700000" cy="396000"/>
          </a:xfrm>
          <a:prstGeom prst="rect">
            <a:avLst/>
          </a:prstGeom>
          <a:noFill/>
        </p:spPr>
        <p:txBody>
          <a:bodyPr wrap="square">
            <a:spAutoFit/>
          </a:bodyPr>
          <a:lstStyle/>
          <a:p>
            <a:pPr algn="l"/>
            <a:r>
              <a:rPr sz="1300" b="0" i="0">
                <a:solidFill>
                  <a:srgbClr val="B0C4DE"/>
                </a:solidFill>
                <a:latin typeface="Calibri"/>
              </a:rPr>
              <a:t>▸  Form completion rate</a:t>
            </a:r>
          </a:p>
        </p:txBody>
      </p:sp>
      <p:sp>
        <p:nvSpPr>
          <p:cNvPr id="10" name="Rectangle 9"/>
          <p:cNvSpPr/>
          <p:nvPr/>
        </p:nvSpPr>
        <p:spPr>
          <a:xfrm>
            <a:off x="3708000" y="1872000"/>
            <a:ext cx="1512000" cy="1512000"/>
          </a:xfrm>
          <a:prstGeom prst="rect">
            <a:avLst/>
          </a:prstGeom>
          <a:solidFill>
            <a:srgbClr val="C9A84C"/>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80000" y="2232000"/>
            <a:ext cx="1368000" cy="792000"/>
          </a:xfrm>
          <a:prstGeom prst="rect">
            <a:avLst/>
          </a:prstGeom>
          <a:noFill/>
        </p:spPr>
        <p:txBody>
          <a:bodyPr wrap="square">
            <a:spAutoFit/>
          </a:bodyPr>
          <a:lstStyle/>
          <a:p>
            <a:pPr algn="ctr"/>
            <a:r>
              <a:rPr sz="1800" b="1" i="0">
                <a:solidFill>
                  <a:srgbClr val="0D1B2A"/>
                </a:solidFill>
                <a:latin typeface="Calibri"/>
              </a:rPr>
              <a:t>AI
ENGINE</a:t>
            </a:r>
          </a:p>
        </p:txBody>
      </p:sp>
      <p:sp>
        <p:nvSpPr>
          <p:cNvPr id="12" name="TextBox 11"/>
          <p:cNvSpPr txBox="1"/>
          <p:nvPr/>
        </p:nvSpPr>
        <p:spPr>
          <a:xfrm>
            <a:off x="5760000" y="1080000"/>
            <a:ext cx="4320000" cy="396000"/>
          </a:xfrm>
          <a:prstGeom prst="rect">
            <a:avLst/>
          </a:prstGeom>
          <a:noFill/>
        </p:spPr>
        <p:txBody>
          <a:bodyPr wrap="square">
            <a:spAutoFit/>
          </a:bodyPr>
          <a:lstStyle/>
          <a:p>
            <a:pPr algn="l"/>
            <a:r>
              <a:rPr sz="1400" b="1" i="0">
                <a:solidFill>
                  <a:srgbClr val="C9A84C"/>
                </a:solidFill>
                <a:latin typeface="Calibri"/>
              </a:rPr>
              <a:t>OUTPUT</a:t>
            </a:r>
          </a:p>
        </p:txBody>
      </p:sp>
      <p:sp>
        <p:nvSpPr>
          <p:cNvPr id="13" name="Rectangle 12"/>
          <p:cNvSpPr/>
          <p:nvPr/>
        </p:nvSpPr>
        <p:spPr>
          <a:xfrm>
            <a:off x="5760000" y="1512000"/>
            <a:ext cx="4860000" cy="864000"/>
          </a:xfrm>
          <a:prstGeom prst="rect">
            <a:avLst/>
          </a:prstGeom>
          <a:solidFill>
            <a:srgbClr val="142A42"/>
          </a:solidFill>
          <a:ln w="19050">
            <a:solidFill>
              <a:srgbClr val="FF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68000" y="1584000"/>
            <a:ext cx="4680000" cy="360000"/>
          </a:xfrm>
          <a:prstGeom prst="rect">
            <a:avLst/>
          </a:prstGeom>
          <a:noFill/>
        </p:spPr>
        <p:txBody>
          <a:bodyPr wrap="square">
            <a:spAutoFit/>
          </a:bodyPr>
          <a:lstStyle/>
          <a:p>
            <a:pPr algn="l"/>
            <a:r>
              <a:rPr sz="1400" b="1" i="0">
                <a:solidFill>
                  <a:srgbClr val="FF4040"/>
                </a:solidFill>
                <a:latin typeface="Calibri"/>
              </a:rPr>
              <a:t>Score &gt;75  →  HOT LEAD</a:t>
            </a:r>
          </a:p>
        </p:txBody>
      </p:sp>
      <p:sp>
        <p:nvSpPr>
          <p:cNvPr id="15" name="TextBox 14"/>
          <p:cNvSpPr txBox="1"/>
          <p:nvPr/>
        </p:nvSpPr>
        <p:spPr>
          <a:xfrm>
            <a:off x="5868000" y="1908000"/>
            <a:ext cx="4680000" cy="360000"/>
          </a:xfrm>
          <a:prstGeom prst="rect">
            <a:avLst/>
          </a:prstGeom>
          <a:noFill/>
        </p:spPr>
        <p:txBody>
          <a:bodyPr wrap="square">
            <a:spAutoFit/>
          </a:bodyPr>
          <a:lstStyle/>
          <a:p>
            <a:pPr algn="l"/>
            <a:r>
              <a:rPr sz="1200" b="0" i="1">
                <a:solidFill>
                  <a:srgbClr val="B0C4DE"/>
                </a:solidFill>
                <a:latin typeface="Calibri"/>
              </a:rPr>
              <a:t>→ Senior Sales (5 min alert)</a:t>
            </a:r>
          </a:p>
        </p:txBody>
      </p:sp>
      <p:sp>
        <p:nvSpPr>
          <p:cNvPr id="16" name="Rectangle 15"/>
          <p:cNvSpPr/>
          <p:nvPr/>
        </p:nvSpPr>
        <p:spPr>
          <a:xfrm>
            <a:off x="5760000" y="2519999"/>
            <a:ext cx="4860000" cy="864000"/>
          </a:xfrm>
          <a:prstGeom prst="rect">
            <a:avLst/>
          </a:prstGeom>
          <a:solidFill>
            <a:srgbClr val="142A42"/>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68000" y="2591999"/>
            <a:ext cx="4680000" cy="360000"/>
          </a:xfrm>
          <a:prstGeom prst="rect">
            <a:avLst/>
          </a:prstGeom>
          <a:noFill/>
        </p:spPr>
        <p:txBody>
          <a:bodyPr wrap="square">
            <a:spAutoFit/>
          </a:bodyPr>
          <a:lstStyle/>
          <a:p>
            <a:pPr algn="l"/>
            <a:r>
              <a:rPr sz="1400" b="1" i="0">
                <a:solidFill>
                  <a:srgbClr val="FFA500"/>
                </a:solidFill>
                <a:latin typeface="Calibri"/>
              </a:rPr>
              <a:t>Score 45–74  →  WARM</a:t>
            </a:r>
          </a:p>
        </p:txBody>
      </p:sp>
      <p:sp>
        <p:nvSpPr>
          <p:cNvPr id="18" name="TextBox 17"/>
          <p:cNvSpPr txBox="1"/>
          <p:nvPr/>
        </p:nvSpPr>
        <p:spPr>
          <a:xfrm>
            <a:off x="5868000" y="2915999"/>
            <a:ext cx="4680000" cy="360000"/>
          </a:xfrm>
          <a:prstGeom prst="rect">
            <a:avLst/>
          </a:prstGeom>
          <a:noFill/>
        </p:spPr>
        <p:txBody>
          <a:bodyPr wrap="square">
            <a:spAutoFit/>
          </a:bodyPr>
          <a:lstStyle/>
          <a:p>
            <a:pPr algn="l"/>
            <a:r>
              <a:rPr sz="1200" b="0" i="1">
                <a:solidFill>
                  <a:srgbClr val="B0C4DE"/>
                </a:solidFill>
                <a:latin typeface="Calibri"/>
              </a:rPr>
              <a:t>→ Concierge Nurture</a:t>
            </a:r>
          </a:p>
        </p:txBody>
      </p:sp>
      <p:sp>
        <p:nvSpPr>
          <p:cNvPr id="19" name="Rectangle 18"/>
          <p:cNvSpPr/>
          <p:nvPr/>
        </p:nvSpPr>
        <p:spPr>
          <a:xfrm>
            <a:off x="5760000" y="3527998"/>
            <a:ext cx="4860000" cy="864000"/>
          </a:xfrm>
          <a:prstGeom prst="rect">
            <a:avLst/>
          </a:prstGeom>
          <a:solidFill>
            <a:srgbClr val="142A42"/>
          </a:solidFill>
          <a:ln w="19050">
            <a:solidFill>
              <a:srgbClr val="B0C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68000" y="3599998"/>
            <a:ext cx="4680000" cy="360000"/>
          </a:xfrm>
          <a:prstGeom prst="rect">
            <a:avLst/>
          </a:prstGeom>
          <a:noFill/>
        </p:spPr>
        <p:txBody>
          <a:bodyPr wrap="square">
            <a:spAutoFit/>
          </a:bodyPr>
          <a:lstStyle/>
          <a:p>
            <a:pPr algn="l"/>
            <a:r>
              <a:rPr sz="1400" b="1" i="0">
                <a:solidFill>
                  <a:srgbClr val="B0C4DE"/>
                </a:solidFill>
                <a:latin typeface="Calibri"/>
              </a:rPr>
              <a:t>Score &lt;45  →  COLD</a:t>
            </a:r>
          </a:p>
        </p:txBody>
      </p:sp>
      <p:sp>
        <p:nvSpPr>
          <p:cNvPr id="21" name="TextBox 20"/>
          <p:cNvSpPr txBox="1"/>
          <p:nvPr/>
        </p:nvSpPr>
        <p:spPr>
          <a:xfrm>
            <a:off x="5868000" y="3923998"/>
            <a:ext cx="4680000" cy="360000"/>
          </a:xfrm>
          <a:prstGeom prst="rect">
            <a:avLst/>
          </a:prstGeom>
          <a:noFill/>
        </p:spPr>
        <p:txBody>
          <a:bodyPr wrap="square">
            <a:spAutoFit/>
          </a:bodyPr>
          <a:lstStyle/>
          <a:p>
            <a:pPr algn="l"/>
            <a:r>
              <a:rPr sz="1200" b="0" i="1">
                <a:solidFill>
                  <a:srgbClr val="B0C4DE"/>
                </a:solidFill>
                <a:latin typeface="Calibri"/>
              </a:rPr>
              <a:t>→ Automated Sequence</a:t>
            </a:r>
          </a:p>
        </p:txBody>
      </p:sp>
      <p:sp>
        <p:nvSpPr>
          <p:cNvPr id="22" name="TextBox 21"/>
          <p:cNvSpPr txBox="1"/>
          <p:nvPr/>
        </p:nvSpPr>
        <p:spPr>
          <a:xfrm>
            <a:off x="432000" y="5958000"/>
            <a:ext cx="11329200" cy="324000"/>
          </a:xfrm>
          <a:prstGeom prst="rect">
            <a:avLst/>
          </a:prstGeom>
          <a:noFill/>
        </p:spPr>
        <p:txBody>
          <a:bodyPr wrap="square">
            <a:spAutoFit/>
          </a:bodyPr>
          <a:lstStyle/>
          <a:p>
            <a:pPr algn="ctr"/>
            <a:r>
              <a:rPr sz="1200" b="0" i="1">
                <a:solidFill>
                  <a:srgbClr val="C9A84C"/>
                </a:solidFill>
                <a:latin typeface="Calibri"/>
              </a:rPr>
              <a:t>Example: 8 min in Hero Unit + Material Config + Shortlist  =  Score 89/100  →  HOT</a:t>
            </a:r>
          </a:p>
        </p:txBody>
      </p:sp>
      <p:sp>
        <p:nvSpPr>
          <p:cNvPr id="23" name="TextBox 22"/>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24" name="Connector 23"/>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1473200" y="6462000"/>
            <a:ext cx="576000" cy="288000"/>
          </a:xfrm>
          <a:prstGeom prst="rect">
            <a:avLst/>
          </a:prstGeom>
          <a:noFill/>
        </p:spPr>
        <p:txBody>
          <a:bodyPr wrap="square">
            <a:spAutoFit/>
          </a:bodyPr>
          <a:lstStyle/>
          <a:p>
            <a:pPr algn="r"/>
            <a:r>
              <a:rPr sz="1000" b="0" i="0">
                <a:solidFill>
                  <a:srgbClr val="C9A84C"/>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The World's Most Personalized Home Assistant</a:t>
            </a:r>
          </a:p>
        </p:txBody>
      </p:sp>
      <p:sp>
        <p:nvSpPr>
          <p:cNvPr id="3" name="Rectangle 2"/>
          <p:cNvSpPr/>
          <p:nvPr/>
        </p:nvSpPr>
        <p:spPr>
          <a:xfrm>
            <a:off x="432000" y="1152000"/>
            <a:ext cx="3528000" cy="2700000"/>
          </a:xfrm>
          <a:prstGeom prst="rect">
            <a:avLst/>
          </a:prstGeom>
          <a:solidFill>
            <a:srgbClr val="2E5090"/>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6000" y="1368000"/>
            <a:ext cx="3240000" cy="576000"/>
          </a:xfrm>
          <a:prstGeom prst="rect">
            <a:avLst/>
          </a:prstGeom>
          <a:noFill/>
        </p:spPr>
        <p:txBody>
          <a:bodyPr wrap="square">
            <a:spAutoFit/>
          </a:bodyPr>
          <a:lstStyle/>
          <a:p>
            <a:pPr algn="ctr"/>
            <a:r>
              <a:rPr sz="1600" b="1" i="0">
                <a:solidFill>
                  <a:srgbClr val="C9A84C"/>
                </a:solidFill>
                <a:latin typeface="Calibri"/>
              </a:rPr>
              <a:t>🤖 AI Personal Concierge</a:t>
            </a:r>
          </a:p>
        </p:txBody>
      </p:sp>
      <p:sp>
        <p:nvSpPr>
          <p:cNvPr id="5" name="TextBox 4"/>
          <p:cNvSpPr txBox="1"/>
          <p:nvPr/>
        </p:nvSpPr>
        <p:spPr>
          <a:xfrm>
            <a:off x="576000" y="2052000"/>
            <a:ext cx="3240000" cy="1620000"/>
          </a:xfrm>
          <a:prstGeom prst="rect">
            <a:avLst/>
          </a:prstGeom>
          <a:noFill/>
        </p:spPr>
        <p:txBody>
          <a:bodyPr wrap="square">
            <a:spAutoFit/>
          </a:bodyPr>
          <a:lstStyle/>
          <a:p>
            <a:pPr algn="ctr"/>
            <a:r>
              <a:rPr sz="1400" b="0" i="0">
                <a:solidFill>
                  <a:srgbClr val="FFFFFF"/>
                </a:solidFill>
                <a:latin typeface="Calibri"/>
              </a:rPr>
              <a:t>Not a chatbot. A lifestyle curator.
Learns, predicts, acts.</a:t>
            </a:r>
          </a:p>
        </p:txBody>
      </p:sp>
      <p:sp>
        <p:nvSpPr>
          <p:cNvPr id="6" name="Rectangle 5"/>
          <p:cNvSpPr/>
          <p:nvPr/>
        </p:nvSpPr>
        <p:spPr>
          <a:xfrm>
            <a:off x="4158000" y="1152000"/>
            <a:ext cx="3528000" cy="2700000"/>
          </a:xfrm>
          <a:prstGeom prst="rect">
            <a:avLst/>
          </a:prstGeom>
          <a:solidFill>
            <a:srgbClr val="2E5090"/>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02000" y="1368000"/>
            <a:ext cx="3240000" cy="576000"/>
          </a:xfrm>
          <a:prstGeom prst="rect">
            <a:avLst/>
          </a:prstGeom>
          <a:noFill/>
        </p:spPr>
        <p:txBody>
          <a:bodyPr wrap="square">
            <a:spAutoFit/>
          </a:bodyPr>
          <a:lstStyle/>
          <a:p>
            <a:pPr algn="ctr"/>
            <a:r>
              <a:rPr sz="1600" b="1" i="0">
                <a:solidFill>
                  <a:srgbClr val="C9A84C"/>
                </a:solidFill>
                <a:latin typeface="Calibri"/>
              </a:rPr>
              <a:t>🏪 Service Ecosystem</a:t>
            </a:r>
          </a:p>
        </p:txBody>
      </p:sp>
      <p:sp>
        <p:nvSpPr>
          <p:cNvPr id="8" name="TextBox 7"/>
          <p:cNvSpPr txBox="1"/>
          <p:nvPr/>
        </p:nvSpPr>
        <p:spPr>
          <a:xfrm>
            <a:off x="4302000" y="2052000"/>
            <a:ext cx="3240000" cy="1620000"/>
          </a:xfrm>
          <a:prstGeom prst="rect">
            <a:avLst/>
          </a:prstGeom>
          <a:noFill/>
        </p:spPr>
        <p:txBody>
          <a:bodyPr wrap="square">
            <a:spAutoFit/>
          </a:bodyPr>
          <a:lstStyle/>
          <a:p>
            <a:pPr algn="ctr"/>
            <a:r>
              <a:rPr sz="1400" b="0" i="0">
                <a:solidFill>
                  <a:srgbClr val="FFFFFF"/>
                </a:solidFill>
                <a:latin typeface="Calibri"/>
              </a:rPr>
              <a:t>500+ services, 1 app, zero friction.
Building + Partners + Smart Home.</a:t>
            </a:r>
          </a:p>
        </p:txBody>
      </p:sp>
      <p:sp>
        <p:nvSpPr>
          <p:cNvPr id="9" name="Rectangle 8"/>
          <p:cNvSpPr/>
          <p:nvPr/>
        </p:nvSpPr>
        <p:spPr>
          <a:xfrm>
            <a:off x="7884000" y="1152000"/>
            <a:ext cx="3528000" cy="2700000"/>
          </a:xfrm>
          <a:prstGeom prst="rect">
            <a:avLst/>
          </a:prstGeom>
          <a:solidFill>
            <a:srgbClr val="2E5090"/>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28000" y="1368000"/>
            <a:ext cx="3240000" cy="576000"/>
          </a:xfrm>
          <a:prstGeom prst="rect">
            <a:avLst/>
          </a:prstGeom>
          <a:noFill/>
        </p:spPr>
        <p:txBody>
          <a:bodyPr wrap="square">
            <a:spAutoFit/>
          </a:bodyPr>
          <a:lstStyle/>
          <a:p>
            <a:pPr algn="ctr"/>
            <a:r>
              <a:rPr sz="1600" b="1" i="0">
                <a:solidFill>
                  <a:srgbClr val="C9A84C"/>
                </a:solidFill>
                <a:latin typeface="Calibri"/>
              </a:rPr>
              <a:t>👥 Community &amp; Loyalty</a:t>
            </a:r>
          </a:p>
        </p:txBody>
      </p:sp>
      <p:sp>
        <p:nvSpPr>
          <p:cNvPr id="11" name="TextBox 10"/>
          <p:cNvSpPr txBox="1"/>
          <p:nvPr/>
        </p:nvSpPr>
        <p:spPr>
          <a:xfrm>
            <a:off x="8028000" y="2052000"/>
            <a:ext cx="3240000" cy="1620000"/>
          </a:xfrm>
          <a:prstGeom prst="rect">
            <a:avLst/>
          </a:prstGeom>
          <a:noFill/>
        </p:spPr>
        <p:txBody>
          <a:bodyPr wrap="square">
            <a:spAutoFit/>
          </a:bodyPr>
          <a:lstStyle/>
          <a:p>
            <a:pPr algn="ctr"/>
            <a:r>
              <a:rPr sz="1400" b="0" i="0">
                <a:solidFill>
                  <a:srgbClr val="FFFFFF"/>
                </a:solidFill>
                <a:latin typeface="Calibri"/>
              </a:rPr>
              <a:t>Residents who stay, spend, and refer.
Gamification + Rewards.</a:t>
            </a:r>
          </a:p>
        </p:txBody>
      </p:sp>
      <p:sp>
        <p:nvSpPr>
          <p:cNvPr id="12" name="Rectangle 11"/>
          <p:cNvSpPr/>
          <p:nvPr/>
        </p:nvSpPr>
        <p:spPr>
          <a:xfrm>
            <a:off x="4500000" y="5904000"/>
            <a:ext cx="3168000" cy="324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5922000"/>
            <a:ext cx="3024000" cy="288000"/>
          </a:xfrm>
          <a:prstGeom prst="rect">
            <a:avLst/>
          </a:prstGeom>
          <a:noFill/>
        </p:spPr>
        <p:txBody>
          <a:bodyPr wrap="square">
            <a:spAutoFit/>
          </a:bodyPr>
          <a:lstStyle/>
          <a:p>
            <a:pPr algn="ctr"/>
            <a:r>
              <a:rPr sz="1400" b="1" i="0">
                <a:solidFill>
                  <a:srgbClr val="0D1B2A"/>
                </a:solidFill>
                <a:latin typeface="Calibri"/>
              </a:rPr>
              <a:t>[APP DEMO — 45 seconds]</a:t>
            </a:r>
          </a:p>
        </p:txBody>
      </p:sp>
      <p:sp>
        <p:nvSpPr>
          <p:cNvPr id="14" name="TextBox 13"/>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15" name="Connector 14"/>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1473200" y="6462000"/>
            <a:ext cx="576000" cy="288000"/>
          </a:xfrm>
          <a:prstGeom prst="rect">
            <a:avLst/>
          </a:prstGeom>
          <a:noFill/>
        </p:spPr>
        <p:txBody>
          <a:bodyPr wrap="square">
            <a:spAutoFit/>
          </a:bodyPr>
          <a:lstStyle/>
          <a:p>
            <a:pPr algn="r"/>
            <a:r>
              <a:rPr sz="1000" b="0" i="0">
                <a:solidFill>
                  <a:srgbClr val="C9A84C"/>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From Move-In Day to Lifetime Advocate</a:t>
            </a:r>
          </a:p>
        </p:txBody>
      </p:sp>
      <p:sp>
        <p:nvSpPr>
          <p:cNvPr id="3" name="Rectangle 2"/>
          <p:cNvSpPr/>
          <p:nvPr/>
        </p:nvSpPr>
        <p:spPr>
          <a:xfrm>
            <a:off x="324000" y="1152000"/>
            <a:ext cx="1764000" cy="2340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6000" y="1277999"/>
            <a:ext cx="1620000" cy="720000"/>
          </a:xfrm>
          <a:prstGeom prst="rect">
            <a:avLst/>
          </a:prstGeom>
          <a:noFill/>
        </p:spPr>
        <p:txBody>
          <a:bodyPr wrap="square">
            <a:spAutoFit/>
          </a:bodyPr>
          <a:lstStyle/>
          <a:p>
            <a:pPr algn="ctr"/>
            <a:r>
              <a:rPr sz="1300" b="1" i="0">
                <a:solidFill>
                  <a:srgbClr val="0D1B2A"/>
                </a:solidFill>
                <a:latin typeface="Calibri"/>
              </a:rPr>
              <a:t>1
Awareness</a:t>
            </a:r>
          </a:p>
        </p:txBody>
      </p:sp>
      <p:sp>
        <p:nvSpPr>
          <p:cNvPr id="5" name="TextBox 4"/>
          <p:cNvSpPr txBox="1"/>
          <p:nvPr/>
        </p:nvSpPr>
        <p:spPr>
          <a:xfrm>
            <a:off x="396000" y="2052000"/>
            <a:ext cx="1620000" cy="720000"/>
          </a:xfrm>
          <a:prstGeom prst="rect">
            <a:avLst/>
          </a:prstGeom>
          <a:noFill/>
        </p:spPr>
        <p:txBody>
          <a:bodyPr wrap="square">
            <a:spAutoFit/>
          </a:bodyPr>
          <a:lstStyle/>
          <a:p>
            <a:pPr algn="ctr"/>
            <a:r>
              <a:rPr sz="1200" b="0" i="0">
                <a:solidFill>
                  <a:srgbClr val="0D1B2A"/>
                </a:solidFill>
                <a:latin typeface="Calibri"/>
              </a:rPr>
              <a:t>Marketing
touch</a:t>
            </a:r>
          </a:p>
        </p:txBody>
      </p:sp>
      <p:sp>
        <p:nvSpPr>
          <p:cNvPr id="6" name="TextBox 5"/>
          <p:cNvSpPr txBox="1"/>
          <p:nvPr/>
        </p:nvSpPr>
        <p:spPr>
          <a:xfrm>
            <a:off x="396000" y="2880000"/>
            <a:ext cx="1620000" cy="432000"/>
          </a:xfrm>
          <a:prstGeom prst="rect">
            <a:avLst/>
          </a:prstGeom>
          <a:noFill/>
        </p:spPr>
        <p:txBody>
          <a:bodyPr wrap="square">
            <a:spAutoFit/>
          </a:bodyPr>
          <a:lstStyle/>
          <a:p>
            <a:pPr algn="ctr"/>
            <a:r>
              <a:rPr sz="1100" b="1" i="1">
                <a:solidFill>
                  <a:srgbClr val="0D1B2A"/>
                </a:solidFill>
                <a:latin typeface="Calibri"/>
              </a:rPr>
              <a:t>Curious</a:t>
            </a:r>
          </a:p>
        </p:txBody>
      </p:sp>
      <p:sp>
        <p:nvSpPr>
          <p:cNvPr id="7" name="Rectangle 6"/>
          <p:cNvSpPr/>
          <p:nvPr/>
        </p:nvSpPr>
        <p:spPr>
          <a:xfrm>
            <a:off x="2224800" y="1152000"/>
            <a:ext cx="1764000" cy="2340000"/>
          </a:xfrm>
          <a:prstGeom prst="rect">
            <a:avLst/>
          </a:prstGeom>
          <a:solidFill>
            <a:srgbClr val="2E5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96800" y="1277999"/>
            <a:ext cx="1620000" cy="720000"/>
          </a:xfrm>
          <a:prstGeom prst="rect">
            <a:avLst/>
          </a:prstGeom>
          <a:noFill/>
        </p:spPr>
        <p:txBody>
          <a:bodyPr wrap="square">
            <a:spAutoFit/>
          </a:bodyPr>
          <a:lstStyle/>
          <a:p>
            <a:pPr algn="ctr"/>
            <a:r>
              <a:rPr sz="1300" b="1" i="0">
                <a:solidFill>
                  <a:srgbClr val="FFFFFF"/>
                </a:solidFill>
                <a:latin typeface="Calibri"/>
              </a:rPr>
              <a:t>2
Onboarding</a:t>
            </a:r>
          </a:p>
        </p:txBody>
      </p:sp>
      <p:sp>
        <p:nvSpPr>
          <p:cNvPr id="9" name="TextBox 8"/>
          <p:cNvSpPr txBox="1"/>
          <p:nvPr/>
        </p:nvSpPr>
        <p:spPr>
          <a:xfrm>
            <a:off x="2296800" y="2052000"/>
            <a:ext cx="1620000" cy="720000"/>
          </a:xfrm>
          <a:prstGeom prst="rect">
            <a:avLst/>
          </a:prstGeom>
          <a:noFill/>
        </p:spPr>
        <p:txBody>
          <a:bodyPr wrap="square">
            <a:spAutoFit/>
          </a:bodyPr>
          <a:lstStyle/>
          <a:p>
            <a:pPr algn="ctr"/>
            <a:r>
              <a:rPr sz="1200" b="0" i="0">
                <a:solidFill>
                  <a:srgbClr val="B0C4DE"/>
                </a:solidFill>
                <a:latin typeface="Calibri"/>
              </a:rPr>
              <a:t>App setup
Smart home</a:t>
            </a:r>
          </a:p>
        </p:txBody>
      </p:sp>
      <p:sp>
        <p:nvSpPr>
          <p:cNvPr id="10" name="TextBox 9"/>
          <p:cNvSpPr txBox="1"/>
          <p:nvPr/>
        </p:nvSpPr>
        <p:spPr>
          <a:xfrm>
            <a:off x="2296800" y="2880000"/>
            <a:ext cx="1620000" cy="432000"/>
          </a:xfrm>
          <a:prstGeom prst="rect">
            <a:avLst/>
          </a:prstGeom>
          <a:noFill/>
        </p:spPr>
        <p:txBody>
          <a:bodyPr wrap="square">
            <a:spAutoFit/>
          </a:bodyPr>
          <a:lstStyle/>
          <a:p>
            <a:pPr algn="ctr"/>
            <a:r>
              <a:rPr sz="1100" b="1" i="1">
                <a:solidFill>
                  <a:srgbClr val="C9A84C"/>
                </a:solidFill>
                <a:latin typeface="Calibri"/>
              </a:rPr>
              <a:t>Excited</a:t>
            </a:r>
          </a:p>
        </p:txBody>
      </p:sp>
      <p:sp>
        <p:nvSpPr>
          <p:cNvPr id="11" name="Rectangle 10"/>
          <p:cNvSpPr/>
          <p:nvPr/>
        </p:nvSpPr>
        <p:spPr>
          <a:xfrm>
            <a:off x="4125600" y="1152000"/>
            <a:ext cx="1764000" cy="2340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97600" y="1277999"/>
            <a:ext cx="1620000" cy="720000"/>
          </a:xfrm>
          <a:prstGeom prst="rect">
            <a:avLst/>
          </a:prstGeom>
          <a:noFill/>
        </p:spPr>
        <p:txBody>
          <a:bodyPr wrap="square">
            <a:spAutoFit/>
          </a:bodyPr>
          <a:lstStyle/>
          <a:p>
            <a:pPr algn="ctr"/>
            <a:r>
              <a:rPr sz="1300" b="1" i="0">
                <a:solidFill>
                  <a:srgbClr val="0D1B2A"/>
                </a:solidFill>
                <a:latin typeface="Calibri"/>
              </a:rPr>
              <a:t>3
Daily
Living</a:t>
            </a:r>
          </a:p>
        </p:txBody>
      </p:sp>
      <p:sp>
        <p:nvSpPr>
          <p:cNvPr id="13" name="TextBox 12"/>
          <p:cNvSpPr txBox="1"/>
          <p:nvPr/>
        </p:nvSpPr>
        <p:spPr>
          <a:xfrm>
            <a:off x="4197600" y="2052000"/>
            <a:ext cx="1620000" cy="720000"/>
          </a:xfrm>
          <a:prstGeom prst="rect">
            <a:avLst/>
          </a:prstGeom>
          <a:noFill/>
        </p:spPr>
        <p:txBody>
          <a:bodyPr wrap="square">
            <a:spAutoFit/>
          </a:bodyPr>
          <a:lstStyle/>
          <a:p>
            <a:pPr algn="ctr"/>
            <a:r>
              <a:rPr sz="1200" b="0" i="0">
                <a:solidFill>
                  <a:srgbClr val="0D1B2A"/>
                </a:solidFill>
                <a:latin typeface="Calibri"/>
              </a:rPr>
              <a:t>Services
&amp; requests</a:t>
            </a:r>
          </a:p>
        </p:txBody>
      </p:sp>
      <p:sp>
        <p:nvSpPr>
          <p:cNvPr id="14" name="TextBox 13"/>
          <p:cNvSpPr txBox="1"/>
          <p:nvPr/>
        </p:nvSpPr>
        <p:spPr>
          <a:xfrm>
            <a:off x="4197600" y="2880000"/>
            <a:ext cx="1620000" cy="432000"/>
          </a:xfrm>
          <a:prstGeom prst="rect">
            <a:avLst/>
          </a:prstGeom>
          <a:noFill/>
        </p:spPr>
        <p:txBody>
          <a:bodyPr wrap="square">
            <a:spAutoFit/>
          </a:bodyPr>
          <a:lstStyle/>
          <a:p>
            <a:pPr algn="ctr"/>
            <a:r>
              <a:rPr sz="1100" b="1" i="1">
                <a:solidFill>
                  <a:srgbClr val="0D1B2A"/>
                </a:solidFill>
                <a:latin typeface="Calibri"/>
              </a:rPr>
              <a:t>Satisfied</a:t>
            </a:r>
          </a:p>
        </p:txBody>
      </p:sp>
      <p:sp>
        <p:nvSpPr>
          <p:cNvPr id="15" name="Rectangle 14"/>
          <p:cNvSpPr/>
          <p:nvPr/>
        </p:nvSpPr>
        <p:spPr>
          <a:xfrm>
            <a:off x="6026400" y="1152000"/>
            <a:ext cx="1764000" cy="2340000"/>
          </a:xfrm>
          <a:prstGeom prst="rect">
            <a:avLst/>
          </a:prstGeom>
          <a:solidFill>
            <a:srgbClr val="2E5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8400" y="1277999"/>
            <a:ext cx="1620000" cy="720000"/>
          </a:xfrm>
          <a:prstGeom prst="rect">
            <a:avLst/>
          </a:prstGeom>
          <a:noFill/>
        </p:spPr>
        <p:txBody>
          <a:bodyPr wrap="square">
            <a:spAutoFit/>
          </a:bodyPr>
          <a:lstStyle/>
          <a:p>
            <a:pPr algn="ctr"/>
            <a:r>
              <a:rPr sz="1300" b="1" i="0">
                <a:solidFill>
                  <a:srgbClr val="FFFFFF"/>
                </a:solidFill>
                <a:latin typeface="Calibri"/>
              </a:rPr>
              <a:t>4
Community</a:t>
            </a:r>
          </a:p>
        </p:txBody>
      </p:sp>
      <p:sp>
        <p:nvSpPr>
          <p:cNvPr id="17" name="TextBox 16"/>
          <p:cNvSpPr txBox="1"/>
          <p:nvPr/>
        </p:nvSpPr>
        <p:spPr>
          <a:xfrm>
            <a:off x="6098400" y="2052000"/>
            <a:ext cx="1620000" cy="720000"/>
          </a:xfrm>
          <a:prstGeom prst="rect">
            <a:avLst/>
          </a:prstGeom>
          <a:noFill/>
        </p:spPr>
        <p:txBody>
          <a:bodyPr wrap="square">
            <a:spAutoFit/>
          </a:bodyPr>
          <a:lstStyle/>
          <a:p>
            <a:pPr algn="ctr"/>
            <a:r>
              <a:rPr sz="1200" b="0" i="0">
                <a:solidFill>
                  <a:srgbClr val="B0C4DE"/>
                </a:solidFill>
                <a:latin typeface="Calibri"/>
              </a:rPr>
              <a:t>Events
&amp; social</a:t>
            </a:r>
          </a:p>
        </p:txBody>
      </p:sp>
      <p:sp>
        <p:nvSpPr>
          <p:cNvPr id="18" name="TextBox 17"/>
          <p:cNvSpPr txBox="1"/>
          <p:nvPr/>
        </p:nvSpPr>
        <p:spPr>
          <a:xfrm>
            <a:off x="6098400" y="2880000"/>
            <a:ext cx="1620000" cy="432000"/>
          </a:xfrm>
          <a:prstGeom prst="rect">
            <a:avLst/>
          </a:prstGeom>
          <a:noFill/>
        </p:spPr>
        <p:txBody>
          <a:bodyPr wrap="square">
            <a:spAutoFit/>
          </a:bodyPr>
          <a:lstStyle/>
          <a:p>
            <a:pPr algn="ctr"/>
            <a:r>
              <a:rPr sz="1100" b="1" i="1">
                <a:solidFill>
                  <a:srgbClr val="C9A84C"/>
                </a:solidFill>
                <a:latin typeface="Calibri"/>
              </a:rPr>
              <a:t>Connected</a:t>
            </a:r>
          </a:p>
        </p:txBody>
      </p:sp>
      <p:sp>
        <p:nvSpPr>
          <p:cNvPr id="19" name="Rectangle 18"/>
          <p:cNvSpPr/>
          <p:nvPr/>
        </p:nvSpPr>
        <p:spPr>
          <a:xfrm>
            <a:off x="7927200" y="1152000"/>
            <a:ext cx="1764000" cy="2340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99200" y="1277999"/>
            <a:ext cx="1620000" cy="720000"/>
          </a:xfrm>
          <a:prstGeom prst="rect">
            <a:avLst/>
          </a:prstGeom>
          <a:noFill/>
        </p:spPr>
        <p:txBody>
          <a:bodyPr wrap="square">
            <a:spAutoFit/>
          </a:bodyPr>
          <a:lstStyle/>
          <a:p>
            <a:pPr algn="ctr"/>
            <a:r>
              <a:rPr sz="1300" b="1" i="0">
                <a:solidFill>
                  <a:srgbClr val="0D1B2A"/>
                </a:solidFill>
                <a:latin typeface="Calibri"/>
              </a:rPr>
              <a:t>5
Expansion</a:t>
            </a:r>
          </a:p>
        </p:txBody>
      </p:sp>
      <p:sp>
        <p:nvSpPr>
          <p:cNvPr id="21" name="TextBox 20"/>
          <p:cNvSpPr txBox="1"/>
          <p:nvPr/>
        </p:nvSpPr>
        <p:spPr>
          <a:xfrm>
            <a:off x="7999200" y="2052000"/>
            <a:ext cx="1620000" cy="720000"/>
          </a:xfrm>
          <a:prstGeom prst="rect">
            <a:avLst/>
          </a:prstGeom>
          <a:noFill/>
        </p:spPr>
        <p:txBody>
          <a:bodyPr wrap="square">
            <a:spAutoFit/>
          </a:bodyPr>
          <a:lstStyle/>
          <a:p>
            <a:pPr algn="ctr"/>
            <a:r>
              <a:rPr sz="1200" b="0" i="0">
                <a:solidFill>
                  <a:srgbClr val="0D1B2A"/>
                </a:solidFill>
                <a:latin typeface="Calibri"/>
              </a:rPr>
              <a:t>Upgrade
&amp; referral</a:t>
            </a:r>
          </a:p>
        </p:txBody>
      </p:sp>
      <p:sp>
        <p:nvSpPr>
          <p:cNvPr id="22" name="TextBox 21"/>
          <p:cNvSpPr txBox="1"/>
          <p:nvPr/>
        </p:nvSpPr>
        <p:spPr>
          <a:xfrm>
            <a:off x="7999200" y="2880000"/>
            <a:ext cx="1620000" cy="432000"/>
          </a:xfrm>
          <a:prstGeom prst="rect">
            <a:avLst/>
          </a:prstGeom>
          <a:noFill/>
        </p:spPr>
        <p:txBody>
          <a:bodyPr wrap="square">
            <a:spAutoFit/>
          </a:bodyPr>
          <a:lstStyle/>
          <a:p>
            <a:pPr algn="ctr"/>
            <a:r>
              <a:rPr sz="1100" b="1" i="1">
                <a:solidFill>
                  <a:srgbClr val="0D1B2A"/>
                </a:solidFill>
                <a:latin typeface="Calibri"/>
              </a:rPr>
              <a:t>Loyal</a:t>
            </a:r>
          </a:p>
        </p:txBody>
      </p:sp>
      <p:sp>
        <p:nvSpPr>
          <p:cNvPr id="23" name="Rectangle 22"/>
          <p:cNvSpPr/>
          <p:nvPr/>
        </p:nvSpPr>
        <p:spPr>
          <a:xfrm>
            <a:off x="9828000" y="1152000"/>
            <a:ext cx="1764000" cy="2340000"/>
          </a:xfrm>
          <a:prstGeom prst="rect">
            <a:avLst/>
          </a:prstGeom>
          <a:solidFill>
            <a:srgbClr val="2E5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00000" y="1277999"/>
            <a:ext cx="1620000" cy="720000"/>
          </a:xfrm>
          <a:prstGeom prst="rect">
            <a:avLst/>
          </a:prstGeom>
          <a:noFill/>
        </p:spPr>
        <p:txBody>
          <a:bodyPr wrap="square">
            <a:spAutoFit/>
          </a:bodyPr>
          <a:lstStyle/>
          <a:p>
            <a:pPr algn="ctr"/>
            <a:r>
              <a:rPr sz="1300" b="1" i="0">
                <a:solidFill>
                  <a:srgbClr val="FFFFFF"/>
                </a:solidFill>
                <a:latin typeface="Calibri"/>
              </a:rPr>
              <a:t>6
Lifetime
Advocate</a:t>
            </a:r>
          </a:p>
        </p:txBody>
      </p:sp>
      <p:sp>
        <p:nvSpPr>
          <p:cNvPr id="25" name="TextBox 24"/>
          <p:cNvSpPr txBox="1"/>
          <p:nvPr/>
        </p:nvSpPr>
        <p:spPr>
          <a:xfrm>
            <a:off x="9900000" y="2052000"/>
            <a:ext cx="1620000" cy="720000"/>
          </a:xfrm>
          <a:prstGeom prst="rect">
            <a:avLst/>
          </a:prstGeom>
          <a:noFill/>
        </p:spPr>
        <p:txBody>
          <a:bodyPr wrap="square">
            <a:spAutoFit/>
          </a:bodyPr>
          <a:lstStyle/>
          <a:p>
            <a:pPr algn="ctr"/>
            <a:r>
              <a:rPr sz="1200" b="0" i="0">
                <a:solidFill>
                  <a:srgbClr val="B0C4DE"/>
                </a:solidFill>
                <a:latin typeface="Calibri"/>
              </a:rPr>
              <a:t>Repeat &amp;
refer</a:t>
            </a:r>
          </a:p>
        </p:txBody>
      </p:sp>
      <p:sp>
        <p:nvSpPr>
          <p:cNvPr id="26" name="TextBox 25"/>
          <p:cNvSpPr txBox="1"/>
          <p:nvPr/>
        </p:nvSpPr>
        <p:spPr>
          <a:xfrm>
            <a:off x="9900000" y="2880000"/>
            <a:ext cx="1620000" cy="432000"/>
          </a:xfrm>
          <a:prstGeom prst="rect">
            <a:avLst/>
          </a:prstGeom>
          <a:noFill/>
        </p:spPr>
        <p:txBody>
          <a:bodyPr wrap="square">
            <a:spAutoFit/>
          </a:bodyPr>
          <a:lstStyle/>
          <a:p>
            <a:pPr algn="ctr"/>
            <a:r>
              <a:rPr sz="1100" b="1" i="1">
                <a:solidFill>
                  <a:srgbClr val="C9A84C"/>
                </a:solidFill>
                <a:latin typeface="Calibri"/>
              </a:rPr>
              <a:t>Advocate</a:t>
            </a:r>
          </a:p>
        </p:txBody>
      </p:sp>
      <p:sp>
        <p:nvSpPr>
          <p:cNvPr id="27" name="TextBox 26"/>
          <p:cNvSpPr txBox="1"/>
          <p:nvPr/>
        </p:nvSpPr>
        <p:spPr>
          <a:xfrm>
            <a:off x="432000" y="5958000"/>
            <a:ext cx="11329200" cy="324000"/>
          </a:xfrm>
          <a:prstGeom prst="rect">
            <a:avLst/>
          </a:prstGeom>
          <a:noFill/>
        </p:spPr>
        <p:txBody>
          <a:bodyPr wrap="square">
            <a:spAutoFit/>
          </a:bodyPr>
          <a:lstStyle/>
          <a:p>
            <a:pPr algn="ctr"/>
            <a:r>
              <a:rPr sz="1200" b="0" i="1">
                <a:solidFill>
                  <a:srgbClr val="2E5090"/>
                </a:solidFill>
                <a:latin typeface="Calibri"/>
              </a:rPr>
              <a:t>CLV grows 40%+ when residents engage with Concierge ≥3×/week</a:t>
            </a:r>
          </a:p>
        </p:txBody>
      </p:sp>
      <p:sp>
        <p:nvSpPr>
          <p:cNvPr id="28" name="TextBox 27"/>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29" name="Connector 28"/>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1473200" y="6462000"/>
            <a:ext cx="576000" cy="288000"/>
          </a:xfrm>
          <a:prstGeom prst="rect">
            <a:avLst/>
          </a:prstGeom>
          <a:noFill/>
        </p:spPr>
        <p:txBody>
          <a:bodyPr wrap="square">
            <a:spAutoFit/>
          </a:bodyPr>
          <a:lstStyle/>
          <a:p>
            <a:pPr algn="r"/>
            <a:r>
              <a:rPr sz="1000" b="0" i="0">
                <a:solidFill>
                  <a:srgbClr val="2E509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Meet Your Residents' 24/7 Personal Concierge</a:t>
            </a:r>
          </a:p>
        </p:txBody>
      </p:sp>
      <p:sp>
        <p:nvSpPr>
          <p:cNvPr id="3" name="Rectangle 2"/>
          <p:cNvSpPr/>
          <p:nvPr/>
        </p:nvSpPr>
        <p:spPr>
          <a:xfrm>
            <a:off x="432000" y="1152000"/>
            <a:ext cx="11329200" cy="1440000"/>
          </a:xfrm>
          <a:prstGeom prst="rect">
            <a:avLst/>
          </a:prstGeom>
          <a:solidFill>
            <a:srgbClr val="142A42"/>
          </a:solidFill>
          <a:ln w="190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0000" y="1260000"/>
            <a:ext cx="432000" cy="1224000"/>
          </a:xfrm>
          <a:prstGeom prst="rect">
            <a:avLst/>
          </a:prstGeom>
          <a:noFill/>
        </p:spPr>
        <p:txBody>
          <a:bodyPr wrap="square">
            <a:spAutoFit/>
          </a:bodyPr>
          <a:lstStyle/>
          <a:p>
            <a:pPr algn="ctr"/>
            <a:r>
              <a:rPr sz="1800" b="1" i="0">
                <a:solidFill>
                  <a:srgbClr val="C9A84C"/>
                </a:solidFill>
                <a:latin typeface="Calibri"/>
              </a:rPr>
              <a:t>A</a:t>
            </a:r>
          </a:p>
        </p:txBody>
      </p:sp>
      <p:sp>
        <p:nvSpPr>
          <p:cNvPr id="5" name="TextBox 4"/>
          <p:cNvSpPr txBox="1"/>
          <p:nvPr/>
        </p:nvSpPr>
        <p:spPr>
          <a:xfrm>
            <a:off x="1152000" y="1296000"/>
            <a:ext cx="10033200" cy="503999"/>
          </a:xfrm>
          <a:prstGeom prst="rect">
            <a:avLst/>
          </a:prstGeom>
          <a:noFill/>
        </p:spPr>
        <p:txBody>
          <a:bodyPr wrap="square">
            <a:spAutoFit/>
          </a:bodyPr>
          <a:lstStyle/>
          <a:p>
            <a:pPr algn="l"/>
            <a:r>
              <a:rPr sz="1400" b="0" i="1">
                <a:solidFill>
                  <a:srgbClr val="B0C4DE"/>
                </a:solidFill>
                <a:latin typeface="Calibri"/>
              </a:rPr>
              <a:t>Resident:  "Book a table at rooftop for 4 tonight"</a:t>
            </a:r>
          </a:p>
        </p:txBody>
      </p:sp>
      <p:sp>
        <p:nvSpPr>
          <p:cNvPr id="6" name="TextBox 5"/>
          <p:cNvSpPr txBox="1"/>
          <p:nvPr/>
        </p:nvSpPr>
        <p:spPr>
          <a:xfrm>
            <a:off x="1152000" y="1836000"/>
            <a:ext cx="10033200" cy="503999"/>
          </a:xfrm>
          <a:prstGeom prst="rect">
            <a:avLst/>
          </a:prstGeom>
          <a:noFill/>
        </p:spPr>
        <p:txBody>
          <a:bodyPr wrap="square">
            <a:spAutoFit/>
          </a:bodyPr>
          <a:lstStyle/>
          <a:p>
            <a:pPr algn="l"/>
            <a:r>
              <a:rPr sz="1400" b="1" i="0">
                <a:solidFill>
                  <a:srgbClr val="00B050"/>
                </a:solidFill>
                <a:latin typeface="Calibri"/>
              </a:rPr>
              <a:t>AI:  "Done in 8 seconds ✓"</a:t>
            </a:r>
          </a:p>
        </p:txBody>
      </p:sp>
      <p:sp>
        <p:nvSpPr>
          <p:cNvPr id="7" name="Rectangle 6"/>
          <p:cNvSpPr/>
          <p:nvPr/>
        </p:nvSpPr>
        <p:spPr>
          <a:xfrm>
            <a:off x="432000" y="2736000"/>
            <a:ext cx="11329200" cy="1440000"/>
          </a:xfrm>
          <a:prstGeom prst="rect">
            <a:avLst/>
          </a:prstGeom>
          <a:solidFill>
            <a:srgbClr val="142A42"/>
          </a:solidFill>
          <a:ln w="190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0000" y="2844000"/>
            <a:ext cx="432000" cy="1224000"/>
          </a:xfrm>
          <a:prstGeom prst="rect">
            <a:avLst/>
          </a:prstGeom>
          <a:noFill/>
        </p:spPr>
        <p:txBody>
          <a:bodyPr wrap="square">
            <a:spAutoFit/>
          </a:bodyPr>
          <a:lstStyle/>
          <a:p>
            <a:pPr algn="ctr"/>
            <a:r>
              <a:rPr sz="1800" b="1" i="0">
                <a:solidFill>
                  <a:srgbClr val="C9A84C"/>
                </a:solidFill>
                <a:latin typeface="Calibri"/>
              </a:rPr>
              <a:t>B</a:t>
            </a:r>
          </a:p>
        </p:txBody>
      </p:sp>
      <p:sp>
        <p:nvSpPr>
          <p:cNvPr id="9" name="TextBox 8"/>
          <p:cNvSpPr txBox="1"/>
          <p:nvPr/>
        </p:nvSpPr>
        <p:spPr>
          <a:xfrm>
            <a:off x="1152000" y="2880000"/>
            <a:ext cx="10033200" cy="503999"/>
          </a:xfrm>
          <a:prstGeom prst="rect">
            <a:avLst/>
          </a:prstGeom>
          <a:noFill/>
        </p:spPr>
        <p:txBody>
          <a:bodyPr wrap="square">
            <a:spAutoFit/>
          </a:bodyPr>
          <a:lstStyle/>
          <a:p>
            <a:pPr algn="l"/>
            <a:r>
              <a:rPr sz="1400" b="0" i="1">
                <a:solidFill>
                  <a:srgbClr val="B0C4DE"/>
                </a:solidFill>
                <a:latin typeface="Calibri"/>
              </a:rPr>
              <a:t>Resident:  "I need a PT tomorrow morning"</a:t>
            </a:r>
          </a:p>
        </p:txBody>
      </p:sp>
      <p:sp>
        <p:nvSpPr>
          <p:cNvPr id="10" name="TextBox 9"/>
          <p:cNvSpPr txBox="1"/>
          <p:nvPr/>
        </p:nvSpPr>
        <p:spPr>
          <a:xfrm>
            <a:off x="1152000" y="3420000"/>
            <a:ext cx="10033200" cy="503999"/>
          </a:xfrm>
          <a:prstGeom prst="rect">
            <a:avLst/>
          </a:prstGeom>
          <a:noFill/>
        </p:spPr>
        <p:txBody>
          <a:bodyPr wrap="square">
            <a:spAutoFit/>
          </a:bodyPr>
          <a:lstStyle/>
          <a:p>
            <a:pPr algn="l"/>
            <a:r>
              <a:rPr sz="1400" b="1" i="0">
                <a:solidFill>
                  <a:srgbClr val="00B050"/>
                </a:solidFill>
                <a:latin typeface="Calibri"/>
              </a:rPr>
              <a:t>AI:  "Booked 7AM, added to calendar ✓"</a:t>
            </a:r>
          </a:p>
        </p:txBody>
      </p:sp>
      <p:sp>
        <p:nvSpPr>
          <p:cNvPr id="11" name="Rectangle 10"/>
          <p:cNvSpPr/>
          <p:nvPr/>
        </p:nvSpPr>
        <p:spPr>
          <a:xfrm>
            <a:off x="432000" y="4320000"/>
            <a:ext cx="11329200" cy="1440000"/>
          </a:xfrm>
          <a:prstGeom prst="rect">
            <a:avLst/>
          </a:prstGeom>
          <a:solidFill>
            <a:srgbClr val="142A42"/>
          </a:solidFill>
          <a:ln w="190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0000" y="4428000"/>
            <a:ext cx="432000" cy="1224000"/>
          </a:xfrm>
          <a:prstGeom prst="rect">
            <a:avLst/>
          </a:prstGeom>
          <a:noFill/>
        </p:spPr>
        <p:txBody>
          <a:bodyPr wrap="square">
            <a:spAutoFit/>
          </a:bodyPr>
          <a:lstStyle/>
          <a:p>
            <a:pPr algn="ctr"/>
            <a:r>
              <a:rPr sz="1800" b="1" i="0">
                <a:solidFill>
                  <a:srgbClr val="C9A84C"/>
                </a:solidFill>
                <a:latin typeface="Calibri"/>
              </a:rPr>
              <a:t>C</a:t>
            </a:r>
          </a:p>
        </p:txBody>
      </p:sp>
      <p:sp>
        <p:nvSpPr>
          <p:cNvPr id="13" name="TextBox 12"/>
          <p:cNvSpPr txBox="1"/>
          <p:nvPr/>
        </p:nvSpPr>
        <p:spPr>
          <a:xfrm>
            <a:off x="1152000" y="4464000"/>
            <a:ext cx="10033200" cy="503999"/>
          </a:xfrm>
          <a:prstGeom prst="rect">
            <a:avLst/>
          </a:prstGeom>
          <a:noFill/>
        </p:spPr>
        <p:txBody>
          <a:bodyPr wrap="square">
            <a:spAutoFit/>
          </a:bodyPr>
          <a:lstStyle/>
          <a:p>
            <a:pPr algn="l"/>
            <a:r>
              <a:rPr sz="1400" b="0" i="1">
                <a:solidFill>
                  <a:srgbClr val="B0C4DE"/>
                </a:solidFill>
                <a:latin typeface="Calibri"/>
              </a:rPr>
              <a:t>Resident:  "Dinner party Saturday"</a:t>
            </a:r>
          </a:p>
        </p:txBody>
      </p:sp>
      <p:sp>
        <p:nvSpPr>
          <p:cNvPr id="14" name="TextBox 13"/>
          <p:cNvSpPr txBox="1"/>
          <p:nvPr/>
        </p:nvSpPr>
        <p:spPr>
          <a:xfrm>
            <a:off x="1152000" y="5004000"/>
            <a:ext cx="10033200" cy="503999"/>
          </a:xfrm>
          <a:prstGeom prst="rect">
            <a:avLst/>
          </a:prstGeom>
          <a:noFill/>
        </p:spPr>
        <p:txBody>
          <a:bodyPr wrap="square">
            <a:spAutoFit/>
          </a:bodyPr>
          <a:lstStyle/>
          <a:p>
            <a:pPr algn="l"/>
            <a:r>
              <a:rPr sz="1400" b="1" i="0">
                <a:solidFill>
                  <a:srgbClr val="00B050"/>
                </a:solidFill>
                <a:latin typeface="Calibri"/>
              </a:rPr>
              <a:t>AI:  "Chef + florist + wine, one tap ✓"</a:t>
            </a:r>
          </a:p>
        </p:txBody>
      </p:sp>
      <p:sp>
        <p:nvSpPr>
          <p:cNvPr id="15" name="TextBox 14"/>
          <p:cNvSpPr txBox="1"/>
          <p:nvPr/>
        </p:nvSpPr>
        <p:spPr>
          <a:xfrm>
            <a:off x="720000" y="5958000"/>
            <a:ext cx="10753200" cy="324000"/>
          </a:xfrm>
          <a:prstGeom prst="rect">
            <a:avLst/>
          </a:prstGeom>
          <a:noFill/>
        </p:spPr>
        <p:txBody>
          <a:bodyPr wrap="square">
            <a:spAutoFit/>
          </a:bodyPr>
          <a:lstStyle/>
          <a:p>
            <a:pPr algn="ctr"/>
            <a:r>
              <a:rPr sz="1300" b="1" i="0">
                <a:solidFill>
                  <a:srgbClr val="C9A84C"/>
                </a:solidFill>
                <a:latin typeface="Calibri"/>
              </a:rPr>
              <a:t>Response time: &lt;1.5 seconds  |  Satisfaction score: &gt;4.2 / 5.0</a:t>
            </a:r>
          </a:p>
        </p:txBody>
      </p:sp>
      <p:sp>
        <p:nvSpPr>
          <p:cNvPr id="16" name="TextBox 15"/>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17" name="Connector 16"/>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473200" y="6462000"/>
            <a:ext cx="576000" cy="288000"/>
          </a:xfrm>
          <a:prstGeom prst="rect">
            <a:avLst/>
          </a:prstGeom>
          <a:noFill/>
        </p:spPr>
        <p:txBody>
          <a:bodyPr wrap="square">
            <a:spAutoFit/>
          </a:bodyPr>
          <a:lstStyle/>
          <a:p>
            <a:pPr algn="r"/>
            <a:r>
              <a:rPr sz="1000" b="0" i="0">
                <a:solidFill>
                  <a:srgbClr val="C9A84C"/>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The Platform That Gets Smarter Every Day</a:t>
            </a:r>
          </a:p>
        </p:txBody>
      </p:sp>
      <p:sp>
        <p:nvSpPr>
          <p:cNvPr id="3" name="TextBox 2"/>
          <p:cNvSpPr txBox="1"/>
          <p:nvPr/>
        </p:nvSpPr>
        <p:spPr>
          <a:xfrm>
            <a:off x="3888000" y="2520000"/>
            <a:ext cx="360000" cy="432000"/>
          </a:xfrm>
          <a:prstGeom prst="rect">
            <a:avLst/>
          </a:prstGeom>
          <a:noFill/>
        </p:spPr>
        <p:txBody>
          <a:bodyPr wrap="square">
            <a:spAutoFit/>
          </a:bodyPr>
          <a:lstStyle/>
          <a:p>
            <a:pPr algn="ctr"/>
            <a:r>
              <a:rPr sz="2000" b="1" i="0">
                <a:solidFill>
                  <a:srgbClr val="C9A84C"/>
                </a:solidFill>
                <a:latin typeface="Calibri"/>
              </a:rPr>
              <a:t>▶▶</a:t>
            </a:r>
          </a:p>
        </p:txBody>
      </p:sp>
      <p:sp>
        <p:nvSpPr>
          <p:cNvPr id="4" name="Rectangle 3"/>
          <p:cNvSpPr/>
          <p:nvPr/>
        </p:nvSpPr>
        <p:spPr>
          <a:xfrm>
            <a:off x="648000" y="1080000"/>
            <a:ext cx="3168000" cy="3420000"/>
          </a:xfrm>
          <a:prstGeom prst="rect">
            <a:avLst/>
          </a:prstGeom>
          <a:solidFill>
            <a:srgbClr val="E8F0FE"/>
          </a:solidFill>
          <a:ln w="25400">
            <a:solidFill>
              <a:srgbClr val="2E5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6000" y="1260000"/>
            <a:ext cx="2952000" cy="432000"/>
          </a:xfrm>
          <a:prstGeom prst="rect">
            <a:avLst/>
          </a:prstGeom>
          <a:noFill/>
        </p:spPr>
        <p:txBody>
          <a:bodyPr wrap="square">
            <a:spAutoFit/>
          </a:bodyPr>
          <a:lstStyle/>
          <a:p>
            <a:pPr algn="ctr"/>
            <a:r>
              <a:rPr sz="1700" b="1" i="0">
                <a:solidFill>
                  <a:srgbClr val="2E5090"/>
                </a:solidFill>
                <a:latin typeface="Calibri"/>
              </a:rPr>
              <a:t>COLLECT</a:t>
            </a:r>
          </a:p>
        </p:txBody>
      </p:sp>
      <p:sp>
        <p:nvSpPr>
          <p:cNvPr id="6" name="TextBox 5"/>
          <p:cNvSpPr txBox="1"/>
          <p:nvPr/>
        </p:nvSpPr>
        <p:spPr>
          <a:xfrm>
            <a:off x="828000" y="1800000"/>
            <a:ext cx="2808000" cy="540000"/>
          </a:xfrm>
          <a:prstGeom prst="rect">
            <a:avLst/>
          </a:prstGeom>
          <a:noFill/>
        </p:spPr>
        <p:txBody>
          <a:bodyPr wrap="square">
            <a:spAutoFit/>
          </a:bodyPr>
          <a:lstStyle/>
          <a:p>
            <a:pPr algn="l"/>
            <a:r>
              <a:rPr sz="1300" b="0" i="0">
                <a:solidFill>
                  <a:srgbClr val="000000"/>
                </a:solidFill>
                <a:latin typeface="Calibri"/>
              </a:rPr>
              <a:t>▸  Behavioral (IVA + App)</a:t>
            </a:r>
          </a:p>
        </p:txBody>
      </p:sp>
      <p:sp>
        <p:nvSpPr>
          <p:cNvPr id="7" name="TextBox 6"/>
          <p:cNvSpPr txBox="1"/>
          <p:nvPr/>
        </p:nvSpPr>
        <p:spPr>
          <a:xfrm>
            <a:off x="828000" y="2394000"/>
            <a:ext cx="2808000" cy="540000"/>
          </a:xfrm>
          <a:prstGeom prst="rect">
            <a:avLst/>
          </a:prstGeom>
          <a:noFill/>
        </p:spPr>
        <p:txBody>
          <a:bodyPr wrap="square">
            <a:spAutoFit/>
          </a:bodyPr>
          <a:lstStyle/>
          <a:p>
            <a:pPr algn="l"/>
            <a:r>
              <a:rPr sz="1300" b="0" i="0">
                <a:solidFill>
                  <a:srgbClr val="000000"/>
                </a:solidFill>
                <a:latin typeface="Calibri"/>
              </a:rPr>
              <a:t>▸  Transaction data</a:t>
            </a:r>
          </a:p>
        </p:txBody>
      </p:sp>
      <p:sp>
        <p:nvSpPr>
          <p:cNvPr id="8" name="TextBox 7"/>
          <p:cNvSpPr txBox="1"/>
          <p:nvPr/>
        </p:nvSpPr>
        <p:spPr>
          <a:xfrm>
            <a:off x="828000" y="2988000"/>
            <a:ext cx="2808000" cy="540000"/>
          </a:xfrm>
          <a:prstGeom prst="rect">
            <a:avLst/>
          </a:prstGeom>
          <a:noFill/>
        </p:spPr>
        <p:txBody>
          <a:bodyPr wrap="square">
            <a:spAutoFit/>
          </a:bodyPr>
          <a:lstStyle/>
          <a:p>
            <a:pPr algn="l"/>
            <a:r>
              <a:rPr sz="1300" b="0" i="0">
                <a:solidFill>
                  <a:srgbClr val="000000"/>
                </a:solidFill>
                <a:latin typeface="Calibri"/>
              </a:rPr>
              <a:t>▸  Smart Home telemetry</a:t>
            </a:r>
          </a:p>
        </p:txBody>
      </p:sp>
      <p:sp>
        <p:nvSpPr>
          <p:cNvPr id="9" name="TextBox 8"/>
          <p:cNvSpPr txBox="1"/>
          <p:nvPr/>
        </p:nvSpPr>
        <p:spPr>
          <a:xfrm>
            <a:off x="828000" y="3582000"/>
            <a:ext cx="2808000" cy="540000"/>
          </a:xfrm>
          <a:prstGeom prst="rect">
            <a:avLst/>
          </a:prstGeom>
          <a:noFill/>
        </p:spPr>
        <p:txBody>
          <a:bodyPr wrap="square">
            <a:spAutoFit/>
          </a:bodyPr>
          <a:lstStyle/>
          <a:p>
            <a:pPr algn="l"/>
            <a:r>
              <a:rPr sz="1300" b="0" i="0">
                <a:solidFill>
                  <a:srgbClr val="000000"/>
                </a:solidFill>
                <a:latin typeface="Calibri"/>
              </a:rPr>
              <a:t>▸  Engagement events</a:t>
            </a:r>
          </a:p>
        </p:txBody>
      </p:sp>
      <p:sp>
        <p:nvSpPr>
          <p:cNvPr id="10" name="TextBox 9"/>
          <p:cNvSpPr txBox="1"/>
          <p:nvPr/>
        </p:nvSpPr>
        <p:spPr>
          <a:xfrm>
            <a:off x="7559999" y="2520000"/>
            <a:ext cx="360000" cy="432000"/>
          </a:xfrm>
          <a:prstGeom prst="rect">
            <a:avLst/>
          </a:prstGeom>
          <a:noFill/>
        </p:spPr>
        <p:txBody>
          <a:bodyPr wrap="square">
            <a:spAutoFit/>
          </a:bodyPr>
          <a:lstStyle/>
          <a:p>
            <a:pPr algn="ctr"/>
            <a:r>
              <a:rPr sz="2000" b="1" i="0">
                <a:solidFill>
                  <a:srgbClr val="C9A84C"/>
                </a:solidFill>
                <a:latin typeface="Calibri"/>
              </a:rPr>
              <a:t>▶▶</a:t>
            </a:r>
          </a:p>
        </p:txBody>
      </p:sp>
      <p:sp>
        <p:nvSpPr>
          <p:cNvPr id="11" name="Rectangle 10"/>
          <p:cNvSpPr/>
          <p:nvPr/>
        </p:nvSpPr>
        <p:spPr>
          <a:xfrm>
            <a:off x="4319999" y="1080000"/>
            <a:ext cx="3168000" cy="3420000"/>
          </a:xfrm>
          <a:prstGeom prst="rect">
            <a:avLst/>
          </a:prstGeom>
          <a:solidFill>
            <a:srgbClr val="C9A84C"/>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27999" y="1260000"/>
            <a:ext cx="2952000" cy="432000"/>
          </a:xfrm>
          <a:prstGeom prst="rect">
            <a:avLst/>
          </a:prstGeom>
          <a:noFill/>
        </p:spPr>
        <p:txBody>
          <a:bodyPr wrap="square">
            <a:spAutoFit/>
          </a:bodyPr>
          <a:lstStyle/>
          <a:p>
            <a:pPr algn="ctr"/>
            <a:r>
              <a:rPr sz="1700" b="1" i="0">
                <a:solidFill>
                  <a:srgbClr val="0D1B2A"/>
                </a:solidFill>
                <a:latin typeface="Calibri"/>
              </a:rPr>
              <a:t>PROCESS</a:t>
            </a:r>
          </a:p>
        </p:txBody>
      </p:sp>
      <p:sp>
        <p:nvSpPr>
          <p:cNvPr id="13" name="TextBox 12"/>
          <p:cNvSpPr txBox="1"/>
          <p:nvPr/>
        </p:nvSpPr>
        <p:spPr>
          <a:xfrm>
            <a:off x="4499999" y="1800000"/>
            <a:ext cx="2808000" cy="540000"/>
          </a:xfrm>
          <a:prstGeom prst="rect">
            <a:avLst/>
          </a:prstGeom>
          <a:noFill/>
        </p:spPr>
        <p:txBody>
          <a:bodyPr wrap="square">
            <a:spAutoFit/>
          </a:bodyPr>
          <a:lstStyle/>
          <a:p>
            <a:pPr algn="l"/>
            <a:r>
              <a:rPr sz="1300" b="0" i="0">
                <a:solidFill>
                  <a:srgbClr val="0D1B2A"/>
                </a:solidFill>
                <a:latin typeface="Calibri"/>
              </a:rPr>
              <a:t>▸  CDP Unified Profile</a:t>
            </a:r>
          </a:p>
        </p:txBody>
      </p:sp>
      <p:sp>
        <p:nvSpPr>
          <p:cNvPr id="14" name="TextBox 13"/>
          <p:cNvSpPr txBox="1"/>
          <p:nvPr/>
        </p:nvSpPr>
        <p:spPr>
          <a:xfrm>
            <a:off x="4499999" y="2394000"/>
            <a:ext cx="2808000" cy="540000"/>
          </a:xfrm>
          <a:prstGeom prst="rect">
            <a:avLst/>
          </a:prstGeom>
          <a:noFill/>
        </p:spPr>
        <p:txBody>
          <a:bodyPr wrap="square">
            <a:spAutoFit/>
          </a:bodyPr>
          <a:lstStyle/>
          <a:p>
            <a:pPr algn="l"/>
            <a:r>
              <a:rPr sz="1300" b="0" i="0">
                <a:solidFill>
                  <a:srgbClr val="0D1B2A"/>
                </a:solidFill>
                <a:latin typeface="Calibri"/>
              </a:rPr>
              <a:t>▸  ML Pipeline</a:t>
            </a:r>
          </a:p>
        </p:txBody>
      </p:sp>
      <p:sp>
        <p:nvSpPr>
          <p:cNvPr id="15" name="TextBox 14"/>
          <p:cNvSpPr txBox="1"/>
          <p:nvPr/>
        </p:nvSpPr>
        <p:spPr>
          <a:xfrm>
            <a:off x="4499999" y="2988000"/>
            <a:ext cx="2808000" cy="540000"/>
          </a:xfrm>
          <a:prstGeom prst="rect">
            <a:avLst/>
          </a:prstGeom>
          <a:noFill/>
        </p:spPr>
        <p:txBody>
          <a:bodyPr wrap="square">
            <a:spAutoFit/>
          </a:bodyPr>
          <a:lstStyle/>
          <a:p>
            <a:pPr algn="l"/>
            <a:r>
              <a:rPr sz="1300" b="0" i="0">
                <a:solidFill>
                  <a:srgbClr val="0D1B2A"/>
                </a:solidFill>
                <a:latin typeface="Calibri"/>
              </a:rPr>
              <a:t>▸  Real-time Events</a:t>
            </a:r>
          </a:p>
        </p:txBody>
      </p:sp>
      <p:sp>
        <p:nvSpPr>
          <p:cNvPr id="16" name="TextBox 15"/>
          <p:cNvSpPr txBox="1"/>
          <p:nvPr/>
        </p:nvSpPr>
        <p:spPr>
          <a:xfrm>
            <a:off x="4499999" y="3582000"/>
            <a:ext cx="2808000" cy="540000"/>
          </a:xfrm>
          <a:prstGeom prst="rect">
            <a:avLst/>
          </a:prstGeom>
          <a:noFill/>
        </p:spPr>
        <p:txBody>
          <a:bodyPr wrap="square">
            <a:spAutoFit/>
          </a:bodyPr>
          <a:lstStyle/>
          <a:p>
            <a:pPr algn="l"/>
            <a:r>
              <a:rPr sz="1300" b="0" i="0">
                <a:solidFill>
                  <a:srgbClr val="0D1B2A"/>
                </a:solidFill>
                <a:latin typeface="Calibri"/>
              </a:rPr>
              <a:t>▸  Data Warehouse</a:t>
            </a:r>
          </a:p>
        </p:txBody>
      </p:sp>
      <p:sp>
        <p:nvSpPr>
          <p:cNvPr id="17" name="Rectangle 16"/>
          <p:cNvSpPr/>
          <p:nvPr/>
        </p:nvSpPr>
        <p:spPr>
          <a:xfrm>
            <a:off x="7991998" y="1080000"/>
            <a:ext cx="3168000" cy="3420000"/>
          </a:xfrm>
          <a:prstGeom prst="rect">
            <a:avLst/>
          </a:prstGeom>
          <a:solidFill>
            <a:srgbClr val="E8F0FE"/>
          </a:solidFill>
          <a:ln w="25400">
            <a:solidFill>
              <a:srgbClr val="2E5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9998" y="1260000"/>
            <a:ext cx="2952000" cy="432000"/>
          </a:xfrm>
          <a:prstGeom prst="rect">
            <a:avLst/>
          </a:prstGeom>
          <a:noFill/>
        </p:spPr>
        <p:txBody>
          <a:bodyPr wrap="square">
            <a:spAutoFit/>
          </a:bodyPr>
          <a:lstStyle/>
          <a:p>
            <a:pPr algn="ctr"/>
            <a:r>
              <a:rPr sz="1700" b="1" i="0">
                <a:solidFill>
                  <a:srgbClr val="2E5090"/>
                </a:solidFill>
                <a:latin typeface="Calibri"/>
              </a:rPr>
              <a:t>ACTIVATE</a:t>
            </a:r>
          </a:p>
        </p:txBody>
      </p:sp>
      <p:sp>
        <p:nvSpPr>
          <p:cNvPr id="19" name="TextBox 18"/>
          <p:cNvSpPr txBox="1"/>
          <p:nvPr/>
        </p:nvSpPr>
        <p:spPr>
          <a:xfrm>
            <a:off x="8171998" y="1800000"/>
            <a:ext cx="2808000" cy="540000"/>
          </a:xfrm>
          <a:prstGeom prst="rect">
            <a:avLst/>
          </a:prstGeom>
          <a:noFill/>
        </p:spPr>
        <p:txBody>
          <a:bodyPr wrap="square">
            <a:spAutoFit/>
          </a:bodyPr>
          <a:lstStyle/>
          <a:p>
            <a:pPr algn="l"/>
            <a:r>
              <a:rPr sz="1300" b="0" i="0">
                <a:solidFill>
                  <a:srgbClr val="000000"/>
                </a:solidFill>
                <a:latin typeface="Calibri"/>
              </a:rPr>
              <a:t>▸  Personalised Content</a:t>
            </a:r>
          </a:p>
        </p:txBody>
      </p:sp>
      <p:sp>
        <p:nvSpPr>
          <p:cNvPr id="20" name="TextBox 19"/>
          <p:cNvSpPr txBox="1"/>
          <p:nvPr/>
        </p:nvSpPr>
        <p:spPr>
          <a:xfrm>
            <a:off x="8171998" y="2394000"/>
            <a:ext cx="2808000" cy="540000"/>
          </a:xfrm>
          <a:prstGeom prst="rect">
            <a:avLst/>
          </a:prstGeom>
          <a:noFill/>
        </p:spPr>
        <p:txBody>
          <a:bodyPr wrap="square">
            <a:spAutoFit/>
          </a:bodyPr>
          <a:lstStyle/>
          <a:p>
            <a:pPr algn="l"/>
            <a:r>
              <a:rPr sz="1300" b="0" i="0">
                <a:solidFill>
                  <a:srgbClr val="000000"/>
                </a:solidFill>
                <a:latin typeface="Calibri"/>
              </a:rPr>
              <a:t>▸  Lead Routing</a:t>
            </a:r>
          </a:p>
        </p:txBody>
      </p:sp>
      <p:sp>
        <p:nvSpPr>
          <p:cNvPr id="21" name="TextBox 20"/>
          <p:cNvSpPr txBox="1"/>
          <p:nvPr/>
        </p:nvSpPr>
        <p:spPr>
          <a:xfrm>
            <a:off x="8171998" y="2988000"/>
            <a:ext cx="2808000" cy="540000"/>
          </a:xfrm>
          <a:prstGeom prst="rect">
            <a:avLst/>
          </a:prstGeom>
          <a:noFill/>
        </p:spPr>
        <p:txBody>
          <a:bodyPr wrap="square">
            <a:spAutoFit/>
          </a:bodyPr>
          <a:lstStyle/>
          <a:p>
            <a:pPr algn="l"/>
            <a:r>
              <a:rPr sz="1300" b="0" i="0">
                <a:solidFill>
                  <a:srgbClr val="000000"/>
                </a:solidFill>
                <a:latin typeface="Calibri"/>
              </a:rPr>
              <a:t>▸  Triggered Campaigns</a:t>
            </a:r>
          </a:p>
        </p:txBody>
      </p:sp>
      <p:sp>
        <p:nvSpPr>
          <p:cNvPr id="22" name="TextBox 21"/>
          <p:cNvSpPr txBox="1"/>
          <p:nvPr/>
        </p:nvSpPr>
        <p:spPr>
          <a:xfrm>
            <a:off x="8171998" y="3582000"/>
            <a:ext cx="2808000" cy="540000"/>
          </a:xfrm>
          <a:prstGeom prst="rect">
            <a:avLst/>
          </a:prstGeom>
          <a:noFill/>
        </p:spPr>
        <p:txBody>
          <a:bodyPr wrap="square">
            <a:spAutoFit/>
          </a:bodyPr>
          <a:lstStyle/>
          <a:p>
            <a:pPr algn="l"/>
            <a:r>
              <a:rPr sz="1300" b="0" i="0">
                <a:solidFill>
                  <a:srgbClr val="000000"/>
                </a:solidFill>
                <a:latin typeface="Calibri"/>
              </a:rPr>
              <a:t>▸  BI Dashboards</a:t>
            </a:r>
          </a:p>
        </p:txBody>
      </p:sp>
      <p:sp>
        <p:nvSpPr>
          <p:cNvPr id="23" name="TextBox 22"/>
          <p:cNvSpPr txBox="1"/>
          <p:nvPr/>
        </p:nvSpPr>
        <p:spPr>
          <a:xfrm>
            <a:off x="432000" y="5958000"/>
            <a:ext cx="11329200" cy="324000"/>
          </a:xfrm>
          <a:prstGeom prst="rect">
            <a:avLst/>
          </a:prstGeom>
          <a:noFill/>
        </p:spPr>
        <p:txBody>
          <a:bodyPr wrap="square">
            <a:spAutoFit/>
          </a:bodyPr>
          <a:lstStyle/>
          <a:p>
            <a:pPr algn="ctr"/>
            <a:r>
              <a:rPr sz="1300" b="1" i="1">
                <a:solidFill>
                  <a:srgbClr val="2E5090"/>
                </a:solidFill>
                <a:latin typeface="Calibri"/>
              </a:rPr>
              <a:t>Single source of truth. Predictive, not reactive.</a:t>
            </a:r>
          </a:p>
        </p:txBody>
      </p:sp>
      <p:sp>
        <p:nvSpPr>
          <p:cNvPr id="24" name="TextBox 23"/>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25" name="Connector 24"/>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1473200" y="6462000"/>
            <a:ext cx="576000" cy="288000"/>
          </a:xfrm>
          <a:prstGeom prst="rect">
            <a:avLst/>
          </a:prstGeom>
          <a:noFill/>
        </p:spPr>
        <p:txBody>
          <a:bodyPr wrap="square">
            <a:spAutoFit/>
          </a:bodyPr>
          <a:lstStyle/>
          <a:p>
            <a:pPr algn="r"/>
            <a:r>
              <a:rPr sz="1000" b="0" i="0">
                <a:solidFill>
                  <a:srgbClr val="2E509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Built for Scale. Designed for Security. Ready for Growth.</a:t>
            </a:r>
          </a:p>
        </p:txBody>
      </p:sp>
      <p:sp>
        <p:nvSpPr>
          <p:cNvPr id="3" name="Rectangle 2"/>
          <p:cNvSpPr/>
          <p:nvPr/>
        </p:nvSpPr>
        <p:spPr>
          <a:xfrm>
            <a:off x="432000" y="1152000"/>
            <a:ext cx="5556600" cy="2088000"/>
          </a:xfrm>
          <a:prstGeom prst="rect">
            <a:avLst/>
          </a:prstGeom>
          <a:solidFill>
            <a:srgbClr val="2E5090"/>
          </a:solidFill>
          <a:ln w="190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6000" y="1296000"/>
            <a:ext cx="5268600" cy="503999"/>
          </a:xfrm>
          <a:prstGeom prst="rect">
            <a:avLst/>
          </a:prstGeom>
          <a:noFill/>
        </p:spPr>
        <p:txBody>
          <a:bodyPr wrap="square">
            <a:spAutoFit/>
          </a:bodyPr>
          <a:lstStyle/>
          <a:p>
            <a:pPr algn="l"/>
            <a:r>
              <a:rPr sz="1600" b="1" i="0">
                <a:solidFill>
                  <a:srgbClr val="C9A84C"/>
                </a:solidFill>
                <a:latin typeface="Calibri"/>
              </a:rPr>
              <a:t>☁️ Cloud-Native</a:t>
            </a:r>
          </a:p>
        </p:txBody>
      </p:sp>
      <p:sp>
        <p:nvSpPr>
          <p:cNvPr id="5" name="TextBox 4"/>
          <p:cNvSpPr txBox="1"/>
          <p:nvPr/>
        </p:nvSpPr>
        <p:spPr>
          <a:xfrm>
            <a:off x="576000" y="1872000"/>
            <a:ext cx="5268600" cy="1224000"/>
          </a:xfrm>
          <a:prstGeom prst="rect">
            <a:avLst/>
          </a:prstGeom>
          <a:noFill/>
        </p:spPr>
        <p:txBody>
          <a:bodyPr wrap="square">
            <a:spAutoFit/>
          </a:bodyPr>
          <a:lstStyle/>
          <a:p>
            <a:pPr algn="l"/>
            <a:r>
              <a:rPr sz="1300" b="0" i="0">
                <a:solidFill>
                  <a:srgbClr val="FFFFFF"/>
                </a:solidFill>
                <a:latin typeface="Calibri"/>
              </a:rPr>
              <a:t>AWS/GCP · Kubernetes
99.9% SLA · Microservices
Auto-scaling · CI/CD</a:t>
            </a:r>
          </a:p>
        </p:txBody>
      </p:sp>
      <p:sp>
        <p:nvSpPr>
          <p:cNvPr id="6" name="Rectangle 5"/>
          <p:cNvSpPr/>
          <p:nvPr/>
        </p:nvSpPr>
        <p:spPr>
          <a:xfrm>
            <a:off x="6204600" y="1152000"/>
            <a:ext cx="5556600" cy="2088000"/>
          </a:xfrm>
          <a:prstGeom prst="rect">
            <a:avLst/>
          </a:prstGeom>
          <a:solidFill>
            <a:srgbClr val="2E5090"/>
          </a:solidFill>
          <a:ln w="190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48600" y="1296000"/>
            <a:ext cx="5268600" cy="503999"/>
          </a:xfrm>
          <a:prstGeom prst="rect">
            <a:avLst/>
          </a:prstGeom>
          <a:noFill/>
        </p:spPr>
        <p:txBody>
          <a:bodyPr wrap="square">
            <a:spAutoFit/>
          </a:bodyPr>
          <a:lstStyle/>
          <a:p>
            <a:pPr algn="l"/>
            <a:r>
              <a:rPr sz="1600" b="1" i="0">
                <a:solidFill>
                  <a:srgbClr val="C9A84C"/>
                </a:solidFill>
                <a:latin typeface="Calibri"/>
              </a:rPr>
              <a:t>🔒 Security &amp; Compliance</a:t>
            </a:r>
          </a:p>
        </p:txBody>
      </p:sp>
      <p:sp>
        <p:nvSpPr>
          <p:cNvPr id="8" name="TextBox 7"/>
          <p:cNvSpPr txBox="1"/>
          <p:nvPr/>
        </p:nvSpPr>
        <p:spPr>
          <a:xfrm>
            <a:off x="6348600" y="1872000"/>
            <a:ext cx="5268600" cy="1224000"/>
          </a:xfrm>
          <a:prstGeom prst="rect">
            <a:avLst/>
          </a:prstGeom>
          <a:noFill/>
        </p:spPr>
        <p:txBody>
          <a:bodyPr wrap="square">
            <a:spAutoFit/>
          </a:bodyPr>
          <a:lstStyle/>
          <a:p>
            <a:pPr algn="l"/>
            <a:r>
              <a:rPr sz="1300" b="0" i="0">
                <a:solidFill>
                  <a:srgbClr val="FFFFFF"/>
                </a:solidFill>
                <a:latin typeface="Calibri"/>
              </a:rPr>
              <a:t>PDPA · ISO 27001 target
WAF · 2FA · E2E Encryption
Annual Pen Testing</a:t>
            </a:r>
          </a:p>
        </p:txBody>
      </p:sp>
      <p:sp>
        <p:nvSpPr>
          <p:cNvPr id="9" name="Rectangle 8"/>
          <p:cNvSpPr/>
          <p:nvPr/>
        </p:nvSpPr>
        <p:spPr>
          <a:xfrm>
            <a:off x="432000" y="3600000"/>
            <a:ext cx="5556600" cy="2088000"/>
          </a:xfrm>
          <a:prstGeom prst="rect">
            <a:avLst/>
          </a:prstGeom>
          <a:solidFill>
            <a:srgbClr val="2E5090"/>
          </a:solidFill>
          <a:ln w="190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00" y="3744000"/>
            <a:ext cx="5268600" cy="503999"/>
          </a:xfrm>
          <a:prstGeom prst="rect">
            <a:avLst/>
          </a:prstGeom>
          <a:noFill/>
        </p:spPr>
        <p:txBody>
          <a:bodyPr wrap="square">
            <a:spAutoFit/>
          </a:bodyPr>
          <a:lstStyle/>
          <a:p>
            <a:pPr algn="l"/>
            <a:r>
              <a:rPr sz="1600" b="1" i="0">
                <a:solidFill>
                  <a:srgbClr val="C9A84C"/>
                </a:solidFill>
                <a:latin typeface="Calibri"/>
              </a:rPr>
              <a:t>🔗 Integration-Ready</a:t>
            </a:r>
          </a:p>
        </p:txBody>
      </p:sp>
      <p:sp>
        <p:nvSpPr>
          <p:cNvPr id="11" name="TextBox 10"/>
          <p:cNvSpPr txBox="1"/>
          <p:nvPr/>
        </p:nvSpPr>
        <p:spPr>
          <a:xfrm>
            <a:off x="576000" y="4320000"/>
            <a:ext cx="5268600" cy="1224000"/>
          </a:xfrm>
          <a:prstGeom prst="rect">
            <a:avLst/>
          </a:prstGeom>
          <a:noFill/>
        </p:spPr>
        <p:txBody>
          <a:bodyPr wrap="square">
            <a:spAutoFit/>
          </a:bodyPr>
          <a:lstStyle/>
          <a:p>
            <a:pPr algn="l"/>
            <a:r>
              <a:rPr sz="1300" b="0" i="0">
                <a:solidFill>
                  <a:srgbClr val="FFFFFF"/>
                </a:solidFill>
                <a:latin typeface="Calibri"/>
              </a:rPr>
              <a:t>CRM / ERP / Smart Home
Payment · Marketing Auto
API-first · Webhooks</a:t>
            </a:r>
          </a:p>
        </p:txBody>
      </p:sp>
      <p:sp>
        <p:nvSpPr>
          <p:cNvPr id="12" name="Rectangle 11"/>
          <p:cNvSpPr/>
          <p:nvPr/>
        </p:nvSpPr>
        <p:spPr>
          <a:xfrm>
            <a:off x="6204600" y="3600000"/>
            <a:ext cx="5556600" cy="2088000"/>
          </a:xfrm>
          <a:prstGeom prst="rect">
            <a:avLst/>
          </a:prstGeom>
          <a:solidFill>
            <a:srgbClr val="2E5090"/>
          </a:solidFill>
          <a:ln w="190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8600" y="3744000"/>
            <a:ext cx="5268600" cy="503999"/>
          </a:xfrm>
          <a:prstGeom prst="rect">
            <a:avLst/>
          </a:prstGeom>
          <a:noFill/>
        </p:spPr>
        <p:txBody>
          <a:bodyPr wrap="square">
            <a:spAutoFit/>
          </a:bodyPr>
          <a:lstStyle/>
          <a:p>
            <a:pPr algn="l"/>
            <a:r>
              <a:rPr sz="1600" b="1" i="0">
                <a:solidFill>
                  <a:srgbClr val="C9A84C"/>
                </a:solidFill>
                <a:latin typeface="Calibri"/>
              </a:rPr>
              <a:t>📈 Scalable</a:t>
            </a:r>
          </a:p>
        </p:txBody>
      </p:sp>
      <p:sp>
        <p:nvSpPr>
          <p:cNvPr id="14" name="TextBox 13"/>
          <p:cNvSpPr txBox="1"/>
          <p:nvPr/>
        </p:nvSpPr>
        <p:spPr>
          <a:xfrm>
            <a:off x="6348600" y="4320000"/>
            <a:ext cx="5268600" cy="1224000"/>
          </a:xfrm>
          <a:prstGeom prst="rect">
            <a:avLst/>
          </a:prstGeom>
          <a:noFill/>
        </p:spPr>
        <p:txBody>
          <a:bodyPr wrap="square">
            <a:spAutoFit/>
          </a:bodyPr>
          <a:lstStyle/>
          <a:p>
            <a:pPr algn="l"/>
            <a:r>
              <a:rPr sz="1300" b="0" i="0">
                <a:solidFill>
                  <a:srgbClr val="FFFFFF"/>
                </a:solidFill>
                <a:latin typeface="Calibri"/>
              </a:rPr>
              <a:t>Replicate to next project
at 30% incremental cost
API-first architecture</a:t>
            </a:r>
          </a:p>
        </p:txBody>
      </p:sp>
      <p:sp>
        <p:nvSpPr>
          <p:cNvPr id="15" name="TextBox 14"/>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16" name="Connector 15"/>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1473200" y="6462000"/>
            <a:ext cx="576000" cy="288000"/>
          </a:xfrm>
          <a:prstGeom prst="rect">
            <a:avLst/>
          </a:prstGeom>
          <a:noFill/>
        </p:spPr>
        <p:txBody>
          <a:bodyPr wrap="square">
            <a:spAutoFit/>
          </a:bodyPr>
          <a:lstStyle/>
          <a:p>
            <a:pPr algn="r"/>
            <a:r>
              <a:rPr sz="1000" b="0" i="0">
                <a:solidFill>
                  <a:srgbClr val="2E509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$11M Investment. $21.9M Net Return in 5 Years.</a:t>
            </a:r>
          </a:p>
        </p:txBody>
      </p:sp>
      <p:sp>
        <p:nvSpPr>
          <p:cNvPr id="3" name="Rectangle 2"/>
          <p:cNvSpPr/>
          <p:nvPr/>
        </p:nvSpPr>
        <p:spPr>
          <a:xfrm>
            <a:off x="720000" y="4608000"/>
            <a:ext cx="1620000" cy="240000"/>
          </a:xfrm>
          <a:prstGeom prst="rect">
            <a:avLst/>
          </a:prstGeom>
          <a:solidFill>
            <a:srgbClr val="FF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4884000"/>
            <a:ext cx="1620000" cy="251999"/>
          </a:xfrm>
          <a:prstGeom prst="rect">
            <a:avLst/>
          </a:prstGeom>
          <a:noFill/>
        </p:spPr>
        <p:txBody>
          <a:bodyPr wrap="square">
            <a:spAutoFit/>
          </a:bodyPr>
          <a:lstStyle/>
          <a:p>
            <a:pPr algn="ctr"/>
            <a:r>
              <a:rPr sz="1300" b="1" i="0">
                <a:solidFill>
                  <a:srgbClr val="FF4040"/>
                </a:solidFill>
                <a:latin typeface="Calibri"/>
              </a:rPr>
              <a:t>$-1.0M</a:t>
            </a:r>
          </a:p>
        </p:txBody>
      </p:sp>
      <p:sp>
        <p:nvSpPr>
          <p:cNvPr id="5" name="TextBox 4"/>
          <p:cNvSpPr txBox="1"/>
          <p:nvPr/>
        </p:nvSpPr>
        <p:spPr>
          <a:xfrm>
            <a:off x="720000" y="4680000"/>
            <a:ext cx="1620000" cy="251999"/>
          </a:xfrm>
          <a:prstGeom prst="rect">
            <a:avLst/>
          </a:prstGeom>
          <a:noFill/>
        </p:spPr>
        <p:txBody>
          <a:bodyPr wrap="square">
            <a:spAutoFit/>
          </a:bodyPr>
          <a:lstStyle/>
          <a:p>
            <a:pPr algn="ctr"/>
            <a:r>
              <a:rPr sz="1300" b="1" i="0">
                <a:solidFill>
                  <a:srgbClr val="000000"/>
                </a:solidFill>
                <a:latin typeface="Calibri"/>
              </a:rPr>
              <a:t>Y1</a:t>
            </a:r>
          </a:p>
        </p:txBody>
      </p:sp>
      <p:sp>
        <p:nvSpPr>
          <p:cNvPr id="6" name="Rectangle 5"/>
          <p:cNvSpPr/>
          <p:nvPr/>
        </p:nvSpPr>
        <p:spPr>
          <a:xfrm>
            <a:off x="2628000" y="2328000"/>
            <a:ext cx="1620000" cy="2280000"/>
          </a:xfrm>
          <a:prstGeom prst="rect">
            <a:avLst/>
          </a:prstGeom>
          <a:solidFill>
            <a:srgbClr val="2E5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28000" y="2040000"/>
            <a:ext cx="1620000" cy="251999"/>
          </a:xfrm>
          <a:prstGeom prst="rect">
            <a:avLst/>
          </a:prstGeom>
          <a:noFill/>
        </p:spPr>
        <p:txBody>
          <a:bodyPr wrap="square">
            <a:spAutoFit/>
          </a:bodyPr>
          <a:lstStyle/>
          <a:p>
            <a:pPr algn="ctr"/>
            <a:r>
              <a:rPr sz="1300" b="1" i="0">
                <a:solidFill>
                  <a:srgbClr val="2E5090"/>
                </a:solidFill>
                <a:latin typeface="Calibri"/>
              </a:rPr>
              <a:t>$+9.5M</a:t>
            </a:r>
          </a:p>
        </p:txBody>
      </p:sp>
      <p:sp>
        <p:nvSpPr>
          <p:cNvPr id="8" name="TextBox 7"/>
          <p:cNvSpPr txBox="1"/>
          <p:nvPr/>
        </p:nvSpPr>
        <p:spPr>
          <a:xfrm>
            <a:off x="2628000" y="4680000"/>
            <a:ext cx="1620000" cy="251999"/>
          </a:xfrm>
          <a:prstGeom prst="rect">
            <a:avLst/>
          </a:prstGeom>
          <a:noFill/>
        </p:spPr>
        <p:txBody>
          <a:bodyPr wrap="square">
            <a:spAutoFit/>
          </a:bodyPr>
          <a:lstStyle/>
          <a:p>
            <a:pPr algn="ctr"/>
            <a:r>
              <a:rPr sz="1300" b="1" i="0">
                <a:solidFill>
                  <a:srgbClr val="000000"/>
                </a:solidFill>
                <a:latin typeface="Calibri"/>
              </a:rPr>
              <a:t>Y2</a:t>
            </a:r>
          </a:p>
        </p:txBody>
      </p:sp>
      <p:sp>
        <p:nvSpPr>
          <p:cNvPr id="9" name="Rectangle 8"/>
          <p:cNvSpPr/>
          <p:nvPr/>
        </p:nvSpPr>
        <p:spPr>
          <a:xfrm>
            <a:off x="4536000" y="2112000"/>
            <a:ext cx="1620000" cy="2496000"/>
          </a:xfrm>
          <a:prstGeom prst="rect">
            <a:avLst/>
          </a:prstGeom>
          <a:solidFill>
            <a:srgbClr val="2E5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6000" y="1824000"/>
            <a:ext cx="1620000" cy="251999"/>
          </a:xfrm>
          <a:prstGeom prst="rect">
            <a:avLst/>
          </a:prstGeom>
          <a:noFill/>
        </p:spPr>
        <p:txBody>
          <a:bodyPr wrap="square">
            <a:spAutoFit/>
          </a:bodyPr>
          <a:lstStyle/>
          <a:p>
            <a:pPr algn="ctr"/>
            <a:r>
              <a:rPr sz="1300" b="1" i="0">
                <a:solidFill>
                  <a:srgbClr val="2E5090"/>
                </a:solidFill>
                <a:latin typeface="Calibri"/>
              </a:rPr>
              <a:t>$+10.4M</a:t>
            </a:r>
          </a:p>
        </p:txBody>
      </p:sp>
      <p:sp>
        <p:nvSpPr>
          <p:cNvPr id="11" name="TextBox 10"/>
          <p:cNvSpPr txBox="1"/>
          <p:nvPr/>
        </p:nvSpPr>
        <p:spPr>
          <a:xfrm>
            <a:off x="4536000" y="4680000"/>
            <a:ext cx="1620000" cy="251999"/>
          </a:xfrm>
          <a:prstGeom prst="rect">
            <a:avLst/>
          </a:prstGeom>
          <a:noFill/>
        </p:spPr>
        <p:txBody>
          <a:bodyPr wrap="square">
            <a:spAutoFit/>
          </a:bodyPr>
          <a:lstStyle/>
          <a:p>
            <a:pPr algn="ctr"/>
            <a:r>
              <a:rPr sz="1300" b="1" i="0">
                <a:solidFill>
                  <a:srgbClr val="000000"/>
                </a:solidFill>
                <a:latin typeface="Calibri"/>
              </a:rPr>
              <a:t>Y3</a:t>
            </a:r>
          </a:p>
        </p:txBody>
      </p:sp>
      <p:sp>
        <p:nvSpPr>
          <p:cNvPr id="12" name="Rectangle 11"/>
          <p:cNvSpPr/>
          <p:nvPr/>
        </p:nvSpPr>
        <p:spPr>
          <a:xfrm>
            <a:off x="6444000" y="4296000"/>
            <a:ext cx="1620000" cy="312000"/>
          </a:xfrm>
          <a:prstGeom prst="rect">
            <a:avLst/>
          </a:prstGeom>
          <a:solidFill>
            <a:srgbClr val="2E5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4000" y="4008000"/>
            <a:ext cx="1620000" cy="251999"/>
          </a:xfrm>
          <a:prstGeom prst="rect">
            <a:avLst/>
          </a:prstGeom>
          <a:noFill/>
        </p:spPr>
        <p:txBody>
          <a:bodyPr wrap="square">
            <a:spAutoFit/>
          </a:bodyPr>
          <a:lstStyle/>
          <a:p>
            <a:pPr algn="ctr"/>
            <a:r>
              <a:rPr sz="1300" b="1" i="0">
                <a:solidFill>
                  <a:srgbClr val="2E5090"/>
                </a:solidFill>
                <a:latin typeface="Calibri"/>
              </a:rPr>
              <a:t>$+1.3M</a:t>
            </a:r>
          </a:p>
        </p:txBody>
      </p:sp>
      <p:sp>
        <p:nvSpPr>
          <p:cNvPr id="14" name="TextBox 13"/>
          <p:cNvSpPr txBox="1"/>
          <p:nvPr/>
        </p:nvSpPr>
        <p:spPr>
          <a:xfrm>
            <a:off x="6444000" y="4680000"/>
            <a:ext cx="1620000" cy="251999"/>
          </a:xfrm>
          <a:prstGeom prst="rect">
            <a:avLst/>
          </a:prstGeom>
          <a:noFill/>
        </p:spPr>
        <p:txBody>
          <a:bodyPr wrap="square">
            <a:spAutoFit/>
          </a:bodyPr>
          <a:lstStyle/>
          <a:p>
            <a:pPr algn="ctr"/>
            <a:r>
              <a:rPr sz="1300" b="1" i="0">
                <a:solidFill>
                  <a:srgbClr val="000000"/>
                </a:solidFill>
                <a:latin typeface="Calibri"/>
              </a:rPr>
              <a:t>Y4</a:t>
            </a:r>
          </a:p>
        </p:txBody>
      </p:sp>
      <p:sp>
        <p:nvSpPr>
          <p:cNvPr id="15" name="Rectangle 14"/>
          <p:cNvSpPr/>
          <p:nvPr/>
        </p:nvSpPr>
        <p:spPr>
          <a:xfrm>
            <a:off x="8352000" y="4200000"/>
            <a:ext cx="1620000" cy="408000"/>
          </a:xfrm>
          <a:prstGeom prst="rect">
            <a:avLst/>
          </a:prstGeom>
          <a:solidFill>
            <a:srgbClr val="2E5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2000" y="3912000"/>
            <a:ext cx="1620000" cy="251999"/>
          </a:xfrm>
          <a:prstGeom prst="rect">
            <a:avLst/>
          </a:prstGeom>
          <a:noFill/>
        </p:spPr>
        <p:txBody>
          <a:bodyPr wrap="square">
            <a:spAutoFit/>
          </a:bodyPr>
          <a:lstStyle/>
          <a:p>
            <a:pPr algn="ctr"/>
            <a:r>
              <a:rPr sz="1300" b="1" i="0">
                <a:solidFill>
                  <a:srgbClr val="2E5090"/>
                </a:solidFill>
                <a:latin typeface="Calibri"/>
              </a:rPr>
              <a:t>$+1.7M</a:t>
            </a:r>
          </a:p>
        </p:txBody>
      </p:sp>
      <p:sp>
        <p:nvSpPr>
          <p:cNvPr id="17" name="TextBox 16"/>
          <p:cNvSpPr txBox="1"/>
          <p:nvPr/>
        </p:nvSpPr>
        <p:spPr>
          <a:xfrm>
            <a:off x="8352000" y="4680000"/>
            <a:ext cx="1620000" cy="251999"/>
          </a:xfrm>
          <a:prstGeom prst="rect">
            <a:avLst/>
          </a:prstGeom>
          <a:noFill/>
        </p:spPr>
        <p:txBody>
          <a:bodyPr wrap="square">
            <a:spAutoFit/>
          </a:bodyPr>
          <a:lstStyle/>
          <a:p>
            <a:pPr algn="ctr"/>
            <a:r>
              <a:rPr sz="1300" b="1" i="0">
                <a:solidFill>
                  <a:srgbClr val="000000"/>
                </a:solidFill>
                <a:latin typeface="Calibri"/>
              </a:rPr>
              <a:t>Y5</a:t>
            </a:r>
          </a:p>
        </p:txBody>
      </p:sp>
      <p:cxnSp>
        <p:nvCxnSpPr>
          <p:cNvPr id="18" name="Connector 17"/>
          <p:cNvCxnSpPr/>
          <p:nvPr/>
        </p:nvCxnSpPr>
        <p:spPr>
          <a:xfrm>
            <a:off x="720000" y="4608000"/>
            <a:ext cx="10080000"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2700000" y="5886000"/>
            <a:ext cx="6480000" cy="39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72000" y="5904000"/>
            <a:ext cx="6336000" cy="342000"/>
          </a:xfrm>
          <a:prstGeom prst="rect">
            <a:avLst/>
          </a:prstGeom>
          <a:noFill/>
        </p:spPr>
        <p:txBody>
          <a:bodyPr wrap="square">
            <a:spAutoFit/>
          </a:bodyPr>
          <a:lstStyle/>
          <a:p>
            <a:pPr algn="ctr"/>
            <a:r>
              <a:rPr sz="1300" b="1" i="0">
                <a:solidFill>
                  <a:srgbClr val="0D1B2A"/>
                </a:solidFill>
                <a:latin typeface="Calibri"/>
              </a:rPr>
              <a:t>Break-even: Month 18  |  5-Year ROI: 199%  |  Bear scenario: break-even by Year 2</a:t>
            </a:r>
          </a:p>
        </p:txBody>
      </p:sp>
      <p:sp>
        <p:nvSpPr>
          <p:cNvPr id="21" name="TextBox 20"/>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22" name="Connector 21"/>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1473200" y="6462000"/>
            <a:ext cx="576000" cy="288000"/>
          </a:xfrm>
          <a:prstGeom prst="rect">
            <a:avLst/>
          </a:prstGeom>
          <a:noFill/>
        </p:spPr>
        <p:txBody>
          <a:bodyPr wrap="square">
            <a:spAutoFit/>
          </a:bodyPr>
          <a:lstStyle/>
          <a:p>
            <a:pPr algn="r"/>
            <a:r>
              <a:rPr sz="1000" b="0" i="0">
                <a:solidFill>
                  <a:srgbClr val="2E509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Three Ways This Platform Pays for Itself</a:t>
            </a:r>
          </a:p>
        </p:txBody>
      </p:sp>
      <p:sp>
        <p:nvSpPr>
          <p:cNvPr id="3" name="Rectangle 2"/>
          <p:cNvSpPr/>
          <p:nvPr/>
        </p:nvSpPr>
        <p:spPr>
          <a:xfrm>
            <a:off x="432000" y="1152000"/>
            <a:ext cx="3528000" cy="2880000"/>
          </a:xfrm>
          <a:prstGeom prst="rect">
            <a:avLst/>
          </a:prstGeom>
          <a:solidFill>
            <a:srgbClr val="2E5090"/>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6000" y="1332000"/>
            <a:ext cx="3240000" cy="576000"/>
          </a:xfrm>
          <a:prstGeom prst="rect">
            <a:avLst/>
          </a:prstGeom>
          <a:noFill/>
        </p:spPr>
        <p:txBody>
          <a:bodyPr wrap="square">
            <a:spAutoFit/>
          </a:bodyPr>
          <a:lstStyle/>
          <a:p>
            <a:pPr algn="ctr"/>
            <a:r>
              <a:rPr sz="1500" b="1" i="0">
                <a:solidFill>
                  <a:srgbClr val="C9A84C"/>
                </a:solidFill>
                <a:latin typeface="Calibri"/>
              </a:rPr>
              <a:t>💰 SALES ACCELERATION</a:t>
            </a:r>
          </a:p>
        </p:txBody>
      </p:sp>
      <p:sp>
        <p:nvSpPr>
          <p:cNvPr id="5" name="TextBox 4"/>
          <p:cNvSpPr txBox="1"/>
          <p:nvPr/>
        </p:nvSpPr>
        <p:spPr>
          <a:xfrm>
            <a:off x="576000" y="2052000"/>
            <a:ext cx="3240000" cy="503999"/>
          </a:xfrm>
          <a:prstGeom prst="rect">
            <a:avLst/>
          </a:prstGeom>
          <a:noFill/>
        </p:spPr>
        <p:txBody>
          <a:bodyPr wrap="square">
            <a:spAutoFit/>
          </a:bodyPr>
          <a:lstStyle/>
          <a:p>
            <a:pPr algn="ctr"/>
            <a:r>
              <a:rPr sz="1400" b="0" i="1">
                <a:solidFill>
                  <a:srgbClr val="B0C4DE"/>
                </a:solidFill>
                <a:latin typeface="Calibri"/>
              </a:rPr>
              <a:t>+3.5% conversion delta</a:t>
            </a:r>
          </a:p>
        </p:txBody>
      </p:sp>
      <p:sp>
        <p:nvSpPr>
          <p:cNvPr id="6" name="TextBox 5"/>
          <p:cNvSpPr txBox="1"/>
          <p:nvPr/>
        </p:nvSpPr>
        <p:spPr>
          <a:xfrm>
            <a:off x="576000" y="2700000"/>
            <a:ext cx="3240000" cy="1080000"/>
          </a:xfrm>
          <a:prstGeom prst="rect">
            <a:avLst/>
          </a:prstGeom>
          <a:noFill/>
        </p:spPr>
        <p:txBody>
          <a:bodyPr wrap="square">
            <a:spAutoFit/>
          </a:bodyPr>
          <a:lstStyle/>
          <a:p>
            <a:pPr algn="ctr"/>
            <a:r>
              <a:rPr sz="1600" b="1" i="0">
                <a:solidFill>
                  <a:srgbClr val="FFFFFF"/>
                </a:solidFill>
                <a:latin typeface="Calibri"/>
              </a:rPr>
              <a:t>$12.6M additional
developer margin/year</a:t>
            </a:r>
          </a:p>
        </p:txBody>
      </p:sp>
      <p:sp>
        <p:nvSpPr>
          <p:cNvPr id="7" name="Rectangle 6"/>
          <p:cNvSpPr/>
          <p:nvPr/>
        </p:nvSpPr>
        <p:spPr>
          <a:xfrm>
            <a:off x="4158000" y="1152000"/>
            <a:ext cx="3528000" cy="2880000"/>
          </a:xfrm>
          <a:prstGeom prst="rect">
            <a:avLst/>
          </a:prstGeom>
          <a:solidFill>
            <a:srgbClr val="2E5090"/>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02000" y="1332000"/>
            <a:ext cx="3240000" cy="576000"/>
          </a:xfrm>
          <a:prstGeom prst="rect">
            <a:avLst/>
          </a:prstGeom>
          <a:noFill/>
        </p:spPr>
        <p:txBody>
          <a:bodyPr wrap="square">
            <a:spAutoFit/>
          </a:bodyPr>
          <a:lstStyle/>
          <a:p>
            <a:pPr algn="ctr"/>
            <a:r>
              <a:rPr sz="1500" b="1" i="0">
                <a:solidFill>
                  <a:srgbClr val="C9A84C"/>
                </a:solidFill>
                <a:latin typeface="Calibri"/>
              </a:rPr>
              <a:t>🔄 CONCIERGE REVENUE</a:t>
            </a:r>
          </a:p>
        </p:txBody>
      </p:sp>
      <p:sp>
        <p:nvSpPr>
          <p:cNvPr id="9" name="TextBox 8"/>
          <p:cNvSpPr txBox="1"/>
          <p:nvPr/>
        </p:nvSpPr>
        <p:spPr>
          <a:xfrm>
            <a:off x="4302000" y="2052000"/>
            <a:ext cx="3240000" cy="503999"/>
          </a:xfrm>
          <a:prstGeom prst="rect">
            <a:avLst/>
          </a:prstGeom>
          <a:noFill/>
        </p:spPr>
        <p:txBody>
          <a:bodyPr wrap="square">
            <a:spAutoFit/>
          </a:bodyPr>
          <a:lstStyle/>
          <a:p>
            <a:pPr algn="ctr"/>
            <a:r>
              <a:rPr sz="1400" b="0" i="1">
                <a:solidFill>
                  <a:srgbClr val="B0C4DE"/>
                </a:solidFill>
                <a:latin typeface="Calibri"/>
              </a:rPr>
              <a:t>Recurring from Year 2</a:t>
            </a:r>
          </a:p>
        </p:txBody>
      </p:sp>
      <p:sp>
        <p:nvSpPr>
          <p:cNvPr id="10" name="TextBox 9"/>
          <p:cNvSpPr txBox="1"/>
          <p:nvPr/>
        </p:nvSpPr>
        <p:spPr>
          <a:xfrm>
            <a:off x="4302000" y="2700000"/>
            <a:ext cx="3240000" cy="1080000"/>
          </a:xfrm>
          <a:prstGeom prst="rect">
            <a:avLst/>
          </a:prstGeom>
          <a:noFill/>
        </p:spPr>
        <p:txBody>
          <a:bodyPr wrap="square">
            <a:spAutoFit/>
          </a:bodyPr>
          <a:lstStyle/>
          <a:p>
            <a:pPr algn="ctr"/>
            <a:r>
              <a:rPr sz="1600" b="1" i="0">
                <a:solidFill>
                  <a:srgbClr val="FFFFFF"/>
                </a:solidFill>
                <a:latin typeface="Calibri"/>
              </a:rPr>
              <a:t>$985K–$1.1M/year,
growing annually</a:t>
            </a:r>
          </a:p>
        </p:txBody>
      </p:sp>
      <p:sp>
        <p:nvSpPr>
          <p:cNvPr id="11" name="Rectangle 10"/>
          <p:cNvSpPr/>
          <p:nvPr/>
        </p:nvSpPr>
        <p:spPr>
          <a:xfrm>
            <a:off x="7884000" y="1152000"/>
            <a:ext cx="3528000" cy="2880000"/>
          </a:xfrm>
          <a:prstGeom prst="rect">
            <a:avLst/>
          </a:prstGeom>
          <a:solidFill>
            <a:srgbClr val="2E5090"/>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000" y="1332000"/>
            <a:ext cx="3240000" cy="576000"/>
          </a:xfrm>
          <a:prstGeom prst="rect">
            <a:avLst/>
          </a:prstGeom>
          <a:noFill/>
        </p:spPr>
        <p:txBody>
          <a:bodyPr wrap="square">
            <a:spAutoFit/>
          </a:bodyPr>
          <a:lstStyle/>
          <a:p>
            <a:pPr algn="ctr"/>
            <a:r>
              <a:rPr sz="1500" b="1" i="0">
                <a:solidFill>
                  <a:srgbClr val="C9A84C"/>
                </a:solidFill>
                <a:latin typeface="Calibri"/>
              </a:rPr>
              <a:t>✨ BRAND PREMIUM</a:t>
            </a:r>
          </a:p>
        </p:txBody>
      </p:sp>
      <p:sp>
        <p:nvSpPr>
          <p:cNvPr id="13" name="TextBox 12"/>
          <p:cNvSpPr txBox="1"/>
          <p:nvPr/>
        </p:nvSpPr>
        <p:spPr>
          <a:xfrm>
            <a:off x="8028000" y="2052000"/>
            <a:ext cx="3240000" cy="503999"/>
          </a:xfrm>
          <a:prstGeom prst="rect">
            <a:avLst/>
          </a:prstGeom>
          <a:noFill/>
        </p:spPr>
        <p:txBody>
          <a:bodyPr wrap="square">
            <a:spAutoFit/>
          </a:bodyPr>
          <a:lstStyle/>
          <a:p>
            <a:pPr algn="ctr"/>
            <a:r>
              <a:rPr sz="1400" b="0" i="1">
                <a:solidFill>
                  <a:srgbClr val="B0C4DE"/>
                </a:solidFill>
                <a:latin typeface="Calibri"/>
              </a:rPr>
              <a:t>+15–20% unit pricing</a:t>
            </a:r>
          </a:p>
        </p:txBody>
      </p:sp>
      <p:sp>
        <p:nvSpPr>
          <p:cNvPr id="14" name="TextBox 13"/>
          <p:cNvSpPr txBox="1"/>
          <p:nvPr/>
        </p:nvSpPr>
        <p:spPr>
          <a:xfrm>
            <a:off x="8028000" y="2700000"/>
            <a:ext cx="3240000" cy="1080000"/>
          </a:xfrm>
          <a:prstGeom prst="rect">
            <a:avLst/>
          </a:prstGeom>
          <a:noFill/>
        </p:spPr>
        <p:txBody>
          <a:bodyPr wrap="square">
            <a:spAutoFit/>
          </a:bodyPr>
          <a:lstStyle/>
          <a:p>
            <a:pPr algn="ctr"/>
            <a:r>
              <a:rPr sz="1600" b="1" i="0">
                <a:solidFill>
                  <a:srgbClr val="FFFFFF"/>
                </a:solidFill>
                <a:latin typeface="Calibri"/>
              </a:rPr>
              <a:t>$5.6M–$7.5M uplift
on GTV</a:t>
            </a:r>
          </a:p>
        </p:txBody>
      </p:sp>
      <p:sp>
        <p:nvSpPr>
          <p:cNvPr id="15" name="Rectangle 14"/>
          <p:cNvSpPr/>
          <p:nvPr/>
        </p:nvSpPr>
        <p:spPr>
          <a:xfrm>
            <a:off x="1980000" y="5904000"/>
            <a:ext cx="7920000" cy="39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52000" y="5922000"/>
            <a:ext cx="7776000" cy="342000"/>
          </a:xfrm>
          <a:prstGeom prst="rect">
            <a:avLst/>
          </a:prstGeom>
          <a:noFill/>
        </p:spPr>
        <p:txBody>
          <a:bodyPr wrap="square">
            <a:spAutoFit/>
          </a:bodyPr>
          <a:lstStyle/>
          <a:p>
            <a:pPr algn="ctr"/>
            <a:r>
              <a:rPr sz="1500" b="1" i="0">
                <a:solidFill>
                  <a:srgbClr val="0D1B2A"/>
                </a:solidFill>
                <a:latin typeface="Calibri"/>
              </a:rPr>
              <a:t>Total 5-Year Net Return: $21.9M on $11M investment</a:t>
            </a:r>
          </a:p>
        </p:txBody>
      </p:sp>
      <p:sp>
        <p:nvSpPr>
          <p:cNvPr id="17" name="TextBox 16"/>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18" name="Connector 17"/>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1473200" y="6462000"/>
            <a:ext cx="576000" cy="288000"/>
          </a:xfrm>
          <a:prstGeom prst="rect">
            <a:avLst/>
          </a:prstGeom>
          <a:noFill/>
        </p:spPr>
        <p:txBody>
          <a:bodyPr wrap="square">
            <a:spAutoFit/>
          </a:bodyPr>
          <a:lstStyle/>
          <a:p>
            <a:pPr algn="r"/>
            <a:r>
              <a:rPr sz="1000" b="0" i="0">
                <a:solidFill>
                  <a:srgbClr val="C9A84C"/>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How the $11M Is Deployed</a:t>
            </a:r>
          </a:p>
        </p:txBody>
      </p:sp>
      <p:sp>
        <p:nvSpPr>
          <p:cNvPr id="3" name="Rectangle 2"/>
          <p:cNvSpPr/>
          <p:nvPr/>
        </p:nvSpPr>
        <p:spPr>
          <a:xfrm>
            <a:off x="288000" y="1152000"/>
            <a:ext cx="2160000" cy="1152000"/>
          </a:xfrm>
          <a:prstGeom prst="rect">
            <a:avLst/>
          </a:prstGeom>
          <a:solidFill>
            <a:srgbClr val="C9A84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4000" y="1224000"/>
            <a:ext cx="2088000" cy="324000"/>
          </a:xfrm>
          <a:prstGeom prst="rect">
            <a:avLst/>
          </a:prstGeom>
          <a:noFill/>
        </p:spPr>
        <p:txBody>
          <a:bodyPr wrap="square">
            <a:spAutoFit/>
          </a:bodyPr>
          <a:lstStyle/>
          <a:p>
            <a:pPr algn="ctr"/>
            <a:r>
              <a:rPr sz="1200" b="1" i="0">
                <a:solidFill>
                  <a:srgbClr val="0D1B2A"/>
                </a:solidFill>
                <a:latin typeface="Calibri"/>
              </a:rPr>
              <a:t>28%</a:t>
            </a:r>
          </a:p>
        </p:txBody>
      </p:sp>
      <p:sp>
        <p:nvSpPr>
          <p:cNvPr id="5" name="TextBox 4"/>
          <p:cNvSpPr txBox="1"/>
          <p:nvPr/>
        </p:nvSpPr>
        <p:spPr>
          <a:xfrm>
            <a:off x="324000" y="1584000"/>
            <a:ext cx="2088000" cy="648000"/>
          </a:xfrm>
          <a:prstGeom prst="rect">
            <a:avLst/>
          </a:prstGeom>
          <a:noFill/>
        </p:spPr>
        <p:txBody>
          <a:bodyPr wrap="square">
            <a:spAutoFit/>
          </a:bodyPr>
          <a:lstStyle/>
          <a:p>
            <a:pPr algn="ctr"/>
            <a:r>
              <a:rPr sz="1000" b="0" i="0">
                <a:solidFill>
                  <a:srgbClr val="0D1B2A"/>
                </a:solidFill>
                <a:latin typeface="Calibri"/>
              </a:rPr>
              <a:t>3D / Metaverse</a:t>
            </a:r>
          </a:p>
        </p:txBody>
      </p:sp>
      <p:sp>
        <p:nvSpPr>
          <p:cNvPr id="6" name="Rectangle 5"/>
          <p:cNvSpPr/>
          <p:nvPr/>
        </p:nvSpPr>
        <p:spPr>
          <a:xfrm>
            <a:off x="2502000" y="1152000"/>
            <a:ext cx="1692000" cy="1152000"/>
          </a:xfrm>
          <a:prstGeom prst="rect">
            <a:avLst/>
          </a:prstGeom>
          <a:solidFill>
            <a:srgbClr val="2E509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38000" y="1224000"/>
            <a:ext cx="1620000" cy="324000"/>
          </a:xfrm>
          <a:prstGeom prst="rect">
            <a:avLst/>
          </a:prstGeom>
          <a:noFill/>
        </p:spPr>
        <p:txBody>
          <a:bodyPr wrap="square">
            <a:spAutoFit/>
          </a:bodyPr>
          <a:lstStyle/>
          <a:p>
            <a:pPr algn="ctr"/>
            <a:r>
              <a:rPr sz="1200" b="1" i="0">
                <a:solidFill>
                  <a:srgbClr val="FFFFFF"/>
                </a:solidFill>
                <a:latin typeface="Calibri"/>
              </a:rPr>
              <a:t>22%</a:t>
            </a:r>
          </a:p>
        </p:txBody>
      </p:sp>
      <p:sp>
        <p:nvSpPr>
          <p:cNvPr id="8" name="TextBox 7"/>
          <p:cNvSpPr txBox="1"/>
          <p:nvPr/>
        </p:nvSpPr>
        <p:spPr>
          <a:xfrm>
            <a:off x="2538000" y="1584000"/>
            <a:ext cx="1620000" cy="648000"/>
          </a:xfrm>
          <a:prstGeom prst="rect">
            <a:avLst/>
          </a:prstGeom>
          <a:noFill/>
        </p:spPr>
        <p:txBody>
          <a:bodyPr wrap="square">
            <a:spAutoFit/>
          </a:bodyPr>
          <a:lstStyle/>
          <a:p>
            <a:pPr algn="ctr"/>
            <a:r>
              <a:rPr sz="1000" b="0" i="0">
                <a:solidFill>
                  <a:srgbClr val="FFFFFF"/>
                </a:solidFill>
                <a:latin typeface="Calibri"/>
              </a:rPr>
              <a:t>Backend Infra</a:t>
            </a:r>
          </a:p>
        </p:txBody>
      </p:sp>
      <p:sp>
        <p:nvSpPr>
          <p:cNvPr id="9" name="Rectangle 8"/>
          <p:cNvSpPr/>
          <p:nvPr/>
        </p:nvSpPr>
        <p:spPr>
          <a:xfrm>
            <a:off x="4248000" y="1152000"/>
            <a:ext cx="1152000" cy="1152000"/>
          </a:xfrm>
          <a:prstGeom prst="rect">
            <a:avLst/>
          </a:prstGeom>
          <a:solidFill>
            <a:srgbClr val="4A90D9"/>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84000" y="1224000"/>
            <a:ext cx="1080000" cy="324000"/>
          </a:xfrm>
          <a:prstGeom prst="rect">
            <a:avLst/>
          </a:prstGeom>
          <a:noFill/>
        </p:spPr>
        <p:txBody>
          <a:bodyPr wrap="square">
            <a:spAutoFit/>
          </a:bodyPr>
          <a:lstStyle/>
          <a:p>
            <a:pPr algn="ctr"/>
            <a:r>
              <a:rPr sz="1200" b="1" i="0">
                <a:solidFill>
                  <a:srgbClr val="FFFFFF"/>
                </a:solidFill>
                <a:latin typeface="Calibri"/>
              </a:rPr>
              <a:t>15%</a:t>
            </a:r>
          </a:p>
        </p:txBody>
      </p:sp>
      <p:sp>
        <p:nvSpPr>
          <p:cNvPr id="11" name="TextBox 10"/>
          <p:cNvSpPr txBox="1"/>
          <p:nvPr/>
        </p:nvSpPr>
        <p:spPr>
          <a:xfrm>
            <a:off x="4284000" y="1584000"/>
            <a:ext cx="1080000" cy="648000"/>
          </a:xfrm>
          <a:prstGeom prst="rect">
            <a:avLst/>
          </a:prstGeom>
          <a:noFill/>
        </p:spPr>
        <p:txBody>
          <a:bodyPr wrap="square">
            <a:spAutoFit/>
          </a:bodyPr>
          <a:lstStyle/>
          <a:p>
            <a:pPr algn="ctr"/>
            <a:r>
              <a:rPr sz="1000" b="0" i="0">
                <a:solidFill>
                  <a:srgbClr val="FFFFFF"/>
                </a:solidFill>
                <a:latin typeface="Calibri"/>
              </a:rPr>
              <a:t>AI / ML</a:t>
            </a:r>
          </a:p>
        </p:txBody>
      </p:sp>
      <p:sp>
        <p:nvSpPr>
          <p:cNvPr id="12" name="Rectangle 11"/>
          <p:cNvSpPr/>
          <p:nvPr/>
        </p:nvSpPr>
        <p:spPr>
          <a:xfrm>
            <a:off x="5454000" y="1152000"/>
            <a:ext cx="792000" cy="1152000"/>
          </a:xfrm>
          <a:prstGeom prst="rect">
            <a:avLst/>
          </a:prstGeom>
          <a:solidFill>
            <a:srgbClr val="7B68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90000" y="1224000"/>
            <a:ext cx="720000" cy="324000"/>
          </a:xfrm>
          <a:prstGeom prst="rect">
            <a:avLst/>
          </a:prstGeom>
          <a:noFill/>
        </p:spPr>
        <p:txBody>
          <a:bodyPr wrap="square">
            <a:spAutoFit/>
          </a:bodyPr>
          <a:lstStyle/>
          <a:p>
            <a:pPr algn="ctr"/>
            <a:r>
              <a:rPr sz="1200" b="1" i="0">
                <a:solidFill>
                  <a:srgbClr val="FFFFFF"/>
                </a:solidFill>
                <a:latin typeface="Calibri"/>
              </a:rPr>
              <a:t>10%</a:t>
            </a:r>
          </a:p>
        </p:txBody>
      </p:sp>
      <p:sp>
        <p:nvSpPr>
          <p:cNvPr id="14" name="TextBox 13"/>
          <p:cNvSpPr txBox="1"/>
          <p:nvPr/>
        </p:nvSpPr>
        <p:spPr>
          <a:xfrm>
            <a:off x="5490000" y="1584000"/>
            <a:ext cx="720000" cy="648000"/>
          </a:xfrm>
          <a:prstGeom prst="rect">
            <a:avLst/>
          </a:prstGeom>
          <a:noFill/>
        </p:spPr>
        <p:txBody>
          <a:bodyPr wrap="square">
            <a:spAutoFit/>
          </a:bodyPr>
          <a:lstStyle/>
          <a:p>
            <a:pPr algn="ctr"/>
            <a:r>
              <a:rPr sz="1000" b="0" i="0">
                <a:solidFill>
                  <a:srgbClr val="FFFFFF"/>
                </a:solidFill>
                <a:latin typeface="Calibri"/>
              </a:rPr>
              <a:t>Mobile App</a:t>
            </a:r>
          </a:p>
        </p:txBody>
      </p:sp>
      <p:sp>
        <p:nvSpPr>
          <p:cNvPr id="15" name="Rectangle 14"/>
          <p:cNvSpPr/>
          <p:nvPr/>
        </p:nvSpPr>
        <p:spPr>
          <a:xfrm>
            <a:off x="6300000" y="1152000"/>
            <a:ext cx="792000" cy="1152000"/>
          </a:xfrm>
          <a:prstGeom prst="rect">
            <a:avLst/>
          </a:prstGeom>
          <a:solidFill>
            <a:srgbClr val="00C8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6000" y="1224000"/>
            <a:ext cx="720000" cy="324000"/>
          </a:xfrm>
          <a:prstGeom prst="rect">
            <a:avLst/>
          </a:prstGeom>
          <a:noFill/>
        </p:spPr>
        <p:txBody>
          <a:bodyPr wrap="square">
            <a:spAutoFit/>
          </a:bodyPr>
          <a:lstStyle/>
          <a:p>
            <a:pPr algn="ctr"/>
            <a:r>
              <a:rPr sz="1200" b="1" i="0">
                <a:solidFill>
                  <a:srgbClr val="FFFFFF"/>
                </a:solidFill>
                <a:latin typeface="Calibri"/>
              </a:rPr>
              <a:t>10%</a:t>
            </a:r>
          </a:p>
        </p:txBody>
      </p:sp>
      <p:sp>
        <p:nvSpPr>
          <p:cNvPr id="17" name="TextBox 16"/>
          <p:cNvSpPr txBox="1"/>
          <p:nvPr/>
        </p:nvSpPr>
        <p:spPr>
          <a:xfrm>
            <a:off x="6336000" y="1584000"/>
            <a:ext cx="720000" cy="648000"/>
          </a:xfrm>
          <a:prstGeom prst="rect">
            <a:avLst/>
          </a:prstGeom>
          <a:noFill/>
        </p:spPr>
        <p:txBody>
          <a:bodyPr wrap="square">
            <a:spAutoFit/>
          </a:bodyPr>
          <a:lstStyle/>
          <a:p>
            <a:pPr algn="ctr"/>
            <a:r>
              <a:rPr sz="1000" b="0" i="0">
                <a:solidFill>
                  <a:srgbClr val="FFFFFF"/>
                </a:solidFill>
                <a:latin typeface="Calibri"/>
              </a:rPr>
              <a:t>Integrations</a:t>
            </a:r>
          </a:p>
        </p:txBody>
      </p:sp>
      <p:sp>
        <p:nvSpPr>
          <p:cNvPr id="18" name="Rectangle 17"/>
          <p:cNvSpPr/>
          <p:nvPr/>
        </p:nvSpPr>
        <p:spPr>
          <a:xfrm>
            <a:off x="7146000" y="1152000"/>
            <a:ext cx="612000" cy="1152000"/>
          </a:xfrm>
          <a:prstGeom prst="rect">
            <a:avLst/>
          </a:prstGeom>
          <a:solidFill>
            <a:srgbClr val="FFA5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82000" y="1224000"/>
            <a:ext cx="540000" cy="324000"/>
          </a:xfrm>
          <a:prstGeom prst="rect">
            <a:avLst/>
          </a:prstGeom>
          <a:noFill/>
        </p:spPr>
        <p:txBody>
          <a:bodyPr wrap="square">
            <a:spAutoFit/>
          </a:bodyPr>
          <a:lstStyle/>
          <a:p>
            <a:pPr algn="ctr"/>
            <a:r>
              <a:rPr sz="1200" b="1" i="0">
                <a:solidFill>
                  <a:srgbClr val="FFFFFF"/>
                </a:solidFill>
                <a:latin typeface="Calibri"/>
              </a:rPr>
              <a:t>8%</a:t>
            </a:r>
          </a:p>
        </p:txBody>
      </p:sp>
      <p:sp>
        <p:nvSpPr>
          <p:cNvPr id="20" name="TextBox 19"/>
          <p:cNvSpPr txBox="1"/>
          <p:nvPr/>
        </p:nvSpPr>
        <p:spPr>
          <a:xfrm>
            <a:off x="7182000" y="1584000"/>
            <a:ext cx="540000" cy="648000"/>
          </a:xfrm>
          <a:prstGeom prst="rect">
            <a:avLst/>
          </a:prstGeom>
          <a:noFill/>
        </p:spPr>
        <p:txBody>
          <a:bodyPr wrap="square">
            <a:spAutoFit/>
          </a:bodyPr>
          <a:lstStyle/>
          <a:p>
            <a:pPr algn="ctr"/>
            <a:r>
              <a:rPr sz="1000" b="0" i="0">
                <a:solidFill>
                  <a:srgbClr val="FFFFFF"/>
                </a:solidFill>
                <a:latin typeface="Calibri"/>
              </a:rPr>
              <a:t>Cloud &amp; DevOps</a:t>
            </a:r>
          </a:p>
        </p:txBody>
      </p:sp>
      <p:sp>
        <p:nvSpPr>
          <p:cNvPr id="21" name="Rectangle 20"/>
          <p:cNvSpPr/>
          <p:nvPr/>
        </p:nvSpPr>
        <p:spPr>
          <a:xfrm>
            <a:off x="7812000" y="1152000"/>
            <a:ext cx="396000" cy="1152000"/>
          </a:xfrm>
          <a:prstGeom prst="rect">
            <a:avLst/>
          </a:prstGeom>
          <a:solidFill>
            <a:srgbClr val="FF6B6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48000" y="1224000"/>
            <a:ext cx="324000" cy="324000"/>
          </a:xfrm>
          <a:prstGeom prst="rect">
            <a:avLst/>
          </a:prstGeom>
          <a:noFill/>
        </p:spPr>
        <p:txBody>
          <a:bodyPr wrap="square">
            <a:spAutoFit/>
          </a:bodyPr>
          <a:lstStyle/>
          <a:p>
            <a:pPr algn="ctr"/>
            <a:r>
              <a:rPr sz="1200" b="1" i="0">
                <a:solidFill>
                  <a:srgbClr val="FFFFFF"/>
                </a:solidFill>
                <a:latin typeface="Calibri"/>
              </a:rPr>
              <a:t>5%</a:t>
            </a:r>
          </a:p>
        </p:txBody>
      </p:sp>
      <p:sp>
        <p:nvSpPr>
          <p:cNvPr id="23" name="TextBox 22"/>
          <p:cNvSpPr txBox="1"/>
          <p:nvPr/>
        </p:nvSpPr>
        <p:spPr>
          <a:xfrm>
            <a:off x="7848000" y="1584000"/>
            <a:ext cx="324000" cy="648000"/>
          </a:xfrm>
          <a:prstGeom prst="rect">
            <a:avLst/>
          </a:prstGeom>
          <a:noFill/>
        </p:spPr>
        <p:txBody>
          <a:bodyPr wrap="square">
            <a:spAutoFit/>
          </a:bodyPr>
          <a:lstStyle/>
          <a:p>
            <a:pPr algn="ctr"/>
            <a:r>
              <a:rPr sz="1000" b="0" i="0">
                <a:solidFill>
                  <a:srgbClr val="FFFFFF"/>
                </a:solidFill>
                <a:latin typeface="Calibri"/>
              </a:rPr>
              <a:t>Analytics</a:t>
            </a:r>
          </a:p>
        </p:txBody>
      </p:sp>
      <p:sp>
        <p:nvSpPr>
          <p:cNvPr id="24" name="Rectangle 23"/>
          <p:cNvSpPr/>
          <p:nvPr/>
        </p:nvSpPr>
        <p:spPr>
          <a:xfrm>
            <a:off x="8262000" y="1152000"/>
            <a:ext cx="180000" cy="1152000"/>
          </a:xfrm>
          <a:prstGeom prst="rect">
            <a:avLst/>
          </a:prstGeom>
          <a:solidFill>
            <a:srgbClr val="98FB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2000" y="2880000"/>
            <a:ext cx="3704400" cy="1980000"/>
          </a:xfrm>
          <a:prstGeom prst="rect">
            <a:avLst/>
          </a:prstGeom>
          <a:solidFill>
            <a:srgbClr val="2E5090"/>
          </a:solidFill>
          <a:ln w="190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0000" y="3024000"/>
            <a:ext cx="3488400" cy="432000"/>
          </a:xfrm>
          <a:prstGeom prst="rect">
            <a:avLst/>
          </a:prstGeom>
          <a:noFill/>
        </p:spPr>
        <p:txBody>
          <a:bodyPr wrap="square">
            <a:spAutoFit/>
          </a:bodyPr>
          <a:lstStyle/>
          <a:p>
            <a:pPr algn="l"/>
            <a:r>
              <a:rPr sz="1400" b="1" i="0">
                <a:solidFill>
                  <a:srgbClr val="C9A84C"/>
                </a:solidFill>
                <a:latin typeface="Calibri"/>
              </a:rPr>
              <a:t>Phase 1  $3.5M</a:t>
            </a:r>
          </a:p>
        </p:txBody>
      </p:sp>
      <p:sp>
        <p:nvSpPr>
          <p:cNvPr id="27" name="TextBox 26"/>
          <p:cNvSpPr txBox="1"/>
          <p:nvPr/>
        </p:nvSpPr>
        <p:spPr>
          <a:xfrm>
            <a:off x="540000" y="3492000"/>
            <a:ext cx="3488400" cy="324000"/>
          </a:xfrm>
          <a:prstGeom prst="rect">
            <a:avLst/>
          </a:prstGeom>
          <a:noFill/>
        </p:spPr>
        <p:txBody>
          <a:bodyPr wrap="square">
            <a:spAutoFit/>
          </a:bodyPr>
          <a:lstStyle/>
          <a:p>
            <a:pPr algn="l"/>
            <a:r>
              <a:rPr sz="1300" b="1" i="0">
                <a:solidFill>
                  <a:srgbClr val="FFFFFF"/>
                </a:solidFill>
                <a:latin typeface="Calibri"/>
              </a:rPr>
              <a:t>M1 – M8</a:t>
            </a:r>
          </a:p>
        </p:txBody>
      </p:sp>
      <p:sp>
        <p:nvSpPr>
          <p:cNvPr id="28" name="TextBox 27"/>
          <p:cNvSpPr txBox="1"/>
          <p:nvPr/>
        </p:nvSpPr>
        <p:spPr>
          <a:xfrm>
            <a:off x="540000" y="3887999"/>
            <a:ext cx="3488400" cy="827999"/>
          </a:xfrm>
          <a:prstGeom prst="rect">
            <a:avLst/>
          </a:prstGeom>
          <a:noFill/>
        </p:spPr>
        <p:txBody>
          <a:bodyPr wrap="square">
            <a:spAutoFit/>
          </a:bodyPr>
          <a:lstStyle/>
          <a:p>
            <a:pPr algn="l"/>
            <a:r>
              <a:rPr sz="1200" b="0" i="0">
                <a:solidFill>
                  <a:srgbClr val="B0C4DE"/>
                </a:solidFill>
                <a:latin typeface="Calibri"/>
              </a:rPr>
              <a:t>Foundation: IVA MVP · Admin · CRM</a:t>
            </a:r>
          </a:p>
        </p:txBody>
      </p:sp>
      <p:sp>
        <p:nvSpPr>
          <p:cNvPr id="29" name="Rectangle 28"/>
          <p:cNvSpPr/>
          <p:nvPr/>
        </p:nvSpPr>
        <p:spPr>
          <a:xfrm>
            <a:off x="4208400" y="2880000"/>
            <a:ext cx="3704400" cy="1980000"/>
          </a:xfrm>
          <a:prstGeom prst="rect">
            <a:avLst/>
          </a:prstGeom>
          <a:solidFill>
            <a:srgbClr val="2E5090"/>
          </a:solidFill>
          <a:ln w="190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16400" y="3024000"/>
            <a:ext cx="3488400" cy="432000"/>
          </a:xfrm>
          <a:prstGeom prst="rect">
            <a:avLst/>
          </a:prstGeom>
          <a:noFill/>
        </p:spPr>
        <p:txBody>
          <a:bodyPr wrap="square">
            <a:spAutoFit/>
          </a:bodyPr>
          <a:lstStyle/>
          <a:p>
            <a:pPr algn="l"/>
            <a:r>
              <a:rPr sz="1400" b="1" i="0">
                <a:solidFill>
                  <a:srgbClr val="C9A84C"/>
                </a:solidFill>
                <a:latin typeface="Calibri"/>
              </a:rPr>
              <a:t>Phase 2  $3.5M</a:t>
            </a:r>
          </a:p>
        </p:txBody>
      </p:sp>
      <p:sp>
        <p:nvSpPr>
          <p:cNvPr id="31" name="TextBox 30"/>
          <p:cNvSpPr txBox="1"/>
          <p:nvPr/>
        </p:nvSpPr>
        <p:spPr>
          <a:xfrm>
            <a:off x="4316400" y="3492000"/>
            <a:ext cx="3488400" cy="324000"/>
          </a:xfrm>
          <a:prstGeom prst="rect">
            <a:avLst/>
          </a:prstGeom>
          <a:noFill/>
        </p:spPr>
        <p:txBody>
          <a:bodyPr wrap="square">
            <a:spAutoFit/>
          </a:bodyPr>
          <a:lstStyle/>
          <a:p>
            <a:pPr algn="l"/>
            <a:r>
              <a:rPr sz="1300" b="1" i="0">
                <a:solidFill>
                  <a:srgbClr val="FFFFFF"/>
                </a:solidFill>
                <a:latin typeface="Calibri"/>
              </a:rPr>
              <a:t>M9 – M16</a:t>
            </a:r>
          </a:p>
        </p:txBody>
      </p:sp>
      <p:sp>
        <p:nvSpPr>
          <p:cNvPr id="32" name="TextBox 31"/>
          <p:cNvSpPr txBox="1"/>
          <p:nvPr/>
        </p:nvSpPr>
        <p:spPr>
          <a:xfrm>
            <a:off x="4316400" y="3887999"/>
            <a:ext cx="3488400" cy="827999"/>
          </a:xfrm>
          <a:prstGeom prst="rect">
            <a:avLst/>
          </a:prstGeom>
          <a:noFill/>
        </p:spPr>
        <p:txBody>
          <a:bodyPr wrap="square">
            <a:spAutoFit/>
          </a:bodyPr>
          <a:lstStyle/>
          <a:p>
            <a:pPr algn="l"/>
            <a:r>
              <a:rPr sz="1200" b="0" i="0">
                <a:solidFill>
                  <a:srgbClr val="B0C4DE"/>
                </a:solidFill>
                <a:latin typeface="Calibri"/>
              </a:rPr>
              <a:t>Intelligence: AI Scoring · Concierge · Payment</a:t>
            </a:r>
          </a:p>
        </p:txBody>
      </p:sp>
      <p:sp>
        <p:nvSpPr>
          <p:cNvPr id="33" name="Rectangle 32"/>
          <p:cNvSpPr/>
          <p:nvPr/>
        </p:nvSpPr>
        <p:spPr>
          <a:xfrm>
            <a:off x="7984800" y="2880000"/>
            <a:ext cx="3704400" cy="1980000"/>
          </a:xfrm>
          <a:prstGeom prst="rect">
            <a:avLst/>
          </a:prstGeom>
          <a:solidFill>
            <a:srgbClr val="2E5090"/>
          </a:solidFill>
          <a:ln w="190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92800" y="3024000"/>
            <a:ext cx="3488400" cy="432000"/>
          </a:xfrm>
          <a:prstGeom prst="rect">
            <a:avLst/>
          </a:prstGeom>
          <a:noFill/>
        </p:spPr>
        <p:txBody>
          <a:bodyPr wrap="square">
            <a:spAutoFit/>
          </a:bodyPr>
          <a:lstStyle/>
          <a:p>
            <a:pPr algn="l"/>
            <a:r>
              <a:rPr sz="1400" b="1" i="0">
                <a:solidFill>
                  <a:srgbClr val="C9A84C"/>
                </a:solidFill>
                <a:latin typeface="Calibri"/>
              </a:rPr>
              <a:t>Phase 3  $3.0M</a:t>
            </a:r>
          </a:p>
        </p:txBody>
      </p:sp>
      <p:sp>
        <p:nvSpPr>
          <p:cNvPr id="35" name="TextBox 34"/>
          <p:cNvSpPr txBox="1"/>
          <p:nvPr/>
        </p:nvSpPr>
        <p:spPr>
          <a:xfrm>
            <a:off x="8092800" y="3492000"/>
            <a:ext cx="3488400" cy="324000"/>
          </a:xfrm>
          <a:prstGeom prst="rect">
            <a:avLst/>
          </a:prstGeom>
          <a:noFill/>
        </p:spPr>
        <p:txBody>
          <a:bodyPr wrap="square">
            <a:spAutoFit/>
          </a:bodyPr>
          <a:lstStyle/>
          <a:p>
            <a:pPr algn="l"/>
            <a:r>
              <a:rPr sz="1300" b="1" i="0">
                <a:solidFill>
                  <a:srgbClr val="FFFFFF"/>
                </a:solidFill>
                <a:latin typeface="Calibri"/>
              </a:rPr>
              <a:t>M17 – M24</a:t>
            </a:r>
          </a:p>
        </p:txBody>
      </p:sp>
      <p:sp>
        <p:nvSpPr>
          <p:cNvPr id="36" name="TextBox 35"/>
          <p:cNvSpPr txBox="1"/>
          <p:nvPr/>
        </p:nvSpPr>
        <p:spPr>
          <a:xfrm>
            <a:off x="8092800" y="3887999"/>
            <a:ext cx="3488400" cy="827999"/>
          </a:xfrm>
          <a:prstGeom prst="rect">
            <a:avLst/>
          </a:prstGeom>
          <a:noFill/>
        </p:spPr>
        <p:txBody>
          <a:bodyPr wrap="square">
            <a:spAutoFit/>
          </a:bodyPr>
          <a:lstStyle/>
          <a:p>
            <a:pPr algn="l"/>
            <a:r>
              <a:rPr sz="1200" b="0" i="0">
                <a:solidFill>
                  <a:srgbClr val="B0C4DE"/>
                </a:solidFill>
                <a:latin typeface="Calibri"/>
              </a:rPr>
              <a:t>Ecosystem: Full AI · Partners · Community</a:t>
            </a:r>
          </a:p>
        </p:txBody>
      </p:sp>
      <p:sp>
        <p:nvSpPr>
          <p:cNvPr id="37" name="TextBox 36"/>
          <p:cNvSpPr txBox="1"/>
          <p:nvPr/>
        </p:nvSpPr>
        <p:spPr>
          <a:xfrm>
            <a:off x="432000" y="5958000"/>
            <a:ext cx="11329200" cy="324000"/>
          </a:xfrm>
          <a:prstGeom prst="rect">
            <a:avLst/>
          </a:prstGeom>
          <a:noFill/>
        </p:spPr>
        <p:txBody>
          <a:bodyPr wrap="square">
            <a:spAutoFit/>
          </a:bodyPr>
          <a:lstStyle/>
          <a:p>
            <a:pPr algn="ctr"/>
            <a:r>
              <a:rPr sz="1200" b="1" i="1">
                <a:solidFill>
                  <a:srgbClr val="2E5090"/>
                </a:solidFill>
                <a:latin typeface="Calibri"/>
              </a:rPr>
              <a:t>Phased investment. Milestone-gated. No large upfront risk.</a:t>
            </a:r>
          </a:p>
        </p:txBody>
      </p:sp>
      <p:sp>
        <p:nvSpPr>
          <p:cNvPr id="38" name="TextBox 37"/>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39" name="Connector 38"/>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1473200" y="6462000"/>
            <a:ext cx="576000" cy="288000"/>
          </a:xfrm>
          <a:prstGeom prst="rect">
            <a:avLst/>
          </a:prstGeom>
          <a:noFill/>
        </p:spPr>
        <p:txBody>
          <a:bodyPr wrap="square">
            <a:spAutoFit/>
          </a:bodyPr>
          <a:lstStyle/>
          <a:p>
            <a:pPr algn="r"/>
            <a:r>
              <a:rPr sz="1000" b="0" i="0">
                <a:solidFill>
                  <a:srgbClr val="2E5090"/>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This Has Never Been Done in Vietnam Luxury Real Estate</a:t>
            </a:r>
          </a:p>
        </p:txBody>
      </p:sp>
      <p:graphicFrame>
        <p:nvGraphicFramePr>
          <p:cNvPr id="3" name="Table 2"/>
          <p:cNvGraphicFramePr>
            <a:graphicFrameLocks noGrp="1"/>
          </p:cNvGraphicFramePr>
          <p:nvPr/>
        </p:nvGraphicFramePr>
        <p:xfrm>
          <a:off x="432000" y="936000"/>
          <a:ext cx="11160000" cy="5022000"/>
        </p:xfrm>
        <a:graphic>
          <a:graphicData uri="http://schemas.openxmlformats.org/drawingml/2006/table">
            <a:tbl>
              <a:tblPr firstRow="1" bandRow="1">
                <a:tableStyleId>{5C22544A-7EE6-4342-B048-85BDC9FD1C3A}</a:tableStyleId>
              </a:tblPr>
              <a:tblGrid>
                <a:gridCol w="3600000"/>
                <a:gridCol w="2520000"/>
                <a:gridCol w="2520000"/>
                <a:gridCol w="2520000"/>
              </a:tblGrid>
              <a:tr h="386307">
                <a:tc>
                  <a:txBody>
                    <a:bodyPr/>
                    <a:lstStyle/>
                    <a:p>
                      <a:pPr algn="ctr"/>
                      <a:r>
                        <a:rPr sz="1200" b="1">
                          <a:solidFill>
                            <a:srgbClr val="FFFFFF"/>
                          </a:solidFill>
                          <a:latin typeface="Calibri"/>
                        </a:rPr>
                        <a:t>Feature</a:t>
                      </a:r>
                    </a:p>
                  </a:txBody>
                  <a:tcPr>
                    <a:solidFill>
                      <a:srgbClr val="2E5090"/>
                    </a:solidFill>
                  </a:tcPr>
                </a:tc>
                <a:tc>
                  <a:txBody>
                    <a:bodyPr/>
                    <a:lstStyle/>
                    <a:p>
                      <a:pPr algn="ctr"/>
                      <a:r>
                        <a:rPr sz="1200" b="1">
                          <a:solidFill>
                            <a:srgbClr val="FFFFFF"/>
                          </a:solidFill>
                          <a:latin typeface="Calibri"/>
                        </a:rPr>
                        <a:t>HH4 Platform</a:t>
                      </a:r>
                    </a:p>
                  </a:txBody>
                  <a:tcPr>
                    <a:solidFill>
                      <a:srgbClr val="2E5090"/>
                    </a:solidFill>
                  </a:tcPr>
                </a:tc>
                <a:tc>
                  <a:txBody>
                    <a:bodyPr/>
                    <a:lstStyle/>
                    <a:p>
                      <a:pPr algn="ctr"/>
                      <a:r>
                        <a:rPr sz="1200" b="1">
                          <a:solidFill>
                            <a:srgbClr val="FFFFFF"/>
                          </a:solidFill>
                          <a:latin typeface="Calibri"/>
                        </a:rPr>
                        <a:t>Competitor A</a:t>
                      </a:r>
                    </a:p>
                  </a:txBody>
                  <a:tcPr>
                    <a:solidFill>
                      <a:srgbClr val="2E5090"/>
                    </a:solidFill>
                  </a:tcPr>
                </a:tc>
                <a:tc>
                  <a:txBody>
                    <a:bodyPr/>
                    <a:lstStyle/>
                    <a:p>
                      <a:pPr algn="ctr"/>
                      <a:r>
                        <a:rPr sz="1200" b="1">
                          <a:solidFill>
                            <a:srgbClr val="FFFFFF"/>
                          </a:solidFill>
                          <a:latin typeface="Calibri"/>
                        </a:rPr>
                        <a:t>Market Average</a:t>
                      </a:r>
                    </a:p>
                  </a:txBody>
                  <a:tcPr>
                    <a:solidFill>
                      <a:srgbClr val="2E5090"/>
                    </a:solidFill>
                  </a:tcPr>
                </a:tc>
              </a:tr>
              <a:tr h="386307">
                <a:tc>
                  <a:txBody>
                    <a:bodyPr/>
                    <a:lstStyle/>
                    <a:p>
                      <a:pPr algn="l"/>
                      <a:r>
                        <a:rPr sz="1100" b="0">
                          <a:solidFill>
                            <a:srgbClr val="000000"/>
                          </a:solidFill>
                          <a:latin typeface="Calibri"/>
                        </a:rPr>
                        <a:t>Metaverse Showroom</a:t>
                      </a:r>
                    </a:p>
                  </a:txBody>
                  <a:tcPr>
                    <a:solidFill>
                      <a:srgbClr val="F0F4FF"/>
                    </a:solidFill>
                  </a:tcPr>
                </a:tc>
                <a:tc>
                  <a:txBody>
                    <a:bodyPr/>
                    <a:lstStyle/>
                    <a:p>
                      <a:pPr algn="ctr"/>
                      <a:r>
                        <a:rPr sz="1100" b="0">
                          <a:solidFill>
                            <a:srgbClr val="1B5E20"/>
                          </a:solidFill>
                          <a:latin typeface="Calibri"/>
                        </a:rPr>
                        <a:t>✅ Full</a:t>
                      </a:r>
                    </a:p>
                  </a:txBody>
                  <a:tcPr>
                    <a:solidFill>
                      <a:srgbClr val="E8F5E9"/>
                    </a:solidFill>
                  </a:tcPr>
                </a:tc>
                <a:tc>
                  <a:txBody>
                    <a:bodyPr/>
                    <a:lstStyle/>
                    <a:p>
                      <a:pPr algn="ctr"/>
                      <a:r>
                        <a:rPr sz="1100" b="0">
                          <a:solidFill>
                            <a:srgbClr val="8B0000"/>
                          </a:solidFill>
                          <a:latin typeface="Calibri"/>
                        </a:rPr>
                        <a:t>⚡ Limited</a:t>
                      </a:r>
                    </a:p>
                  </a:txBody>
                  <a:tcPr>
                    <a:solidFill>
                      <a:srgbClr val="FFF8F8"/>
                    </a:solidFill>
                  </a:tcPr>
                </a:tc>
                <a:tc>
                  <a:txBody>
                    <a:bodyPr/>
                    <a:lstStyle/>
                    <a:p>
                      <a:pPr algn="ctr"/>
                      <a:r>
                        <a:rPr sz="1100" b="0">
                          <a:solidFill>
                            <a:srgbClr val="8B0000"/>
                          </a:solidFill>
                          <a:latin typeface="Calibri"/>
                        </a:rPr>
                        <a:t>❌</a:t>
                      </a:r>
                    </a:p>
                  </a:txBody>
                  <a:tcPr>
                    <a:solidFill>
                      <a:srgbClr val="FFF8F8"/>
                    </a:solidFill>
                  </a:tcPr>
                </a:tc>
              </a:tr>
              <a:tr h="386307">
                <a:tc>
                  <a:txBody>
                    <a:bodyPr/>
                    <a:lstStyle/>
                    <a:p>
                      <a:pPr algn="l"/>
                      <a:r>
                        <a:rPr sz="1100" b="0">
                          <a:solidFill>
                            <a:srgbClr val="000000"/>
                          </a:solidFill>
                          <a:latin typeface="Calibri"/>
                        </a:rPr>
                        <a:t>AI Behavioral Scoring</a:t>
                      </a:r>
                    </a:p>
                  </a:txBody>
                  <a:tcPr>
                    <a:solidFill>
                      <a:srgbClr val="F0F4FF"/>
                    </a:solidFill>
                  </a:tcPr>
                </a:tc>
                <a:tc>
                  <a:txBody>
                    <a:bodyPr/>
                    <a:lstStyle/>
                    <a:p>
                      <a:pPr algn="ctr"/>
                      <a:r>
                        <a:rPr sz="1100" b="0">
                          <a:solidFill>
                            <a:srgbClr val="1B5E20"/>
                          </a:solidFill>
                          <a:latin typeface="Calibri"/>
                        </a:rPr>
                        <a:t>✅</a:t>
                      </a:r>
                    </a:p>
                  </a:txBody>
                  <a:tcPr>
                    <a:solidFill>
                      <a:srgbClr val="E8F5E9"/>
                    </a:solidFill>
                  </a:tcPr>
                </a:tc>
                <a:tc>
                  <a:txBody>
                    <a:bodyPr/>
                    <a:lstStyle/>
                    <a:p>
                      <a:pPr algn="ctr"/>
                      <a:r>
                        <a:rPr sz="1100" b="0">
                          <a:solidFill>
                            <a:srgbClr val="8B0000"/>
                          </a:solidFill>
                          <a:latin typeface="Calibri"/>
                        </a:rPr>
                        <a:t>❌</a:t>
                      </a:r>
                    </a:p>
                  </a:txBody>
                  <a:tcPr>
                    <a:solidFill>
                      <a:srgbClr val="FFF8F8"/>
                    </a:solidFill>
                  </a:tcPr>
                </a:tc>
                <a:tc>
                  <a:txBody>
                    <a:bodyPr/>
                    <a:lstStyle/>
                    <a:p>
                      <a:pPr algn="ctr"/>
                      <a:r>
                        <a:rPr sz="1100" b="0">
                          <a:solidFill>
                            <a:srgbClr val="8B0000"/>
                          </a:solidFill>
                          <a:latin typeface="Calibri"/>
                        </a:rPr>
                        <a:t>❌</a:t>
                      </a:r>
                    </a:p>
                  </a:txBody>
                  <a:tcPr>
                    <a:solidFill>
                      <a:srgbClr val="FFF8F8"/>
                    </a:solidFill>
                  </a:tcPr>
                </a:tc>
              </a:tr>
              <a:tr h="386307">
                <a:tc>
                  <a:txBody>
                    <a:bodyPr/>
                    <a:lstStyle/>
                    <a:p>
                      <a:pPr algn="l"/>
                      <a:r>
                        <a:rPr sz="1100" b="0">
                          <a:solidFill>
                            <a:srgbClr val="000000"/>
                          </a:solidFill>
                          <a:latin typeface="Calibri"/>
                        </a:rPr>
                        <a:t>Post-sale Ecosystem</a:t>
                      </a:r>
                    </a:p>
                  </a:txBody>
                  <a:tcPr>
                    <a:solidFill>
                      <a:srgbClr val="F0F4FF"/>
                    </a:solidFill>
                  </a:tcPr>
                </a:tc>
                <a:tc>
                  <a:txBody>
                    <a:bodyPr/>
                    <a:lstStyle/>
                    <a:p>
                      <a:pPr algn="ctr"/>
                      <a:r>
                        <a:rPr sz="1100" b="0">
                          <a:solidFill>
                            <a:srgbClr val="1B5E20"/>
                          </a:solidFill>
                          <a:latin typeface="Calibri"/>
                        </a:rPr>
                        <a:t>✅ Full</a:t>
                      </a:r>
                    </a:p>
                  </a:txBody>
                  <a:tcPr>
                    <a:solidFill>
                      <a:srgbClr val="E8F5E9"/>
                    </a:solidFill>
                  </a:tcPr>
                </a:tc>
                <a:tc>
                  <a:txBody>
                    <a:bodyPr/>
                    <a:lstStyle/>
                    <a:p>
                      <a:pPr algn="ctr"/>
                      <a:r>
                        <a:rPr sz="1100" b="0">
                          <a:solidFill>
                            <a:srgbClr val="8B0000"/>
                          </a:solidFill>
                          <a:latin typeface="Calibri"/>
                        </a:rPr>
                        <a:t>❌</a:t>
                      </a:r>
                    </a:p>
                  </a:txBody>
                  <a:tcPr>
                    <a:solidFill>
                      <a:srgbClr val="FFF8F8"/>
                    </a:solidFill>
                  </a:tcPr>
                </a:tc>
                <a:tc>
                  <a:txBody>
                    <a:bodyPr/>
                    <a:lstStyle/>
                    <a:p>
                      <a:pPr algn="ctr"/>
                      <a:r>
                        <a:rPr sz="1100" b="0">
                          <a:solidFill>
                            <a:srgbClr val="8B0000"/>
                          </a:solidFill>
                          <a:latin typeface="Calibri"/>
                        </a:rPr>
                        <a:t>❌</a:t>
                      </a:r>
                    </a:p>
                  </a:txBody>
                  <a:tcPr>
                    <a:solidFill>
                      <a:srgbClr val="FFF8F8"/>
                    </a:solidFill>
                  </a:tcPr>
                </a:tc>
              </a:tr>
              <a:tr h="386307">
                <a:tc>
                  <a:txBody>
                    <a:bodyPr/>
                    <a:lstStyle/>
                    <a:p>
                      <a:pPr algn="l"/>
                      <a:r>
                        <a:rPr sz="1100" b="0">
                          <a:solidFill>
                            <a:srgbClr val="000000"/>
                          </a:solidFill>
                          <a:latin typeface="Calibri"/>
                        </a:rPr>
                        <a:t>Unified Data Platform</a:t>
                      </a:r>
                    </a:p>
                  </a:txBody>
                  <a:tcPr>
                    <a:solidFill>
                      <a:srgbClr val="F0F4FF"/>
                    </a:solidFill>
                  </a:tcPr>
                </a:tc>
                <a:tc>
                  <a:txBody>
                    <a:bodyPr/>
                    <a:lstStyle/>
                    <a:p>
                      <a:pPr algn="ctr"/>
                      <a:r>
                        <a:rPr sz="1100" b="0">
                          <a:solidFill>
                            <a:srgbClr val="1B5E20"/>
                          </a:solidFill>
                          <a:latin typeface="Calibri"/>
                        </a:rPr>
                        <a:t>✅</a:t>
                      </a:r>
                    </a:p>
                  </a:txBody>
                  <a:tcPr>
                    <a:solidFill>
                      <a:srgbClr val="E8F5E9"/>
                    </a:solidFill>
                  </a:tcPr>
                </a:tc>
                <a:tc>
                  <a:txBody>
                    <a:bodyPr/>
                    <a:lstStyle/>
                    <a:p>
                      <a:pPr algn="ctr"/>
                      <a:r>
                        <a:rPr sz="1100" b="0">
                          <a:solidFill>
                            <a:srgbClr val="8B0000"/>
                          </a:solidFill>
                          <a:latin typeface="Calibri"/>
                        </a:rPr>
                        <a:t>❌</a:t>
                      </a:r>
                    </a:p>
                  </a:txBody>
                  <a:tcPr>
                    <a:solidFill>
                      <a:srgbClr val="FFF8F8"/>
                    </a:solidFill>
                  </a:tcPr>
                </a:tc>
                <a:tc>
                  <a:txBody>
                    <a:bodyPr/>
                    <a:lstStyle/>
                    <a:p>
                      <a:pPr algn="ctr"/>
                      <a:r>
                        <a:rPr sz="1100" b="0">
                          <a:solidFill>
                            <a:srgbClr val="8B0000"/>
                          </a:solidFill>
                          <a:latin typeface="Calibri"/>
                        </a:rPr>
                        <a:t>⚡ Limited</a:t>
                      </a:r>
                    </a:p>
                  </a:txBody>
                  <a:tcPr>
                    <a:solidFill>
                      <a:srgbClr val="FFF8F8"/>
                    </a:solidFill>
                  </a:tcPr>
                </a:tc>
              </a:tr>
              <a:tr h="386307">
                <a:tc>
                  <a:txBody>
                    <a:bodyPr/>
                    <a:lstStyle/>
                    <a:p>
                      <a:pPr algn="l"/>
                      <a:r>
                        <a:rPr sz="1100" b="0">
                          <a:solidFill>
                            <a:srgbClr val="000000"/>
                          </a:solidFill>
                          <a:latin typeface="Calibri"/>
                        </a:rPr>
                        <a:t>Partner Marketplace</a:t>
                      </a:r>
                    </a:p>
                  </a:txBody>
                  <a:tcPr>
                    <a:solidFill>
                      <a:srgbClr val="F0F4FF"/>
                    </a:solidFill>
                  </a:tcPr>
                </a:tc>
                <a:tc>
                  <a:txBody>
                    <a:bodyPr/>
                    <a:lstStyle/>
                    <a:p>
                      <a:pPr algn="ctr"/>
                      <a:r>
                        <a:rPr sz="1100" b="0">
                          <a:solidFill>
                            <a:srgbClr val="1B5E20"/>
                          </a:solidFill>
                          <a:latin typeface="Calibri"/>
                        </a:rPr>
                        <a:t>✅</a:t>
                      </a:r>
                    </a:p>
                  </a:txBody>
                  <a:tcPr>
                    <a:solidFill>
                      <a:srgbClr val="E8F5E9"/>
                    </a:solidFill>
                  </a:tcPr>
                </a:tc>
                <a:tc>
                  <a:txBody>
                    <a:bodyPr/>
                    <a:lstStyle/>
                    <a:p>
                      <a:pPr algn="ctr"/>
                      <a:r>
                        <a:rPr sz="1100" b="0">
                          <a:solidFill>
                            <a:srgbClr val="8B0000"/>
                          </a:solidFill>
                          <a:latin typeface="Calibri"/>
                        </a:rPr>
                        <a:t>❌</a:t>
                      </a:r>
                    </a:p>
                  </a:txBody>
                  <a:tcPr>
                    <a:solidFill>
                      <a:srgbClr val="FFF8F8"/>
                    </a:solidFill>
                  </a:tcPr>
                </a:tc>
                <a:tc>
                  <a:txBody>
                    <a:bodyPr/>
                    <a:lstStyle/>
                    <a:p>
                      <a:pPr algn="ctr"/>
                      <a:r>
                        <a:rPr sz="1100" b="0">
                          <a:solidFill>
                            <a:srgbClr val="8B0000"/>
                          </a:solidFill>
                          <a:latin typeface="Calibri"/>
                        </a:rPr>
                        <a:t>❌</a:t>
                      </a:r>
                    </a:p>
                  </a:txBody>
                  <a:tcPr>
                    <a:solidFill>
                      <a:srgbClr val="FFF8F8"/>
                    </a:solidFill>
                  </a:tcPr>
                </a:tc>
              </a:tr>
              <a:tr h="386307">
                <a:tc>
                  <a:txBody>
                    <a:bodyPr/>
                    <a:lstStyle/>
                    <a:p>
                      <a:pPr algn="l"/>
                      <a:r>
                        <a:rPr sz="1100" b="0">
                          <a:solidFill>
                            <a:srgbClr val="000000"/>
                          </a:solidFill>
                          <a:latin typeface="Calibri"/>
                        </a:rPr>
                        <a:t>O2O Journey Bridge</a:t>
                      </a:r>
                    </a:p>
                  </a:txBody>
                  <a:tcPr>
                    <a:solidFill>
                      <a:srgbClr val="F0F4FF"/>
                    </a:solidFill>
                  </a:tcPr>
                </a:tc>
                <a:tc>
                  <a:txBody>
                    <a:bodyPr/>
                    <a:lstStyle/>
                    <a:p>
                      <a:pPr algn="ctr"/>
                      <a:r>
                        <a:rPr sz="1100" b="0">
                          <a:solidFill>
                            <a:srgbClr val="1B5E20"/>
                          </a:solidFill>
                          <a:latin typeface="Calibri"/>
                        </a:rPr>
                        <a:t>✅</a:t>
                      </a:r>
                    </a:p>
                  </a:txBody>
                  <a:tcPr>
                    <a:solidFill>
                      <a:srgbClr val="E8F5E9"/>
                    </a:solidFill>
                  </a:tcPr>
                </a:tc>
                <a:tc>
                  <a:txBody>
                    <a:bodyPr/>
                    <a:lstStyle/>
                    <a:p>
                      <a:pPr algn="ctr"/>
                      <a:r>
                        <a:rPr sz="1100" b="0">
                          <a:solidFill>
                            <a:srgbClr val="8B0000"/>
                          </a:solidFill>
                          <a:latin typeface="Calibri"/>
                        </a:rPr>
                        <a:t>❌</a:t>
                      </a:r>
                    </a:p>
                  </a:txBody>
                  <a:tcPr>
                    <a:solidFill>
                      <a:srgbClr val="FFF8F8"/>
                    </a:solidFill>
                  </a:tcPr>
                </a:tc>
                <a:tc>
                  <a:txBody>
                    <a:bodyPr/>
                    <a:lstStyle/>
                    <a:p>
                      <a:pPr algn="ctr"/>
                      <a:r>
                        <a:rPr sz="1100" b="0">
                          <a:solidFill>
                            <a:srgbClr val="8B0000"/>
                          </a:solidFill>
                          <a:latin typeface="Calibri"/>
                        </a:rPr>
                        <a:t>❌</a:t>
                      </a:r>
                    </a:p>
                  </a:txBody>
                  <a:tcPr>
                    <a:solidFill>
                      <a:srgbClr val="FFF8F8"/>
                    </a:solidFill>
                  </a:tcPr>
                </a:tc>
              </a:tr>
              <a:tr h="386307">
                <a:tc>
                  <a:txBody>
                    <a:bodyPr/>
                    <a:lstStyle/>
                    <a:p>
                      <a:pPr algn="l"/>
                      <a:r>
                        <a:rPr sz="1100" b="0">
                          <a:solidFill>
                            <a:srgbClr val="000000"/>
                          </a:solidFill>
                          <a:latin typeface="Calibri"/>
                        </a:rPr>
                        <a:t>Multi-project Scalable</a:t>
                      </a:r>
                    </a:p>
                  </a:txBody>
                  <a:tcPr>
                    <a:solidFill>
                      <a:srgbClr val="F0F4FF"/>
                    </a:solidFill>
                  </a:tcPr>
                </a:tc>
                <a:tc>
                  <a:txBody>
                    <a:bodyPr/>
                    <a:lstStyle/>
                    <a:p>
                      <a:pPr algn="ctr"/>
                      <a:r>
                        <a:rPr sz="1100" b="0">
                          <a:solidFill>
                            <a:srgbClr val="1B5E20"/>
                          </a:solidFill>
                          <a:latin typeface="Calibri"/>
                        </a:rPr>
                        <a:t>✅</a:t>
                      </a:r>
                    </a:p>
                  </a:txBody>
                  <a:tcPr>
                    <a:solidFill>
                      <a:srgbClr val="E8F5E9"/>
                    </a:solidFill>
                  </a:tcPr>
                </a:tc>
                <a:tc>
                  <a:txBody>
                    <a:bodyPr/>
                    <a:lstStyle/>
                    <a:p>
                      <a:pPr algn="ctr"/>
                      <a:r>
                        <a:rPr sz="1100" b="0">
                          <a:solidFill>
                            <a:srgbClr val="8B0000"/>
                          </a:solidFill>
                          <a:latin typeface="Calibri"/>
                        </a:rPr>
                        <a:t>❌</a:t>
                      </a:r>
                    </a:p>
                  </a:txBody>
                  <a:tcPr>
                    <a:solidFill>
                      <a:srgbClr val="FFF8F8"/>
                    </a:solidFill>
                  </a:tcPr>
                </a:tc>
                <a:tc>
                  <a:txBody>
                    <a:bodyPr/>
                    <a:lstStyle/>
                    <a:p>
                      <a:pPr algn="ctr"/>
                      <a:r>
                        <a:rPr sz="1100" b="0">
                          <a:solidFill>
                            <a:srgbClr val="8B0000"/>
                          </a:solidFill>
                          <a:latin typeface="Calibri"/>
                        </a:rPr>
                        <a:t>⚡</a:t>
                      </a:r>
                    </a:p>
                  </a:txBody>
                  <a:tcPr>
                    <a:solidFill>
                      <a:srgbClr val="FFF8F8"/>
                    </a:solidFill>
                  </a:tcPr>
                </a:tc>
              </a:tr>
              <a:tr h="386307">
                <a:tc>
                  <a:txBody>
                    <a:bodyPr/>
                    <a:lstStyle/>
                    <a:p>
                      <a:pPr algn="l"/>
                      <a:r>
                        <a:rPr sz="1100" b="0">
                          <a:solidFill>
                            <a:srgbClr val="000000"/>
                          </a:solidFill>
                          <a:latin typeface="Calibri"/>
                        </a:rPr>
                        <a:t>Smart Home Integration</a:t>
                      </a:r>
                    </a:p>
                  </a:txBody>
                  <a:tcPr>
                    <a:solidFill>
                      <a:srgbClr val="F0F4FF"/>
                    </a:solidFill>
                  </a:tcPr>
                </a:tc>
                <a:tc>
                  <a:txBody>
                    <a:bodyPr/>
                    <a:lstStyle/>
                    <a:p>
                      <a:pPr algn="ctr"/>
                      <a:r>
                        <a:rPr sz="1100" b="0">
                          <a:solidFill>
                            <a:srgbClr val="1B5E20"/>
                          </a:solidFill>
                          <a:latin typeface="Calibri"/>
                        </a:rPr>
                        <a:t>✅</a:t>
                      </a:r>
                    </a:p>
                  </a:txBody>
                  <a:tcPr>
                    <a:solidFill>
                      <a:srgbClr val="E8F5E9"/>
                    </a:solidFill>
                  </a:tcPr>
                </a:tc>
                <a:tc>
                  <a:txBody>
                    <a:bodyPr/>
                    <a:lstStyle/>
                    <a:p>
                      <a:pPr algn="ctr"/>
                      <a:r>
                        <a:rPr sz="1100" b="0">
                          <a:solidFill>
                            <a:srgbClr val="8B0000"/>
                          </a:solidFill>
                          <a:latin typeface="Calibri"/>
                        </a:rPr>
                        <a:t>❌</a:t>
                      </a:r>
                    </a:p>
                  </a:txBody>
                  <a:tcPr>
                    <a:solidFill>
                      <a:srgbClr val="FFF8F8"/>
                    </a:solidFill>
                  </a:tcPr>
                </a:tc>
                <a:tc>
                  <a:txBody>
                    <a:bodyPr/>
                    <a:lstStyle/>
                    <a:p>
                      <a:pPr algn="ctr"/>
                      <a:r>
                        <a:rPr sz="1100" b="0">
                          <a:solidFill>
                            <a:srgbClr val="8B0000"/>
                          </a:solidFill>
                          <a:latin typeface="Calibri"/>
                        </a:rPr>
                        <a:t>❌</a:t>
                      </a:r>
                    </a:p>
                  </a:txBody>
                  <a:tcPr>
                    <a:solidFill>
                      <a:srgbClr val="FFF8F8"/>
                    </a:solidFill>
                  </a:tcPr>
                </a:tc>
              </a:tr>
              <a:tr h="386307">
                <a:tc>
                  <a:txBody>
                    <a:bodyPr/>
                    <a:lstStyle/>
                    <a:p>
                      <a:pPr algn="l"/>
                      <a:r>
                        <a:rPr sz="1100" b="0">
                          <a:solidFill>
                            <a:srgbClr val="000000"/>
                          </a:solidFill>
                          <a:latin typeface="Calibri"/>
                        </a:rPr>
                        <a:t>AI Concierge</a:t>
                      </a:r>
                    </a:p>
                  </a:txBody>
                  <a:tcPr>
                    <a:solidFill>
                      <a:srgbClr val="F0F4FF"/>
                    </a:solidFill>
                  </a:tcPr>
                </a:tc>
                <a:tc>
                  <a:txBody>
                    <a:bodyPr/>
                    <a:lstStyle/>
                    <a:p>
                      <a:pPr algn="ctr"/>
                      <a:r>
                        <a:rPr sz="1100" b="0">
                          <a:solidFill>
                            <a:srgbClr val="1B5E20"/>
                          </a:solidFill>
                          <a:latin typeface="Calibri"/>
                        </a:rPr>
                        <a:t>✅</a:t>
                      </a:r>
                    </a:p>
                  </a:txBody>
                  <a:tcPr>
                    <a:solidFill>
                      <a:srgbClr val="E8F5E9"/>
                    </a:solidFill>
                  </a:tcPr>
                </a:tc>
                <a:tc>
                  <a:txBody>
                    <a:bodyPr/>
                    <a:lstStyle/>
                    <a:p>
                      <a:pPr algn="ctr"/>
                      <a:r>
                        <a:rPr sz="1100" b="0">
                          <a:solidFill>
                            <a:srgbClr val="8B0000"/>
                          </a:solidFill>
                          <a:latin typeface="Calibri"/>
                        </a:rPr>
                        <a:t>❌</a:t>
                      </a:r>
                    </a:p>
                  </a:txBody>
                  <a:tcPr>
                    <a:solidFill>
                      <a:srgbClr val="FFF8F8"/>
                    </a:solidFill>
                  </a:tcPr>
                </a:tc>
                <a:tc>
                  <a:txBody>
                    <a:bodyPr/>
                    <a:lstStyle/>
                    <a:p>
                      <a:pPr algn="ctr"/>
                      <a:r>
                        <a:rPr sz="1100" b="0">
                          <a:solidFill>
                            <a:srgbClr val="8B0000"/>
                          </a:solidFill>
                          <a:latin typeface="Calibri"/>
                        </a:rPr>
                        <a:t>❌</a:t>
                      </a:r>
                    </a:p>
                  </a:txBody>
                  <a:tcPr>
                    <a:solidFill>
                      <a:srgbClr val="FFF8F8"/>
                    </a:solidFill>
                  </a:tcPr>
                </a:tc>
              </a:tr>
              <a:tr h="386307">
                <a:tc>
                  <a:txBody>
                    <a:bodyPr/>
                    <a:lstStyle/>
                    <a:p>
                      <a:pPr algn="l"/>
                      <a:r>
                        <a:rPr sz="1100" b="0">
                          <a:solidFill>
                            <a:srgbClr val="000000"/>
                          </a:solidFill>
                          <a:latin typeface="Calibri"/>
                        </a:rPr>
                        <a:t>Live Guided Tour</a:t>
                      </a:r>
                    </a:p>
                  </a:txBody>
                  <a:tcPr>
                    <a:solidFill>
                      <a:srgbClr val="F0F4FF"/>
                    </a:solidFill>
                  </a:tcPr>
                </a:tc>
                <a:tc>
                  <a:txBody>
                    <a:bodyPr/>
                    <a:lstStyle/>
                    <a:p>
                      <a:pPr algn="ctr"/>
                      <a:r>
                        <a:rPr sz="1100" b="0">
                          <a:solidFill>
                            <a:srgbClr val="1B5E20"/>
                          </a:solidFill>
                          <a:latin typeface="Calibri"/>
                        </a:rPr>
                        <a:t>✅</a:t>
                      </a:r>
                    </a:p>
                  </a:txBody>
                  <a:tcPr>
                    <a:solidFill>
                      <a:srgbClr val="E8F5E9"/>
                    </a:solidFill>
                  </a:tcPr>
                </a:tc>
                <a:tc>
                  <a:txBody>
                    <a:bodyPr/>
                    <a:lstStyle/>
                    <a:p>
                      <a:pPr algn="ctr"/>
                      <a:r>
                        <a:rPr sz="1100" b="0">
                          <a:solidFill>
                            <a:srgbClr val="8B0000"/>
                          </a:solidFill>
                          <a:latin typeface="Calibri"/>
                        </a:rPr>
                        <a:t>⚡</a:t>
                      </a:r>
                    </a:p>
                  </a:txBody>
                  <a:tcPr>
                    <a:solidFill>
                      <a:srgbClr val="FFF8F8"/>
                    </a:solidFill>
                  </a:tcPr>
                </a:tc>
                <a:tc>
                  <a:txBody>
                    <a:bodyPr/>
                    <a:lstStyle/>
                    <a:p>
                      <a:pPr algn="ctr"/>
                      <a:r>
                        <a:rPr sz="1100" b="0">
                          <a:solidFill>
                            <a:srgbClr val="8B0000"/>
                          </a:solidFill>
                          <a:latin typeface="Calibri"/>
                        </a:rPr>
                        <a:t>❌</a:t>
                      </a:r>
                    </a:p>
                  </a:txBody>
                  <a:tcPr>
                    <a:solidFill>
                      <a:srgbClr val="FFF8F8"/>
                    </a:solidFill>
                  </a:tcPr>
                </a:tc>
              </a:tr>
              <a:tr h="386307">
                <a:tc>
                  <a:txBody>
                    <a:bodyPr/>
                    <a:lstStyle/>
                    <a:p>
                      <a:pPr algn="l"/>
                      <a:r>
                        <a:rPr sz="1100" b="0">
                          <a:solidFill>
                            <a:srgbClr val="000000"/>
                          </a:solidFill>
                          <a:latin typeface="Calibri"/>
                        </a:rPr>
                        <a:t>Auto-Proposal Gen</a:t>
                      </a:r>
                    </a:p>
                  </a:txBody>
                  <a:tcPr>
                    <a:solidFill>
                      <a:srgbClr val="F0F4FF"/>
                    </a:solidFill>
                  </a:tcPr>
                </a:tc>
                <a:tc>
                  <a:txBody>
                    <a:bodyPr/>
                    <a:lstStyle/>
                    <a:p>
                      <a:pPr algn="ctr"/>
                      <a:r>
                        <a:rPr sz="1100" b="0">
                          <a:solidFill>
                            <a:srgbClr val="1B5E20"/>
                          </a:solidFill>
                          <a:latin typeface="Calibri"/>
                        </a:rPr>
                        <a:t>✅</a:t>
                      </a:r>
                    </a:p>
                  </a:txBody>
                  <a:tcPr>
                    <a:solidFill>
                      <a:srgbClr val="E8F5E9"/>
                    </a:solidFill>
                  </a:tcPr>
                </a:tc>
                <a:tc>
                  <a:txBody>
                    <a:bodyPr/>
                    <a:lstStyle/>
                    <a:p>
                      <a:pPr algn="ctr"/>
                      <a:r>
                        <a:rPr sz="1100" b="0">
                          <a:solidFill>
                            <a:srgbClr val="8B0000"/>
                          </a:solidFill>
                          <a:latin typeface="Calibri"/>
                        </a:rPr>
                        <a:t>❌</a:t>
                      </a:r>
                    </a:p>
                  </a:txBody>
                  <a:tcPr>
                    <a:solidFill>
                      <a:srgbClr val="FFF8F8"/>
                    </a:solidFill>
                  </a:tcPr>
                </a:tc>
                <a:tc>
                  <a:txBody>
                    <a:bodyPr/>
                    <a:lstStyle/>
                    <a:p>
                      <a:pPr algn="ctr"/>
                      <a:r>
                        <a:rPr sz="1100" b="0">
                          <a:solidFill>
                            <a:srgbClr val="8B0000"/>
                          </a:solidFill>
                          <a:latin typeface="Calibri"/>
                        </a:rPr>
                        <a:t>❌</a:t>
                      </a:r>
                    </a:p>
                  </a:txBody>
                  <a:tcPr>
                    <a:solidFill>
                      <a:srgbClr val="FFF8F8"/>
                    </a:solidFill>
                  </a:tcPr>
                </a:tc>
              </a:tr>
              <a:tr h="386316">
                <a:tc>
                  <a:txBody>
                    <a:bodyPr/>
                    <a:lstStyle/>
                    <a:p>
                      <a:pPr algn="l"/>
                      <a:r>
                        <a:rPr sz="1100" b="0">
                          <a:solidFill>
                            <a:srgbClr val="000000"/>
                          </a:solidFill>
                          <a:latin typeface="Calibri"/>
                        </a:rPr>
                        <a:t>Loyalty Ecosystem</a:t>
                      </a:r>
                    </a:p>
                  </a:txBody>
                  <a:tcPr>
                    <a:solidFill>
                      <a:srgbClr val="F0F4FF"/>
                    </a:solidFill>
                  </a:tcPr>
                </a:tc>
                <a:tc>
                  <a:txBody>
                    <a:bodyPr/>
                    <a:lstStyle/>
                    <a:p>
                      <a:pPr algn="ctr"/>
                      <a:r>
                        <a:rPr sz="1100" b="0">
                          <a:solidFill>
                            <a:srgbClr val="1B5E20"/>
                          </a:solidFill>
                          <a:latin typeface="Calibri"/>
                        </a:rPr>
                        <a:t>✅</a:t>
                      </a:r>
                    </a:p>
                  </a:txBody>
                  <a:tcPr>
                    <a:solidFill>
                      <a:srgbClr val="E8F5E9"/>
                    </a:solidFill>
                  </a:tcPr>
                </a:tc>
                <a:tc>
                  <a:txBody>
                    <a:bodyPr/>
                    <a:lstStyle/>
                    <a:p>
                      <a:pPr algn="ctr"/>
                      <a:r>
                        <a:rPr sz="1100" b="0">
                          <a:solidFill>
                            <a:srgbClr val="8B0000"/>
                          </a:solidFill>
                          <a:latin typeface="Calibri"/>
                        </a:rPr>
                        <a:t>❌</a:t>
                      </a:r>
                    </a:p>
                  </a:txBody>
                  <a:tcPr>
                    <a:solidFill>
                      <a:srgbClr val="FFF8F8"/>
                    </a:solidFill>
                  </a:tcPr>
                </a:tc>
                <a:tc>
                  <a:txBody>
                    <a:bodyPr/>
                    <a:lstStyle/>
                    <a:p>
                      <a:pPr algn="ctr"/>
                      <a:r>
                        <a:rPr sz="1100" b="0">
                          <a:solidFill>
                            <a:srgbClr val="8B0000"/>
                          </a:solidFill>
                          <a:latin typeface="Calibri"/>
                        </a:rPr>
                        <a:t>❌</a:t>
                      </a:r>
                    </a:p>
                  </a:txBody>
                  <a:tcPr>
                    <a:solidFill>
                      <a:srgbClr val="FFF8F8"/>
                    </a:solidFill>
                  </a:tcPr>
                </a:tc>
              </a:tr>
            </a:tbl>
          </a:graphicData>
        </a:graphic>
      </p:graphicFrame>
      <p:sp>
        <p:nvSpPr>
          <p:cNvPr id="4" name="TextBox 3"/>
          <p:cNvSpPr txBox="1"/>
          <p:nvPr/>
        </p:nvSpPr>
        <p:spPr>
          <a:xfrm>
            <a:off x="432000" y="6174000"/>
            <a:ext cx="11329200" cy="288000"/>
          </a:xfrm>
          <a:prstGeom prst="rect">
            <a:avLst/>
          </a:prstGeom>
          <a:noFill/>
        </p:spPr>
        <p:txBody>
          <a:bodyPr wrap="square">
            <a:spAutoFit/>
          </a:bodyPr>
          <a:lstStyle/>
          <a:p>
            <a:pPr algn="ctr"/>
            <a:r>
              <a:rPr sz="1200" b="1" i="1">
                <a:solidFill>
                  <a:srgbClr val="2E5090"/>
                </a:solidFill>
                <a:latin typeface="Calibri"/>
              </a:rPr>
              <a:t>First-mover advantage closes in 18–24 months. The window to lead is now.</a:t>
            </a:r>
          </a:p>
        </p:txBody>
      </p:sp>
      <p:sp>
        <p:nvSpPr>
          <p:cNvPr id="5" name="TextBox 4"/>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6" name="Connector 5"/>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473200" y="6462000"/>
            <a:ext cx="576000" cy="288000"/>
          </a:xfrm>
          <a:prstGeom prst="rect">
            <a:avLst/>
          </a:prstGeom>
          <a:noFill/>
        </p:spPr>
        <p:txBody>
          <a:bodyPr wrap="square">
            <a:spAutoFit/>
          </a:bodyPr>
          <a:lstStyle/>
          <a:p>
            <a:pPr algn="r"/>
            <a:r>
              <a:rPr sz="1000" b="0" i="0">
                <a:solidFill>
                  <a:srgbClr val="2E5090"/>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We've Stress-Tested Every Risk</a:t>
            </a:r>
          </a:p>
        </p:txBody>
      </p:sp>
      <p:graphicFrame>
        <p:nvGraphicFramePr>
          <p:cNvPr id="3" name="Table 2"/>
          <p:cNvGraphicFramePr>
            <a:graphicFrameLocks noGrp="1"/>
          </p:cNvGraphicFramePr>
          <p:nvPr/>
        </p:nvGraphicFramePr>
        <p:xfrm>
          <a:off x="432000" y="972000"/>
          <a:ext cx="11520000" cy="5094000"/>
        </p:xfrm>
        <a:graphic>
          <a:graphicData uri="http://schemas.openxmlformats.org/drawingml/2006/table">
            <a:tbl>
              <a:tblPr firstRow="1" bandRow="1">
                <a:tableStyleId>{5C22544A-7EE6-4342-B048-85BDC9FD1C3A}</a:tableStyleId>
              </a:tblPr>
              <a:tblGrid>
                <a:gridCol w="3960000"/>
                <a:gridCol w="1440000"/>
                <a:gridCol w="6120000"/>
              </a:tblGrid>
              <a:tr h="636750">
                <a:tc>
                  <a:txBody>
                    <a:bodyPr/>
                    <a:lstStyle/>
                    <a:p>
                      <a:pPr algn="ctr"/>
                      <a:r>
                        <a:rPr sz="1200" b="1">
                          <a:solidFill>
                            <a:srgbClr val="FFFFFF"/>
                          </a:solidFill>
                          <a:latin typeface="Calibri"/>
                        </a:rPr>
                        <a:t>Risk</a:t>
                      </a:r>
                    </a:p>
                  </a:txBody>
                  <a:tcPr>
                    <a:solidFill>
                      <a:srgbClr val="2E5090"/>
                    </a:solidFill>
                  </a:tcPr>
                </a:tc>
                <a:tc>
                  <a:txBody>
                    <a:bodyPr/>
                    <a:lstStyle/>
                    <a:p>
                      <a:pPr algn="ctr"/>
                      <a:r>
                        <a:rPr sz="1200" b="1">
                          <a:solidFill>
                            <a:srgbClr val="FFFFFF"/>
                          </a:solidFill>
                          <a:latin typeface="Calibri"/>
                        </a:rPr>
                        <a:t>Level</a:t>
                      </a:r>
                    </a:p>
                  </a:txBody>
                  <a:tcPr>
                    <a:solidFill>
                      <a:srgbClr val="2E5090"/>
                    </a:solidFill>
                  </a:tcPr>
                </a:tc>
                <a:tc>
                  <a:txBody>
                    <a:bodyPr/>
                    <a:lstStyle/>
                    <a:p>
                      <a:pPr algn="ctr"/>
                      <a:r>
                        <a:rPr sz="1200" b="1">
                          <a:solidFill>
                            <a:srgbClr val="FFFFFF"/>
                          </a:solidFill>
                          <a:latin typeface="Calibri"/>
                        </a:rPr>
                        <a:t>Mitigation</a:t>
                      </a:r>
                    </a:p>
                  </a:txBody>
                  <a:tcPr>
                    <a:solidFill>
                      <a:srgbClr val="2E5090"/>
                    </a:solidFill>
                  </a:tcPr>
                </a:tc>
              </a:tr>
              <a:tr h="636750">
                <a:tc>
                  <a:txBody>
                    <a:bodyPr/>
                    <a:lstStyle/>
                    <a:p>
                      <a:pPr algn="l"/>
                      <a:r>
                        <a:rPr sz="1100" b="0">
                          <a:solidFill>
                            <a:srgbClr val="000000"/>
                          </a:solidFill>
                          <a:latin typeface="Calibri"/>
                        </a:rPr>
                        <a:t>3D performance on mobile</a:t>
                      </a:r>
                    </a:p>
                  </a:txBody>
                  <a:tcPr>
                    <a:solidFill>
                      <a:srgbClr val="FFF0F0"/>
                    </a:solidFill>
                  </a:tcPr>
                </a:tc>
                <a:tc>
                  <a:txBody>
                    <a:bodyPr/>
                    <a:lstStyle/>
                    <a:p>
                      <a:pPr algn="ctr"/>
                      <a:r>
                        <a:rPr sz="1100" b="0">
                          <a:solidFill>
                            <a:srgbClr val="000000"/>
                          </a:solidFill>
                          <a:latin typeface="Calibri"/>
                        </a:rPr>
                        <a:t>🔴 High</a:t>
                      </a:r>
                    </a:p>
                  </a:txBody>
                  <a:tcPr>
                    <a:solidFill>
                      <a:srgbClr val="FFF0F0"/>
                    </a:solidFill>
                  </a:tcPr>
                </a:tc>
                <a:tc>
                  <a:txBody>
                    <a:bodyPr/>
                    <a:lstStyle/>
                    <a:p>
                      <a:pPr algn="l"/>
                      <a:r>
                        <a:rPr sz="1100" b="0">
                          <a:solidFill>
                            <a:srgbClr val="000000"/>
                          </a:solidFill>
                          <a:latin typeface="Calibri"/>
                        </a:rPr>
                        <a:t>CDN + progressive loading + LOD optimisation</a:t>
                      </a:r>
                    </a:p>
                  </a:txBody>
                  <a:tcPr>
                    <a:solidFill>
                      <a:srgbClr val="FFF0F0"/>
                    </a:solidFill>
                  </a:tcPr>
                </a:tc>
              </a:tr>
              <a:tr h="636750">
                <a:tc>
                  <a:txBody>
                    <a:bodyPr/>
                    <a:lstStyle/>
                    <a:p>
                      <a:pPr algn="l"/>
                      <a:r>
                        <a:rPr sz="1100" b="0">
                          <a:solidFill>
                            <a:srgbClr val="000000"/>
                          </a:solidFill>
                          <a:latin typeface="Calibri"/>
                        </a:rPr>
                        <a:t>AI Scoring latency</a:t>
                      </a:r>
                    </a:p>
                  </a:txBody>
                  <a:tcPr>
                    <a:solidFill>
                      <a:srgbClr val="FFFDE7"/>
                    </a:solidFill>
                  </a:tcPr>
                </a:tc>
                <a:tc>
                  <a:txBody>
                    <a:bodyPr/>
                    <a:lstStyle/>
                    <a:p>
                      <a:pPr algn="ctr"/>
                      <a:r>
                        <a:rPr sz="1100" b="0">
                          <a:solidFill>
                            <a:srgbClr val="000000"/>
                          </a:solidFill>
                          <a:latin typeface="Calibri"/>
                        </a:rPr>
                        <a:t>🟡 Medium</a:t>
                      </a:r>
                    </a:p>
                  </a:txBody>
                  <a:tcPr>
                    <a:solidFill>
                      <a:srgbClr val="FFFDE7"/>
                    </a:solidFill>
                  </a:tcPr>
                </a:tc>
                <a:tc>
                  <a:txBody>
                    <a:bodyPr/>
                    <a:lstStyle/>
                    <a:p>
                      <a:pPr algn="l"/>
                      <a:r>
                        <a:rPr sz="1100" b="0">
                          <a:solidFill>
                            <a:srgbClr val="000000"/>
                          </a:solidFill>
                          <a:latin typeface="Calibri"/>
                        </a:rPr>
                        <a:t>Edge computing + async processing</a:t>
                      </a:r>
                    </a:p>
                  </a:txBody>
                  <a:tcPr>
                    <a:solidFill>
                      <a:srgbClr val="FFFDE7"/>
                    </a:solidFill>
                  </a:tcPr>
                </a:tc>
              </a:tr>
              <a:tr h="636750">
                <a:tc>
                  <a:txBody>
                    <a:bodyPr/>
                    <a:lstStyle/>
                    <a:p>
                      <a:pPr algn="l"/>
                      <a:r>
                        <a:rPr sz="1100" b="0">
                          <a:solidFill>
                            <a:srgbClr val="000000"/>
                          </a:solidFill>
                          <a:latin typeface="Calibri"/>
                        </a:rPr>
                        <a:t>CRM/ERP integration complexity</a:t>
                      </a:r>
                    </a:p>
                  </a:txBody>
                  <a:tcPr>
                    <a:solidFill>
                      <a:srgbClr val="FFFDE7"/>
                    </a:solidFill>
                  </a:tcPr>
                </a:tc>
                <a:tc>
                  <a:txBody>
                    <a:bodyPr/>
                    <a:lstStyle/>
                    <a:p>
                      <a:pPr algn="ctr"/>
                      <a:r>
                        <a:rPr sz="1100" b="0">
                          <a:solidFill>
                            <a:srgbClr val="000000"/>
                          </a:solidFill>
                          <a:latin typeface="Calibri"/>
                        </a:rPr>
                        <a:t>🟡 Medium</a:t>
                      </a:r>
                    </a:p>
                  </a:txBody>
                  <a:tcPr>
                    <a:solidFill>
                      <a:srgbClr val="FFFDE7"/>
                    </a:solidFill>
                  </a:tcPr>
                </a:tc>
                <a:tc>
                  <a:txBody>
                    <a:bodyPr/>
                    <a:lstStyle/>
                    <a:p>
                      <a:pPr algn="l"/>
                      <a:r>
                        <a:rPr sz="1100" b="0">
                          <a:solidFill>
                            <a:srgbClr val="000000"/>
                          </a:solidFill>
                          <a:latin typeface="Calibri"/>
                        </a:rPr>
                        <a:t>API-first + middleware adapter</a:t>
                      </a:r>
                    </a:p>
                  </a:txBody>
                  <a:tcPr>
                    <a:solidFill>
                      <a:srgbClr val="FFFDE7"/>
                    </a:solidFill>
                  </a:tcPr>
                </a:tc>
              </a:tr>
              <a:tr h="636750">
                <a:tc>
                  <a:txBody>
                    <a:bodyPr/>
                    <a:lstStyle/>
                    <a:p>
                      <a:pPr algn="l"/>
                      <a:r>
                        <a:rPr sz="1100" b="0">
                          <a:solidFill>
                            <a:srgbClr val="000000"/>
                          </a:solidFill>
                          <a:latin typeface="Calibri"/>
                        </a:rPr>
                        <a:t>HNW data security</a:t>
                      </a:r>
                    </a:p>
                  </a:txBody>
                  <a:tcPr>
                    <a:solidFill>
                      <a:srgbClr val="FFF0F0"/>
                    </a:solidFill>
                  </a:tcPr>
                </a:tc>
                <a:tc>
                  <a:txBody>
                    <a:bodyPr/>
                    <a:lstStyle/>
                    <a:p>
                      <a:pPr algn="ctr"/>
                      <a:r>
                        <a:rPr sz="1100" b="0">
                          <a:solidFill>
                            <a:srgbClr val="000000"/>
                          </a:solidFill>
                          <a:latin typeface="Calibri"/>
                        </a:rPr>
                        <a:t>🔴 High</a:t>
                      </a:r>
                    </a:p>
                  </a:txBody>
                  <a:tcPr>
                    <a:solidFill>
                      <a:srgbClr val="FFF0F0"/>
                    </a:solidFill>
                  </a:tcPr>
                </a:tc>
                <a:tc>
                  <a:txBody>
                    <a:bodyPr/>
                    <a:lstStyle/>
                    <a:p>
                      <a:pPr algn="l"/>
                      <a:r>
                        <a:rPr sz="1100" b="0">
                          <a:solidFill>
                            <a:srgbClr val="000000"/>
                          </a:solidFill>
                          <a:latin typeface="Calibri"/>
                        </a:rPr>
                        <a:t>E2E encryption + PDPA + pen testing</a:t>
                      </a:r>
                    </a:p>
                  </a:txBody>
                  <a:tcPr>
                    <a:solidFill>
                      <a:srgbClr val="FFF0F0"/>
                    </a:solidFill>
                  </a:tcPr>
                </a:tc>
              </a:tr>
              <a:tr h="636750">
                <a:tc>
                  <a:txBody>
                    <a:bodyPr/>
                    <a:lstStyle/>
                    <a:p>
                      <a:pPr algn="l"/>
                      <a:r>
                        <a:rPr sz="1100" b="0">
                          <a:solidFill>
                            <a:srgbClr val="000000"/>
                          </a:solidFill>
                          <a:latin typeface="Calibri"/>
                        </a:rPr>
                        <a:t>Concierge app low adoption</a:t>
                      </a:r>
                    </a:p>
                  </a:txBody>
                  <a:tcPr>
                    <a:solidFill>
                      <a:srgbClr val="FFFDE7"/>
                    </a:solidFill>
                  </a:tcPr>
                </a:tc>
                <a:tc>
                  <a:txBody>
                    <a:bodyPr/>
                    <a:lstStyle/>
                    <a:p>
                      <a:pPr algn="ctr"/>
                      <a:r>
                        <a:rPr sz="1100" b="0">
                          <a:solidFill>
                            <a:srgbClr val="000000"/>
                          </a:solidFill>
                          <a:latin typeface="Calibri"/>
                        </a:rPr>
                        <a:t>🟡 Medium</a:t>
                      </a:r>
                    </a:p>
                  </a:txBody>
                  <a:tcPr>
                    <a:solidFill>
                      <a:srgbClr val="FFFDE7"/>
                    </a:solidFill>
                  </a:tcPr>
                </a:tc>
                <a:tc>
                  <a:txBody>
                    <a:bodyPr/>
                    <a:lstStyle/>
                    <a:p>
                      <a:pPr algn="l"/>
                      <a:r>
                        <a:rPr sz="1100" b="0">
                          <a:solidFill>
                            <a:srgbClr val="000000"/>
                          </a:solidFill>
                          <a:latin typeface="Calibri"/>
                        </a:rPr>
                        <a:t>White-glove onboarding + incentives</a:t>
                      </a:r>
                    </a:p>
                  </a:txBody>
                  <a:tcPr>
                    <a:solidFill>
                      <a:srgbClr val="FFFDE7"/>
                    </a:solidFill>
                  </a:tcPr>
                </a:tc>
              </a:tr>
              <a:tr h="636750">
                <a:tc>
                  <a:txBody>
                    <a:bodyPr/>
                    <a:lstStyle/>
                    <a:p>
                      <a:pPr algn="l"/>
                      <a:r>
                        <a:rPr sz="1100" b="0">
                          <a:solidFill>
                            <a:srgbClr val="000000"/>
                          </a:solidFill>
                          <a:latin typeface="Calibri"/>
                        </a:rPr>
                        <a:t>Vendor dependency</a:t>
                      </a:r>
                    </a:p>
                  </a:txBody>
                  <a:tcPr>
                    <a:solidFill>
                      <a:srgbClr val="FFFDE7"/>
                    </a:solidFill>
                  </a:tcPr>
                </a:tc>
                <a:tc>
                  <a:txBody>
                    <a:bodyPr/>
                    <a:lstStyle/>
                    <a:p>
                      <a:pPr algn="ctr"/>
                      <a:r>
                        <a:rPr sz="1100" b="0">
                          <a:solidFill>
                            <a:srgbClr val="000000"/>
                          </a:solidFill>
                          <a:latin typeface="Calibri"/>
                        </a:rPr>
                        <a:t>🟡 Medium</a:t>
                      </a:r>
                    </a:p>
                  </a:txBody>
                  <a:tcPr>
                    <a:solidFill>
                      <a:srgbClr val="FFFDE7"/>
                    </a:solidFill>
                  </a:tcPr>
                </a:tc>
                <a:tc>
                  <a:txBody>
                    <a:bodyPr/>
                    <a:lstStyle/>
                    <a:p>
                      <a:pPr algn="l"/>
                      <a:r>
                        <a:rPr sz="1100" b="0">
                          <a:solidFill>
                            <a:srgbClr val="000000"/>
                          </a:solidFill>
                          <a:latin typeface="Calibri"/>
                        </a:rPr>
                        <a:t>Multi-vendor + IP ownership contract</a:t>
                      </a:r>
                    </a:p>
                  </a:txBody>
                  <a:tcPr>
                    <a:solidFill>
                      <a:srgbClr val="FFFDE7"/>
                    </a:solidFill>
                  </a:tcPr>
                </a:tc>
              </a:tr>
              <a:tr h="636750">
                <a:tc>
                  <a:txBody>
                    <a:bodyPr/>
                    <a:lstStyle/>
                    <a:p>
                      <a:pPr algn="l"/>
                      <a:r>
                        <a:rPr sz="1100" b="0">
                          <a:solidFill>
                            <a:srgbClr val="000000"/>
                          </a:solidFill>
                          <a:latin typeface="Calibri"/>
                        </a:rPr>
                        <a:t>Timeline/scope creep</a:t>
                      </a:r>
                    </a:p>
                  </a:txBody>
                  <a:tcPr>
                    <a:solidFill>
                      <a:srgbClr val="FFF0F0"/>
                    </a:solidFill>
                  </a:tcPr>
                </a:tc>
                <a:tc>
                  <a:txBody>
                    <a:bodyPr/>
                    <a:lstStyle/>
                    <a:p>
                      <a:pPr algn="ctr"/>
                      <a:r>
                        <a:rPr sz="1100" b="0">
                          <a:solidFill>
                            <a:srgbClr val="000000"/>
                          </a:solidFill>
                          <a:latin typeface="Calibri"/>
                        </a:rPr>
                        <a:t>🔴 High</a:t>
                      </a:r>
                    </a:p>
                  </a:txBody>
                  <a:tcPr>
                    <a:solidFill>
                      <a:srgbClr val="FFF0F0"/>
                    </a:solidFill>
                  </a:tcPr>
                </a:tc>
                <a:tc>
                  <a:txBody>
                    <a:bodyPr/>
                    <a:lstStyle/>
                    <a:p>
                      <a:pPr algn="l"/>
                      <a:r>
                        <a:rPr sz="1100" b="0">
                          <a:solidFill>
                            <a:srgbClr val="000000"/>
                          </a:solidFill>
                          <a:latin typeface="Calibri"/>
                        </a:rPr>
                        <a:t>Agile sprints + fixed-price phases + CR protocol</a:t>
                      </a:r>
                    </a:p>
                  </a:txBody>
                  <a:tcPr>
                    <a:solidFill>
                      <a:srgbClr val="FFF0F0"/>
                    </a:solidFill>
                  </a:tcPr>
                </a:tc>
              </a:tr>
            </a:tbl>
          </a:graphicData>
        </a:graphic>
      </p:graphicFrame>
      <p:sp>
        <p:nvSpPr>
          <p:cNvPr id="4" name="TextBox 3"/>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5" name="Connector 4"/>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473200" y="6462000"/>
            <a:ext cx="576000" cy="288000"/>
          </a:xfrm>
          <a:prstGeom prst="rect">
            <a:avLst/>
          </a:prstGeom>
          <a:noFill/>
        </p:spPr>
        <p:txBody>
          <a:bodyPr wrap="square">
            <a:spAutoFit/>
          </a:bodyPr>
          <a:lstStyle/>
          <a:p>
            <a:pPr algn="r"/>
            <a:r>
              <a:rPr sz="1000" b="0" i="0">
                <a:solidFill>
                  <a:srgbClr val="2E5090"/>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Three Phases. 24 Months. Full Transformation.</a:t>
            </a:r>
          </a:p>
        </p:txBody>
      </p:sp>
      <p:sp>
        <p:nvSpPr>
          <p:cNvPr id="3" name="TextBox 2"/>
          <p:cNvSpPr txBox="1"/>
          <p:nvPr/>
        </p:nvSpPr>
        <p:spPr>
          <a:xfrm>
            <a:off x="432000" y="864000"/>
            <a:ext cx="472050" cy="251999"/>
          </a:xfrm>
          <a:prstGeom prst="rect">
            <a:avLst/>
          </a:prstGeom>
          <a:noFill/>
        </p:spPr>
        <p:txBody>
          <a:bodyPr wrap="square">
            <a:spAutoFit/>
          </a:bodyPr>
          <a:lstStyle/>
          <a:p>
            <a:pPr algn="ctr"/>
            <a:r>
              <a:rPr sz="900" b="0" i="0">
                <a:solidFill>
                  <a:srgbClr val="000000"/>
                </a:solidFill>
                <a:latin typeface="Calibri"/>
              </a:rPr>
              <a:t>1</a:t>
            </a:r>
          </a:p>
        </p:txBody>
      </p:sp>
      <p:sp>
        <p:nvSpPr>
          <p:cNvPr id="4" name="TextBox 3"/>
          <p:cNvSpPr txBox="1"/>
          <p:nvPr/>
        </p:nvSpPr>
        <p:spPr>
          <a:xfrm>
            <a:off x="904050" y="864000"/>
            <a:ext cx="472050" cy="251999"/>
          </a:xfrm>
          <a:prstGeom prst="rect">
            <a:avLst/>
          </a:prstGeom>
          <a:noFill/>
        </p:spPr>
        <p:txBody>
          <a:bodyPr wrap="square">
            <a:spAutoFit/>
          </a:bodyPr>
          <a:lstStyle/>
          <a:p>
            <a:pPr algn="ctr"/>
            <a:r>
              <a:rPr sz="900" b="0" i="0">
                <a:solidFill>
                  <a:srgbClr val="000000"/>
                </a:solidFill>
                <a:latin typeface="Calibri"/>
              </a:rPr>
              <a:t>2</a:t>
            </a:r>
          </a:p>
        </p:txBody>
      </p:sp>
      <p:sp>
        <p:nvSpPr>
          <p:cNvPr id="5" name="TextBox 4"/>
          <p:cNvSpPr txBox="1"/>
          <p:nvPr/>
        </p:nvSpPr>
        <p:spPr>
          <a:xfrm>
            <a:off x="1376100" y="864000"/>
            <a:ext cx="472050" cy="251999"/>
          </a:xfrm>
          <a:prstGeom prst="rect">
            <a:avLst/>
          </a:prstGeom>
          <a:noFill/>
        </p:spPr>
        <p:txBody>
          <a:bodyPr wrap="square">
            <a:spAutoFit/>
          </a:bodyPr>
          <a:lstStyle/>
          <a:p>
            <a:pPr algn="ctr"/>
            <a:r>
              <a:rPr sz="900" b="0" i="0">
                <a:solidFill>
                  <a:srgbClr val="000000"/>
                </a:solidFill>
                <a:latin typeface="Calibri"/>
              </a:rPr>
              <a:t>3</a:t>
            </a:r>
          </a:p>
        </p:txBody>
      </p:sp>
      <p:sp>
        <p:nvSpPr>
          <p:cNvPr id="6" name="TextBox 5"/>
          <p:cNvSpPr txBox="1"/>
          <p:nvPr/>
        </p:nvSpPr>
        <p:spPr>
          <a:xfrm>
            <a:off x="1848150" y="864000"/>
            <a:ext cx="472050" cy="251999"/>
          </a:xfrm>
          <a:prstGeom prst="rect">
            <a:avLst/>
          </a:prstGeom>
          <a:noFill/>
        </p:spPr>
        <p:txBody>
          <a:bodyPr wrap="square">
            <a:spAutoFit/>
          </a:bodyPr>
          <a:lstStyle/>
          <a:p>
            <a:pPr algn="ctr"/>
            <a:r>
              <a:rPr sz="900" b="0" i="0">
                <a:solidFill>
                  <a:srgbClr val="000000"/>
                </a:solidFill>
                <a:latin typeface="Calibri"/>
              </a:rPr>
              <a:t>4</a:t>
            </a:r>
          </a:p>
        </p:txBody>
      </p:sp>
      <p:sp>
        <p:nvSpPr>
          <p:cNvPr id="7" name="TextBox 6"/>
          <p:cNvSpPr txBox="1"/>
          <p:nvPr/>
        </p:nvSpPr>
        <p:spPr>
          <a:xfrm>
            <a:off x="2320200" y="864000"/>
            <a:ext cx="472050" cy="251999"/>
          </a:xfrm>
          <a:prstGeom prst="rect">
            <a:avLst/>
          </a:prstGeom>
          <a:noFill/>
        </p:spPr>
        <p:txBody>
          <a:bodyPr wrap="square">
            <a:spAutoFit/>
          </a:bodyPr>
          <a:lstStyle/>
          <a:p>
            <a:pPr algn="ctr"/>
            <a:r>
              <a:rPr sz="900" b="0" i="0">
                <a:solidFill>
                  <a:srgbClr val="000000"/>
                </a:solidFill>
                <a:latin typeface="Calibri"/>
              </a:rPr>
              <a:t>5</a:t>
            </a:r>
          </a:p>
        </p:txBody>
      </p:sp>
      <p:sp>
        <p:nvSpPr>
          <p:cNvPr id="8" name="TextBox 7"/>
          <p:cNvSpPr txBox="1"/>
          <p:nvPr/>
        </p:nvSpPr>
        <p:spPr>
          <a:xfrm>
            <a:off x="2792250" y="864000"/>
            <a:ext cx="472050" cy="251999"/>
          </a:xfrm>
          <a:prstGeom prst="rect">
            <a:avLst/>
          </a:prstGeom>
          <a:noFill/>
        </p:spPr>
        <p:txBody>
          <a:bodyPr wrap="square">
            <a:spAutoFit/>
          </a:bodyPr>
          <a:lstStyle/>
          <a:p>
            <a:pPr algn="ctr"/>
            <a:r>
              <a:rPr sz="900" b="0" i="0">
                <a:solidFill>
                  <a:srgbClr val="000000"/>
                </a:solidFill>
                <a:latin typeface="Calibri"/>
              </a:rPr>
              <a:t>6</a:t>
            </a:r>
          </a:p>
        </p:txBody>
      </p:sp>
      <p:sp>
        <p:nvSpPr>
          <p:cNvPr id="9" name="TextBox 8"/>
          <p:cNvSpPr txBox="1"/>
          <p:nvPr/>
        </p:nvSpPr>
        <p:spPr>
          <a:xfrm>
            <a:off x="3264300" y="864000"/>
            <a:ext cx="472050" cy="251999"/>
          </a:xfrm>
          <a:prstGeom prst="rect">
            <a:avLst/>
          </a:prstGeom>
          <a:noFill/>
        </p:spPr>
        <p:txBody>
          <a:bodyPr wrap="square">
            <a:spAutoFit/>
          </a:bodyPr>
          <a:lstStyle/>
          <a:p>
            <a:pPr algn="ctr"/>
            <a:r>
              <a:rPr sz="900" b="0" i="0">
                <a:solidFill>
                  <a:srgbClr val="000000"/>
                </a:solidFill>
                <a:latin typeface="Calibri"/>
              </a:rPr>
              <a:t>7</a:t>
            </a:r>
          </a:p>
        </p:txBody>
      </p:sp>
      <p:sp>
        <p:nvSpPr>
          <p:cNvPr id="10" name="TextBox 9"/>
          <p:cNvSpPr txBox="1"/>
          <p:nvPr/>
        </p:nvSpPr>
        <p:spPr>
          <a:xfrm>
            <a:off x="3736350" y="864000"/>
            <a:ext cx="472050" cy="251999"/>
          </a:xfrm>
          <a:prstGeom prst="rect">
            <a:avLst/>
          </a:prstGeom>
          <a:noFill/>
        </p:spPr>
        <p:txBody>
          <a:bodyPr wrap="square">
            <a:spAutoFit/>
          </a:bodyPr>
          <a:lstStyle/>
          <a:p>
            <a:pPr algn="ctr"/>
            <a:r>
              <a:rPr sz="900" b="0" i="0">
                <a:solidFill>
                  <a:srgbClr val="000000"/>
                </a:solidFill>
                <a:latin typeface="Calibri"/>
              </a:rPr>
              <a:t>8</a:t>
            </a:r>
          </a:p>
        </p:txBody>
      </p:sp>
      <p:sp>
        <p:nvSpPr>
          <p:cNvPr id="11" name="TextBox 10"/>
          <p:cNvSpPr txBox="1"/>
          <p:nvPr/>
        </p:nvSpPr>
        <p:spPr>
          <a:xfrm>
            <a:off x="4208400" y="864000"/>
            <a:ext cx="472050" cy="251999"/>
          </a:xfrm>
          <a:prstGeom prst="rect">
            <a:avLst/>
          </a:prstGeom>
          <a:noFill/>
        </p:spPr>
        <p:txBody>
          <a:bodyPr wrap="square">
            <a:spAutoFit/>
          </a:bodyPr>
          <a:lstStyle/>
          <a:p>
            <a:pPr algn="ctr"/>
            <a:r>
              <a:rPr sz="900" b="0" i="0">
                <a:solidFill>
                  <a:srgbClr val="000000"/>
                </a:solidFill>
                <a:latin typeface="Calibri"/>
              </a:rPr>
              <a:t>9</a:t>
            </a:r>
          </a:p>
        </p:txBody>
      </p:sp>
      <p:sp>
        <p:nvSpPr>
          <p:cNvPr id="12" name="TextBox 11"/>
          <p:cNvSpPr txBox="1"/>
          <p:nvPr/>
        </p:nvSpPr>
        <p:spPr>
          <a:xfrm>
            <a:off x="4680450" y="864000"/>
            <a:ext cx="472050" cy="251999"/>
          </a:xfrm>
          <a:prstGeom prst="rect">
            <a:avLst/>
          </a:prstGeom>
          <a:noFill/>
        </p:spPr>
        <p:txBody>
          <a:bodyPr wrap="square">
            <a:spAutoFit/>
          </a:bodyPr>
          <a:lstStyle/>
          <a:p>
            <a:pPr algn="ctr"/>
            <a:r>
              <a:rPr sz="900" b="0" i="0">
                <a:solidFill>
                  <a:srgbClr val="000000"/>
                </a:solidFill>
                <a:latin typeface="Calibri"/>
              </a:rPr>
              <a:t>10</a:t>
            </a:r>
          </a:p>
        </p:txBody>
      </p:sp>
      <p:sp>
        <p:nvSpPr>
          <p:cNvPr id="13" name="TextBox 12"/>
          <p:cNvSpPr txBox="1"/>
          <p:nvPr/>
        </p:nvSpPr>
        <p:spPr>
          <a:xfrm>
            <a:off x="5152500" y="864000"/>
            <a:ext cx="472050" cy="251999"/>
          </a:xfrm>
          <a:prstGeom prst="rect">
            <a:avLst/>
          </a:prstGeom>
          <a:noFill/>
        </p:spPr>
        <p:txBody>
          <a:bodyPr wrap="square">
            <a:spAutoFit/>
          </a:bodyPr>
          <a:lstStyle/>
          <a:p>
            <a:pPr algn="ctr"/>
            <a:r>
              <a:rPr sz="900" b="0" i="0">
                <a:solidFill>
                  <a:srgbClr val="000000"/>
                </a:solidFill>
                <a:latin typeface="Calibri"/>
              </a:rPr>
              <a:t>11</a:t>
            </a:r>
          </a:p>
        </p:txBody>
      </p:sp>
      <p:sp>
        <p:nvSpPr>
          <p:cNvPr id="14" name="TextBox 13"/>
          <p:cNvSpPr txBox="1"/>
          <p:nvPr/>
        </p:nvSpPr>
        <p:spPr>
          <a:xfrm>
            <a:off x="5624550" y="864000"/>
            <a:ext cx="472050" cy="251999"/>
          </a:xfrm>
          <a:prstGeom prst="rect">
            <a:avLst/>
          </a:prstGeom>
          <a:noFill/>
        </p:spPr>
        <p:txBody>
          <a:bodyPr wrap="square">
            <a:spAutoFit/>
          </a:bodyPr>
          <a:lstStyle/>
          <a:p>
            <a:pPr algn="ctr"/>
            <a:r>
              <a:rPr sz="900" b="0" i="0">
                <a:solidFill>
                  <a:srgbClr val="000000"/>
                </a:solidFill>
                <a:latin typeface="Calibri"/>
              </a:rPr>
              <a:t>12</a:t>
            </a:r>
          </a:p>
        </p:txBody>
      </p:sp>
      <p:sp>
        <p:nvSpPr>
          <p:cNvPr id="15" name="TextBox 14"/>
          <p:cNvSpPr txBox="1"/>
          <p:nvPr/>
        </p:nvSpPr>
        <p:spPr>
          <a:xfrm>
            <a:off x="6096600" y="864000"/>
            <a:ext cx="472050" cy="251999"/>
          </a:xfrm>
          <a:prstGeom prst="rect">
            <a:avLst/>
          </a:prstGeom>
          <a:noFill/>
        </p:spPr>
        <p:txBody>
          <a:bodyPr wrap="square">
            <a:spAutoFit/>
          </a:bodyPr>
          <a:lstStyle/>
          <a:p>
            <a:pPr algn="ctr"/>
            <a:r>
              <a:rPr sz="900" b="0" i="0">
                <a:solidFill>
                  <a:srgbClr val="000000"/>
                </a:solidFill>
                <a:latin typeface="Calibri"/>
              </a:rPr>
              <a:t>13</a:t>
            </a:r>
          </a:p>
        </p:txBody>
      </p:sp>
      <p:sp>
        <p:nvSpPr>
          <p:cNvPr id="16" name="TextBox 15"/>
          <p:cNvSpPr txBox="1"/>
          <p:nvPr/>
        </p:nvSpPr>
        <p:spPr>
          <a:xfrm>
            <a:off x="6568650" y="864000"/>
            <a:ext cx="472050" cy="251999"/>
          </a:xfrm>
          <a:prstGeom prst="rect">
            <a:avLst/>
          </a:prstGeom>
          <a:noFill/>
        </p:spPr>
        <p:txBody>
          <a:bodyPr wrap="square">
            <a:spAutoFit/>
          </a:bodyPr>
          <a:lstStyle/>
          <a:p>
            <a:pPr algn="ctr"/>
            <a:r>
              <a:rPr sz="900" b="0" i="0">
                <a:solidFill>
                  <a:srgbClr val="000000"/>
                </a:solidFill>
                <a:latin typeface="Calibri"/>
              </a:rPr>
              <a:t>14</a:t>
            </a:r>
          </a:p>
        </p:txBody>
      </p:sp>
      <p:sp>
        <p:nvSpPr>
          <p:cNvPr id="17" name="TextBox 16"/>
          <p:cNvSpPr txBox="1"/>
          <p:nvPr/>
        </p:nvSpPr>
        <p:spPr>
          <a:xfrm>
            <a:off x="7040700" y="864000"/>
            <a:ext cx="472050" cy="251999"/>
          </a:xfrm>
          <a:prstGeom prst="rect">
            <a:avLst/>
          </a:prstGeom>
          <a:noFill/>
        </p:spPr>
        <p:txBody>
          <a:bodyPr wrap="square">
            <a:spAutoFit/>
          </a:bodyPr>
          <a:lstStyle/>
          <a:p>
            <a:pPr algn="ctr"/>
            <a:r>
              <a:rPr sz="900" b="0" i="0">
                <a:solidFill>
                  <a:srgbClr val="000000"/>
                </a:solidFill>
                <a:latin typeface="Calibri"/>
              </a:rPr>
              <a:t>15</a:t>
            </a:r>
          </a:p>
        </p:txBody>
      </p:sp>
      <p:sp>
        <p:nvSpPr>
          <p:cNvPr id="18" name="TextBox 17"/>
          <p:cNvSpPr txBox="1"/>
          <p:nvPr/>
        </p:nvSpPr>
        <p:spPr>
          <a:xfrm>
            <a:off x="7512750" y="864000"/>
            <a:ext cx="472050" cy="251999"/>
          </a:xfrm>
          <a:prstGeom prst="rect">
            <a:avLst/>
          </a:prstGeom>
          <a:noFill/>
        </p:spPr>
        <p:txBody>
          <a:bodyPr wrap="square">
            <a:spAutoFit/>
          </a:bodyPr>
          <a:lstStyle/>
          <a:p>
            <a:pPr algn="ctr"/>
            <a:r>
              <a:rPr sz="900" b="0" i="0">
                <a:solidFill>
                  <a:srgbClr val="000000"/>
                </a:solidFill>
                <a:latin typeface="Calibri"/>
              </a:rPr>
              <a:t>16</a:t>
            </a:r>
          </a:p>
        </p:txBody>
      </p:sp>
      <p:sp>
        <p:nvSpPr>
          <p:cNvPr id="19" name="TextBox 18"/>
          <p:cNvSpPr txBox="1"/>
          <p:nvPr/>
        </p:nvSpPr>
        <p:spPr>
          <a:xfrm>
            <a:off x="7984800" y="864000"/>
            <a:ext cx="472050" cy="251999"/>
          </a:xfrm>
          <a:prstGeom prst="rect">
            <a:avLst/>
          </a:prstGeom>
          <a:noFill/>
        </p:spPr>
        <p:txBody>
          <a:bodyPr wrap="square">
            <a:spAutoFit/>
          </a:bodyPr>
          <a:lstStyle/>
          <a:p>
            <a:pPr algn="ctr"/>
            <a:r>
              <a:rPr sz="900" b="0" i="0">
                <a:solidFill>
                  <a:srgbClr val="000000"/>
                </a:solidFill>
                <a:latin typeface="Calibri"/>
              </a:rPr>
              <a:t>17</a:t>
            </a:r>
          </a:p>
        </p:txBody>
      </p:sp>
      <p:sp>
        <p:nvSpPr>
          <p:cNvPr id="20" name="TextBox 19"/>
          <p:cNvSpPr txBox="1"/>
          <p:nvPr/>
        </p:nvSpPr>
        <p:spPr>
          <a:xfrm>
            <a:off x="8456850" y="864000"/>
            <a:ext cx="472050" cy="251999"/>
          </a:xfrm>
          <a:prstGeom prst="rect">
            <a:avLst/>
          </a:prstGeom>
          <a:noFill/>
        </p:spPr>
        <p:txBody>
          <a:bodyPr wrap="square">
            <a:spAutoFit/>
          </a:bodyPr>
          <a:lstStyle/>
          <a:p>
            <a:pPr algn="ctr"/>
            <a:r>
              <a:rPr sz="900" b="0" i="0">
                <a:solidFill>
                  <a:srgbClr val="000000"/>
                </a:solidFill>
                <a:latin typeface="Calibri"/>
              </a:rPr>
              <a:t>18</a:t>
            </a:r>
          </a:p>
        </p:txBody>
      </p:sp>
      <p:sp>
        <p:nvSpPr>
          <p:cNvPr id="21" name="TextBox 20"/>
          <p:cNvSpPr txBox="1"/>
          <p:nvPr/>
        </p:nvSpPr>
        <p:spPr>
          <a:xfrm>
            <a:off x="8928900" y="864000"/>
            <a:ext cx="472050" cy="251999"/>
          </a:xfrm>
          <a:prstGeom prst="rect">
            <a:avLst/>
          </a:prstGeom>
          <a:noFill/>
        </p:spPr>
        <p:txBody>
          <a:bodyPr wrap="square">
            <a:spAutoFit/>
          </a:bodyPr>
          <a:lstStyle/>
          <a:p>
            <a:pPr algn="ctr"/>
            <a:r>
              <a:rPr sz="900" b="0" i="0">
                <a:solidFill>
                  <a:srgbClr val="000000"/>
                </a:solidFill>
                <a:latin typeface="Calibri"/>
              </a:rPr>
              <a:t>19</a:t>
            </a:r>
          </a:p>
        </p:txBody>
      </p:sp>
      <p:sp>
        <p:nvSpPr>
          <p:cNvPr id="22" name="TextBox 21"/>
          <p:cNvSpPr txBox="1"/>
          <p:nvPr/>
        </p:nvSpPr>
        <p:spPr>
          <a:xfrm>
            <a:off x="9400950" y="864000"/>
            <a:ext cx="472050" cy="251999"/>
          </a:xfrm>
          <a:prstGeom prst="rect">
            <a:avLst/>
          </a:prstGeom>
          <a:noFill/>
        </p:spPr>
        <p:txBody>
          <a:bodyPr wrap="square">
            <a:spAutoFit/>
          </a:bodyPr>
          <a:lstStyle/>
          <a:p>
            <a:pPr algn="ctr"/>
            <a:r>
              <a:rPr sz="900" b="0" i="0">
                <a:solidFill>
                  <a:srgbClr val="000000"/>
                </a:solidFill>
                <a:latin typeface="Calibri"/>
              </a:rPr>
              <a:t>20</a:t>
            </a:r>
          </a:p>
        </p:txBody>
      </p:sp>
      <p:sp>
        <p:nvSpPr>
          <p:cNvPr id="23" name="TextBox 22"/>
          <p:cNvSpPr txBox="1"/>
          <p:nvPr/>
        </p:nvSpPr>
        <p:spPr>
          <a:xfrm>
            <a:off x="9873000" y="864000"/>
            <a:ext cx="472050" cy="251999"/>
          </a:xfrm>
          <a:prstGeom prst="rect">
            <a:avLst/>
          </a:prstGeom>
          <a:noFill/>
        </p:spPr>
        <p:txBody>
          <a:bodyPr wrap="square">
            <a:spAutoFit/>
          </a:bodyPr>
          <a:lstStyle/>
          <a:p>
            <a:pPr algn="ctr"/>
            <a:r>
              <a:rPr sz="900" b="0" i="0">
                <a:solidFill>
                  <a:srgbClr val="000000"/>
                </a:solidFill>
                <a:latin typeface="Calibri"/>
              </a:rPr>
              <a:t>21</a:t>
            </a:r>
          </a:p>
        </p:txBody>
      </p:sp>
      <p:sp>
        <p:nvSpPr>
          <p:cNvPr id="24" name="TextBox 23"/>
          <p:cNvSpPr txBox="1"/>
          <p:nvPr/>
        </p:nvSpPr>
        <p:spPr>
          <a:xfrm>
            <a:off x="10345050" y="864000"/>
            <a:ext cx="472050" cy="251999"/>
          </a:xfrm>
          <a:prstGeom prst="rect">
            <a:avLst/>
          </a:prstGeom>
          <a:noFill/>
        </p:spPr>
        <p:txBody>
          <a:bodyPr wrap="square">
            <a:spAutoFit/>
          </a:bodyPr>
          <a:lstStyle/>
          <a:p>
            <a:pPr algn="ctr"/>
            <a:r>
              <a:rPr sz="900" b="0" i="0">
                <a:solidFill>
                  <a:srgbClr val="000000"/>
                </a:solidFill>
                <a:latin typeface="Calibri"/>
              </a:rPr>
              <a:t>22</a:t>
            </a:r>
          </a:p>
        </p:txBody>
      </p:sp>
      <p:sp>
        <p:nvSpPr>
          <p:cNvPr id="25" name="TextBox 24"/>
          <p:cNvSpPr txBox="1"/>
          <p:nvPr/>
        </p:nvSpPr>
        <p:spPr>
          <a:xfrm>
            <a:off x="10817100" y="864000"/>
            <a:ext cx="472050" cy="251999"/>
          </a:xfrm>
          <a:prstGeom prst="rect">
            <a:avLst/>
          </a:prstGeom>
          <a:noFill/>
        </p:spPr>
        <p:txBody>
          <a:bodyPr wrap="square">
            <a:spAutoFit/>
          </a:bodyPr>
          <a:lstStyle/>
          <a:p>
            <a:pPr algn="ctr"/>
            <a:r>
              <a:rPr sz="900" b="0" i="0">
                <a:solidFill>
                  <a:srgbClr val="000000"/>
                </a:solidFill>
                <a:latin typeface="Calibri"/>
              </a:rPr>
              <a:t>23</a:t>
            </a:r>
          </a:p>
        </p:txBody>
      </p:sp>
      <p:sp>
        <p:nvSpPr>
          <p:cNvPr id="26" name="TextBox 25"/>
          <p:cNvSpPr txBox="1"/>
          <p:nvPr/>
        </p:nvSpPr>
        <p:spPr>
          <a:xfrm>
            <a:off x="11289150" y="864000"/>
            <a:ext cx="472050" cy="251999"/>
          </a:xfrm>
          <a:prstGeom prst="rect">
            <a:avLst/>
          </a:prstGeom>
          <a:noFill/>
        </p:spPr>
        <p:txBody>
          <a:bodyPr wrap="square">
            <a:spAutoFit/>
          </a:bodyPr>
          <a:lstStyle/>
          <a:p>
            <a:pPr algn="ctr"/>
            <a:r>
              <a:rPr sz="900" b="0" i="0">
                <a:solidFill>
                  <a:srgbClr val="000000"/>
                </a:solidFill>
                <a:latin typeface="Calibri"/>
              </a:rPr>
              <a:t>24</a:t>
            </a:r>
          </a:p>
        </p:txBody>
      </p:sp>
      <p:sp>
        <p:nvSpPr>
          <p:cNvPr id="27" name="Rectangle 26"/>
          <p:cNvSpPr/>
          <p:nvPr/>
        </p:nvSpPr>
        <p:spPr>
          <a:xfrm>
            <a:off x="432000" y="1152000"/>
            <a:ext cx="3776400" cy="864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0000" y="1224000"/>
            <a:ext cx="3560400" cy="324000"/>
          </a:xfrm>
          <a:prstGeom prst="rect">
            <a:avLst/>
          </a:prstGeom>
          <a:noFill/>
        </p:spPr>
        <p:txBody>
          <a:bodyPr wrap="square">
            <a:spAutoFit/>
          </a:bodyPr>
          <a:lstStyle/>
          <a:p>
            <a:pPr algn="l"/>
            <a:r>
              <a:rPr sz="1200" b="1" i="0">
                <a:solidFill>
                  <a:srgbClr val="0D1B2A"/>
                </a:solidFill>
                <a:latin typeface="Calibri"/>
              </a:rPr>
              <a:t>Phase 1  ·  M1 – M8   ·  $3.5M</a:t>
            </a:r>
          </a:p>
        </p:txBody>
      </p:sp>
      <p:sp>
        <p:nvSpPr>
          <p:cNvPr id="29" name="TextBox 28"/>
          <p:cNvSpPr txBox="1"/>
          <p:nvPr/>
        </p:nvSpPr>
        <p:spPr>
          <a:xfrm>
            <a:off x="540000" y="1584000"/>
            <a:ext cx="3560400" cy="360000"/>
          </a:xfrm>
          <a:prstGeom prst="rect">
            <a:avLst/>
          </a:prstGeom>
          <a:noFill/>
        </p:spPr>
        <p:txBody>
          <a:bodyPr wrap="square">
            <a:spAutoFit/>
          </a:bodyPr>
          <a:lstStyle/>
          <a:p>
            <a:pPr algn="l"/>
            <a:r>
              <a:rPr sz="1100" b="0" i="1">
                <a:solidFill>
                  <a:srgbClr val="0D1B2A"/>
                </a:solidFill>
                <a:latin typeface="Calibri"/>
              </a:rPr>
              <a:t>IVA MVP · Admin Portal · CRM Integration</a:t>
            </a:r>
          </a:p>
        </p:txBody>
      </p:sp>
      <p:sp>
        <p:nvSpPr>
          <p:cNvPr id="30" name="Rectangle 29"/>
          <p:cNvSpPr/>
          <p:nvPr/>
        </p:nvSpPr>
        <p:spPr>
          <a:xfrm>
            <a:off x="4208400" y="2196000"/>
            <a:ext cx="3776400" cy="864000"/>
          </a:xfrm>
          <a:prstGeom prst="rect">
            <a:avLst/>
          </a:prstGeom>
          <a:solidFill>
            <a:srgbClr val="2E5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16400" y="2268000"/>
            <a:ext cx="3560400" cy="324000"/>
          </a:xfrm>
          <a:prstGeom prst="rect">
            <a:avLst/>
          </a:prstGeom>
          <a:noFill/>
        </p:spPr>
        <p:txBody>
          <a:bodyPr wrap="square">
            <a:spAutoFit/>
          </a:bodyPr>
          <a:lstStyle/>
          <a:p>
            <a:pPr algn="l"/>
            <a:r>
              <a:rPr sz="1200" b="1" i="0">
                <a:solidFill>
                  <a:srgbClr val="FFFFFF"/>
                </a:solidFill>
                <a:latin typeface="Calibri"/>
              </a:rPr>
              <a:t>Phase 2  ·  M9 – M16  ·  $3.5M</a:t>
            </a:r>
          </a:p>
        </p:txBody>
      </p:sp>
      <p:sp>
        <p:nvSpPr>
          <p:cNvPr id="32" name="TextBox 31"/>
          <p:cNvSpPr txBox="1"/>
          <p:nvPr/>
        </p:nvSpPr>
        <p:spPr>
          <a:xfrm>
            <a:off x="4316400" y="2628000"/>
            <a:ext cx="3560400" cy="360000"/>
          </a:xfrm>
          <a:prstGeom prst="rect">
            <a:avLst/>
          </a:prstGeom>
          <a:noFill/>
        </p:spPr>
        <p:txBody>
          <a:bodyPr wrap="square">
            <a:spAutoFit/>
          </a:bodyPr>
          <a:lstStyle/>
          <a:p>
            <a:pPr algn="l"/>
            <a:r>
              <a:rPr sz="1100" b="0" i="1">
                <a:solidFill>
                  <a:srgbClr val="FFFFFF"/>
                </a:solidFill>
                <a:latin typeface="Calibri"/>
              </a:rPr>
              <a:t>AI Scoring · Concierge MVP · Payment Gateway</a:t>
            </a:r>
          </a:p>
        </p:txBody>
      </p:sp>
      <p:sp>
        <p:nvSpPr>
          <p:cNvPr id="33" name="Rectangle 32"/>
          <p:cNvSpPr/>
          <p:nvPr/>
        </p:nvSpPr>
        <p:spPr>
          <a:xfrm>
            <a:off x="7984800" y="3240000"/>
            <a:ext cx="3776400" cy="864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92800" y="3312000"/>
            <a:ext cx="3560400" cy="324000"/>
          </a:xfrm>
          <a:prstGeom prst="rect">
            <a:avLst/>
          </a:prstGeom>
          <a:noFill/>
        </p:spPr>
        <p:txBody>
          <a:bodyPr wrap="square">
            <a:spAutoFit/>
          </a:bodyPr>
          <a:lstStyle/>
          <a:p>
            <a:pPr algn="l"/>
            <a:r>
              <a:rPr sz="1200" b="1" i="0">
                <a:solidFill>
                  <a:srgbClr val="FFFFFF"/>
                </a:solidFill>
                <a:latin typeface="Calibri"/>
              </a:rPr>
              <a:t>Phase 3  ·  M17 – M24 ·  $3.0M</a:t>
            </a:r>
          </a:p>
        </p:txBody>
      </p:sp>
      <p:sp>
        <p:nvSpPr>
          <p:cNvPr id="35" name="TextBox 34"/>
          <p:cNvSpPr txBox="1"/>
          <p:nvPr/>
        </p:nvSpPr>
        <p:spPr>
          <a:xfrm>
            <a:off x="8092800" y="3672000"/>
            <a:ext cx="3560400" cy="360000"/>
          </a:xfrm>
          <a:prstGeom prst="rect">
            <a:avLst/>
          </a:prstGeom>
          <a:noFill/>
        </p:spPr>
        <p:txBody>
          <a:bodyPr wrap="square">
            <a:spAutoFit/>
          </a:bodyPr>
          <a:lstStyle/>
          <a:p>
            <a:pPr algn="l"/>
            <a:r>
              <a:rPr sz="1100" b="0" i="1">
                <a:solidFill>
                  <a:srgbClr val="FFFFFF"/>
                </a:solidFill>
                <a:latin typeface="Calibri"/>
              </a:rPr>
              <a:t>Full AI · Partner Marketplace · Community</a:t>
            </a:r>
          </a:p>
        </p:txBody>
      </p:sp>
      <p:sp>
        <p:nvSpPr>
          <p:cNvPr id="36" name="Rectangle 35"/>
          <p:cNvSpPr/>
          <p:nvPr/>
        </p:nvSpPr>
        <p:spPr>
          <a:xfrm>
            <a:off x="3718350" y="4428000"/>
            <a:ext cx="36000" cy="57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96350" y="5040000"/>
            <a:ext cx="1080000" cy="503999"/>
          </a:xfrm>
          <a:prstGeom prst="rect">
            <a:avLst/>
          </a:prstGeom>
          <a:noFill/>
        </p:spPr>
        <p:txBody>
          <a:bodyPr wrap="square">
            <a:spAutoFit/>
          </a:bodyPr>
          <a:lstStyle/>
          <a:p>
            <a:pPr algn="ctr"/>
            <a:r>
              <a:rPr sz="1100" b="1" i="0">
                <a:solidFill>
                  <a:srgbClr val="2E5090"/>
                </a:solidFill>
                <a:latin typeface="Calibri"/>
              </a:rPr>
              <a:t>M8
IVA Launch</a:t>
            </a:r>
          </a:p>
        </p:txBody>
      </p:sp>
      <p:sp>
        <p:nvSpPr>
          <p:cNvPr id="38" name="Rectangle 37"/>
          <p:cNvSpPr/>
          <p:nvPr/>
        </p:nvSpPr>
        <p:spPr>
          <a:xfrm>
            <a:off x="7494750" y="4428000"/>
            <a:ext cx="36000" cy="57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72750" y="5040000"/>
            <a:ext cx="1080000" cy="503999"/>
          </a:xfrm>
          <a:prstGeom prst="rect">
            <a:avLst/>
          </a:prstGeom>
          <a:noFill/>
        </p:spPr>
        <p:txBody>
          <a:bodyPr wrap="square">
            <a:spAutoFit/>
          </a:bodyPr>
          <a:lstStyle/>
          <a:p>
            <a:pPr algn="ctr"/>
            <a:r>
              <a:rPr sz="1100" b="1" i="0">
                <a:solidFill>
                  <a:srgbClr val="2E5090"/>
                </a:solidFill>
                <a:latin typeface="Calibri"/>
              </a:rPr>
              <a:t>M16
Concierge Launch</a:t>
            </a:r>
          </a:p>
        </p:txBody>
      </p:sp>
      <p:sp>
        <p:nvSpPr>
          <p:cNvPr id="40" name="Rectangle 39"/>
          <p:cNvSpPr/>
          <p:nvPr/>
        </p:nvSpPr>
        <p:spPr>
          <a:xfrm>
            <a:off x="11271150" y="4428000"/>
            <a:ext cx="36000" cy="57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749150" y="5040000"/>
            <a:ext cx="1080000" cy="503999"/>
          </a:xfrm>
          <a:prstGeom prst="rect">
            <a:avLst/>
          </a:prstGeom>
          <a:noFill/>
        </p:spPr>
        <p:txBody>
          <a:bodyPr wrap="square">
            <a:spAutoFit/>
          </a:bodyPr>
          <a:lstStyle/>
          <a:p>
            <a:pPr algn="ctr"/>
            <a:r>
              <a:rPr sz="1100" b="1" i="0">
                <a:solidFill>
                  <a:srgbClr val="2E5090"/>
                </a:solidFill>
                <a:latin typeface="Calibri"/>
              </a:rPr>
              <a:t>M24
Full Platform</a:t>
            </a:r>
          </a:p>
        </p:txBody>
      </p:sp>
      <p:sp>
        <p:nvSpPr>
          <p:cNvPr id="42" name="TextBox 41"/>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43" name="Connector 42"/>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1473200" y="6462000"/>
            <a:ext cx="576000" cy="288000"/>
          </a:xfrm>
          <a:prstGeom prst="rect">
            <a:avLst/>
          </a:prstGeom>
          <a:noFill/>
        </p:spPr>
        <p:txBody>
          <a:bodyPr wrap="square">
            <a:spAutoFit/>
          </a:bodyPr>
          <a:lstStyle/>
          <a:p>
            <a:pPr algn="r"/>
            <a:r>
              <a:rPr sz="1000" b="0" i="0">
                <a:solidFill>
                  <a:srgbClr val="2E5090"/>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Success Looks Like This at Month 24</a:t>
            </a:r>
          </a:p>
        </p:txBody>
      </p:sp>
      <p:sp>
        <p:nvSpPr>
          <p:cNvPr id="3" name="Rectangle 2"/>
          <p:cNvSpPr/>
          <p:nvPr/>
        </p:nvSpPr>
        <p:spPr>
          <a:xfrm>
            <a:off x="360000" y="1152000"/>
            <a:ext cx="5556600" cy="3960000"/>
          </a:xfrm>
          <a:prstGeom prst="rect">
            <a:avLst/>
          </a:prstGeom>
          <a:solidFill>
            <a:srgbClr val="2E5090"/>
          </a:solidFill>
          <a:ln w="190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0000" y="1296000"/>
            <a:ext cx="5196600" cy="468000"/>
          </a:xfrm>
          <a:prstGeom prst="rect">
            <a:avLst/>
          </a:prstGeom>
          <a:noFill/>
        </p:spPr>
        <p:txBody>
          <a:bodyPr wrap="square">
            <a:spAutoFit/>
          </a:bodyPr>
          <a:lstStyle/>
          <a:p>
            <a:pPr algn="l"/>
            <a:r>
              <a:rPr sz="1600" b="1" i="0">
                <a:solidFill>
                  <a:srgbClr val="C9A84C"/>
                </a:solidFill>
                <a:latin typeface="Calibri"/>
              </a:rPr>
              <a:t>IVA KPIs</a:t>
            </a:r>
          </a:p>
        </p:txBody>
      </p:sp>
      <p:sp>
        <p:nvSpPr>
          <p:cNvPr id="5" name="TextBox 4"/>
          <p:cNvSpPr txBox="1"/>
          <p:nvPr/>
        </p:nvSpPr>
        <p:spPr>
          <a:xfrm>
            <a:off x="540000" y="2016000"/>
            <a:ext cx="3222828" cy="503999"/>
          </a:xfrm>
          <a:prstGeom prst="rect">
            <a:avLst/>
          </a:prstGeom>
          <a:noFill/>
        </p:spPr>
        <p:txBody>
          <a:bodyPr wrap="square">
            <a:spAutoFit/>
          </a:bodyPr>
          <a:lstStyle/>
          <a:p>
            <a:pPr algn="l"/>
            <a:r>
              <a:rPr sz="1400" b="0" i="0">
                <a:solidFill>
                  <a:srgbClr val="B0C4DE"/>
                </a:solidFill>
                <a:latin typeface="Calibri"/>
              </a:rPr>
              <a:t>Entry Rate</a:t>
            </a:r>
          </a:p>
        </p:txBody>
      </p:sp>
      <p:sp>
        <p:nvSpPr>
          <p:cNvPr id="6" name="TextBox 5"/>
          <p:cNvSpPr txBox="1"/>
          <p:nvPr/>
        </p:nvSpPr>
        <p:spPr>
          <a:xfrm>
            <a:off x="3693960" y="2016000"/>
            <a:ext cx="2000376" cy="503999"/>
          </a:xfrm>
          <a:prstGeom prst="rect">
            <a:avLst/>
          </a:prstGeom>
          <a:noFill/>
        </p:spPr>
        <p:txBody>
          <a:bodyPr wrap="square">
            <a:spAutoFit/>
          </a:bodyPr>
          <a:lstStyle/>
          <a:p>
            <a:pPr algn="r"/>
            <a:r>
              <a:rPr sz="1400" b="1" i="0">
                <a:solidFill>
                  <a:srgbClr val="FFFFFF"/>
                </a:solidFill>
                <a:latin typeface="Calibri"/>
              </a:rPr>
              <a:t>5,000+ / month</a:t>
            </a:r>
          </a:p>
        </p:txBody>
      </p:sp>
      <p:sp>
        <p:nvSpPr>
          <p:cNvPr id="7" name="TextBox 6"/>
          <p:cNvSpPr txBox="1"/>
          <p:nvPr/>
        </p:nvSpPr>
        <p:spPr>
          <a:xfrm>
            <a:off x="540000" y="2736000"/>
            <a:ext cx="3222828" cy="503999"/>
          </a:xfrm>
          <a:prstGeom prst="rect">
            <a:avLst/>
          </a:prstGeom>
          <a:noFill/>
        </p:spPr>
        <p:txBody>
          <a:bodyPr wrap="square">
            <a:spAutoFit/>
          </a:bodyPr>
          <a:lstStyle/>
          <a:p>
            <a:pPr algn="l"/>
            <a:r>
              <a:rPr sz="1400" b="0" i="0">
                <a:solidFill>
                  <a:srgbClr val="B0C4DE"/>
                </a:solidFill>
                <a:latin typeface="Calibri"/>
              </a:rPr>
              <a:t>Qualified Lead Rate</a:t>
            </a:r>
          </a:p>
        </p:txBody>
      </p:sp>
      <p:sp>
        <p:nvSpPr>
          <p:cNvPr id="8" name="TextBox 7"/>
          <p:cNvSpPr txBox="1"/>
          <p:nvPr/>
        </p:nvSpPr>
        <p:spPr>
          <a:xfrm>
            <a:off x="3693960" y="2736000"/>
            <a:ext cx="2000376" cy="503999"/>
          </a:xfrm>
          <a:prstGeom prst="rect">
            <a:avLst/>
          </a:prstGeom>
          <a:noFill/>
        </p:spPr>
        <p:txBody>
          <a:bodyPr wrap="square">
            <a:spAutoFit/>
          </a:bodyPr>
          <a:lstStyle/>
          <a:p>
            <a:pPr algn="r"/>
            <a:r>
              <a:rPr sz="1400" b="1" i="0">
                <a:solidFill>
                  <a:srgbClr val="FFFFFF"/>
                </a:solidFill>
                <a:latin typeface="Calibri"/>
              </a:rPr>
              <a:t>&gt; 35%</a:t>
            </a:r>
          </a:p>
        </p:txBody>
      </p:sp>
      <p:sp>
        <p:nvSpPr>
          <p:cNvPr id="9" name="TextBox 8"/>
          <p:cNvSpPr txBox="1"/>
          <p:nvPr/>
        </p:nvSpPr>
        <p:spPr>
          <a:xfrm>
            <a:off x="540000" y="3456000"/>
            <a:ext cx="3222828" cy="503999"/>
          </a:xfrm>
          <a:prstGeom prst="rect">
            <a:avLst/>
          </a:prstGeom>
          <a:noFill/>
        </p:spPr>
        <p:txBody>
          <a:bodyPr wrap="square">
            <a:spAutoFit/>
          </a:bodyPr>
          <a:lstStyle/>
          <a:p>
            <a:pPr algn="l"/>
            <a:r>
              <a:rPr sz="1400" b="0" i="0">
                <a:solidFill>
                  <a:srgbClr val="B0C4DE"/>
                </a:solidFill>
                <a:latin typeface="Calibri"/>
              </a:rPr>
              <a:t>Tour Booking Rate</a:t>
            </a:r>
          </a:p>
        </p:txBody>
      </p:sp>
      <p:sp>
        <p:nvSpPr>
          <p:cNvPr id="10" name="TextBox 9"/>
          <p:cNvSpPr txBox="1"/>
          <p:nvPr/>
        </p:nvSpPr>
        <p:spPr>
          <a:xfrm>
            <a:off x="3693960" y="3456000"/>
            <a:ext cx="2000376" cy="503999"/>
          </a:xfrm>
          <a:prstGeom prst="rect">
            <a:avLst/>
          </a:prstGeom>
          <a:noFill/>
        </p:spPr>
        <p:txBody>
          <a:bodyPr wrap="square">
            <a:spAutoFit/>
          </a:bodyPr>
          <a:lstStyle/>
          <a:p>
            <a:pPr algn="r"/>
            <a:r>
              <a:rPr sz="1400" b="1" i="0">
                <a:solidFill>
                  <a:srgbClr val="FFFFFF"/>
                </a:solidFill>
                <a:latin typeface="Calibri"/>
              </a:rPr>
              <a:t>&gt; 40%</a:t>
            </a:r>
          </a:p>
        </p:txBody>
      </p:sp>
      <p:sp>
        <p:nvSpPr>
          <p:cNvPr id="11" name="TextBox 10"/>
          <p:cNvSpPr txBox="1"/>
          <p:nvPr/>
        </p:nvSpPr>
        <p:spPr>
          <a:xfrm>
            <a:off x="540000" y="4176000"/>
            <a:ext cx="3222828" cy="503999"/>
          </a:xfrm>
          <a:prstGeom prst="rect">
            <a:avLst/>
          </a:prstGeom>
          <a:noFill/>
        </p:spPr>
        <p:txBody>
          <a:bodyPr wrap="square">
            <a:spAutoFit/>
          </a:bodyPr>
          <a:lstStyle/>
          <a:p>
            <a:pPr algn="l"/>
            <a:r>
              <a:rPr sz="1400" b="0" i="0">
                <a:solidFill>
                  <a:srgbClr val="B0C4DE"/>
                </a:solidFill>
                <a:latin typeface="Calibri"/>
              </a:rPr>
              <a:t>Conversion to Deposit</a:t>
            </a:r>
          </a:p>
        </p:txBody>
      </p:sp>
      <p:sp>
        <p:nvSpPr>
          <p:cNvPr id="12" name="TextBox 11"/>
          <p:cNvSpPr txBox="1"/>
          <p:nvPr/>
        </p:nvSpPr>
        <p:spPr>
          <a:xfrm>
            <a:off x="3693960" y="4176000"/>
            <a:ext cx="2000376" cy="503999"/>
          </a:xfrm>
          <a:prstGeom prst="rect">
            <a:avLst/>
          </a:prstGeom>
          <a:noFill/>
        </p:spPr>
        <p:txBody>
          <a:bodyPr wrap="square">
            <a:spAutoFit/>
          </a:bodyPr>
          <a:lstStyle/>
          <a:p>
            <a:pPr algn="r"/>
            <a:r>
              <a:rPr sz="1400" b="1" i="0">
                <a:solidFill>
                  <a:srgbClr val="FFFFFF"/>
                </a:solidFill>
                <a:latin typeface="Calibri"/>
              </a:rPr>
              <a:t>&gt; 6%</a:t>
            </a:r>
          </a:p>
        </p:txBody>
      </p:sp>
      <p:sp>
        <p:nvSpPr>
          <p:cNvPr id="13" name="Rectangle 12"/>
          <p:cNvSpPr/>
          <p:nvPr/>
        </p:nvSpPr>
        <p:spPr>
          <a:xfrm>
            <a:off x="6276600" y="1152000"/>
            <a:ext cx="5556600" cy="3960000"/>
          </a:xfrm>
          <a:prstGeom prst="rect">
            <a:avLst/>
          </a:prstGeom>
          <a:solidFill>
            <a:srgbClr val="2E5090"/>
          </a:solidFill>
          <a:ln w="190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6600" y="1296000"/>
            <a:ext cx="5196600" cy="468000"/>
          </a:xfrm>
          <a:prstGeom prst="rect">
            <a:avLst/>
          </a:prstGeom>
          <a:noFill/>
        </p:spPr>
        <p:txBody>
          <a:bodyPr wrap="square">
            <a:spAutoFit/>
          </a:bodyPr>
          <a:lstStyle/>
          <a:p>
            <a:pPr algn="l"/>
            <a:r>
              <a:rPr sz="1600" b="1" i="0">
                <a:solidFill>
                  <a:srgbClr val="C9A84C"/>
                </a:solidFill>
                <a:latin typeface="Calibri"/>
              </a:rPr>
              <a:t>Concierge KPIs</a:t>
            </a:r>
          </a:p>
        </p:txBody>
      </p:sp>
      <p:sp>
        <p:nvSpPr>
          <p:cNvPr id="15" name="TextBox 14"/>
          <p:cNvSpPr txBox="1"/>
          <p:nvPr/>
        </p:nvSpPr>
        <p:spPr>
          <a:xfrm>
            <a:off x="6456600" y="2016000"/>
            <a:ext cx="3222828" cy="503999"/>
          </a:xfrm>
          <a:prstGeom prst="rect">
            <a:avLst/>
          </a:prstGeom>
          <a:noFill/>
        </p:spPr>
        <p:txBody>
          <a:bodyPr wrap="square">
            <a:spAutoFit/>
          </a:bodyPr>
          <a:lstStyle/>
          <a:p>
            <a:pPr algn="l"/>
            <a:r>
              <a:rPr sz="1400" b="0" i="0">
                <a:solidFill>
                  <a:srgbClr val="B0C4DE"/>
                </a:solidFill>
                <a:latin typeface="Calibri"/>
              </a:rPr>
              <a:t>Monthly Active Residents</a:t>
            </a:r>
          </a:p>
        </p:txBody>
      </p:sp>
      <p:sp>
        <p:nvSpPr>
          <p:cNvPr id="16" name="TextBox 15"/>
          <p:cNvSpPr txBox="1"/>
          <p:nvPr/>
        </p:nvSpPr>
        <p:spPr>
          <a:xfrm>
            <a:off x="9610560" y="2016000"/>
            <a:ext cx="2000376" cy="503999"/>
          </a:xfrm>
          <a:prstGeom prst="rect">
            <a:avLst/>
          </a:prstGeom>
          <a:noFill/>
        </p:spPr>
        <p:txBody>
          <a:bodyPr wrap="square">
            <a:spAutoFit/>
          </a:bodyPr>
          <a:lstStyle/>
          <a:p>
            <a:pPr algn="r"/>
            <a:r>
              <a:rPr sz="1400" b="1" i="0">
                <a:solidFill>
                  <a:srgbClr val="FFFFFF"/>
                </a:solidFill>
                <a:latin typeface="Calibri"/>
              </a:rPr>
              <a:t>&gt; 80%</a:t>
            </a:r>
          </a:p>
        </p:txBody>
      </p:sp>
      <p:sp>
        <p:nvSpPr>
          <p:cNvPr id="17" name="TextBox 16"/>
          <p:cNvSpPr txBox="1"/>
          <p:nvPr/>
        </p:nvSpPr>
        <p:spPr>
          <a:xfrm>
            <a:off x="6456600" y="2736000"/>
            <a:ext cx="3222828" cy="503999"/>
          </a:xfrm>
          <a:prstGeom prst="rect">
            <a:avLst/>
          </a:prstGeom>
          <a:noFill/>
        </p:spPr>
        <p:txBody>
          <a:bodyPr wrap="square">
            <a:spAutoFit/>
          </a:bodyPr>
          <a:lstStyle/>
          <a:p>
            <a:pPr algn="l"/>
            <a:r>
              <a:rPr sz="1400" b="0" i="0">
                <a:solidFill>
                  <a:srgbClr val="B0C4DE"/>
                </a:solidFill>
                <a:latin typeface="Calibri"/>
              </a:rPr>
              <a:t>AI Satisfaction Score</a:t>
            </a:r>
          </a:p>
        </p:txBody>
      </p:sp>
      <p:sp>
        <p:nvSpPr>
          <p:cNvPr id="18" name="TextBox 17"/>
          <p:cNvSpPr txBox="1"/>
          <p:nvPr/>
        </p:nvSpPr>
        <p:spPr>
          <a:xfrm>
            <a:off x="9610560" y="2736000"/>
            <a:ext cx="2000376" cy="503999"/>
          </a:xfrm>
          <a:prstGeom prst="rect">
            <a:avLst/>
          </a:prstGeom>
          <a:noFill/>
        </p:spPr>
        <p:txBody>
          <a:bodyPr wrap="square">
            <a:spAutoFit/>
          </a:bodyPr>
          <a:lstStyle/>
          <a:p>
            <a:pPr algn="r"/>
            <a:r>
              <a:rPr sz="1400" b="1" i="0">
                <a:solidFill>
                  <a:srgbClr val="FFFFFF"/>
                </a:solidFill>
                <a:latin typeface="Calibri"/>
              </a:rPr>
              <a:t>&gt; 4.2 / 5.0</a:t>
            </a:r>
          </a:p>
        </p:txBody>
      </p:sp>
      <p:sp>
        <p:nvSpPr>
          <p:cNvPr id="19" name="TextBox 18"/>
          <p:cNvSpPr txBox="1"/>
          <p:nvPr/>
        </p:nvSpPr>
        <p:spPr>
          <a:xfrm>
            <a:off x="6456600" y="3456000"/>
            <a:ext cx="3222828" cy="503999"/>
          </a:xfrm>
          <a:prstGeom prst="rect">
            <a:avLst/>
          </a:prstGeom>
          <a:noFill/>
        </p:spPr>
        <p:txBody>
          <a:bodyPr wrap="square">
            <a:spAutoFit/>
          </a:bodyPr>
          <a:lstStyle/>
          <a:p>
            <a:pPr algn="l"/>
            <a:r>
              <a:rPr sz="1400" b="0" i="0">
                <a:solidFill>
                  <a:srgbClr val="B0C4DE"/>
                </a:solidFill>
                <a:latin typeface="Calibri"/>
              </a:rPr>
              <a:t>Net Promoter Score</a:t>
            </a:r>
          </a:p>
        </p:txBody>
      </p:sp>
      <p:sp>
        <p:nvSpPr>
          <p:cNvPr id="20" name="TextBox 19"/>
          <p:cNvSpPr txBox="1"/>
          <p:nvPr/>
        </p:nvSpPr>
        <p:spPr>
          <a:xfrm>
            <a:off x="9610560" y="3456000"/>
            <a:ext cx="2000376" cy="503999"/>
          </a:xfrm>
          <a:prstGeom prst="rect">
            <a:avLst/>
          </a:prstGeom>
          <a:noFill/>
        </p:spPr>
        <p:txBody>
          <a:bodyPr wrap="square">
            <a:spAutoFit/>
          </a:bodyPr>
          <a:lstStyle/>
          <a:p>
            <a:pPr algn="r"/>
            <a:r>
              <a:rPr sz="1400" b="1" i="0">
                <a:solidFill>
                  <a:srgbClr val="FFFFFF"/>
                </a:solidFill>
                <a:latin typeface="Calibri"/>
              </a:rPr>
              <a:t>&gt; 70</a:t>
            </a:r>
          </a:p>
        </p:txBody>
      </p:sp>
      <p:sp>
        <p:nvSpPr>
          <p:cNvPr id="21" name="TextBox 20"/>
          <p:cNvSpPr txBox="1"/>
          <p:nvPr/>
        </p:nvSpPr>
        <p:spPr>
          <a:xfrm>
            <a:off x="6456600" y="4176000"/>
            <a:ext cx="3222828" cy="503999"/>
          </a:xfrm>
          <a:prstGeom prst="rect">
            <a:avLst/>
          </a:prstGeom>
          <a:noFill/>
        </p:spPr>
        <p:txBody>
          <a:bodyPr wrap="square">
            <a:spAutoFit/>
          </a:bodyPr>
          <a:lstStyle/>
          <a:p>
            <a:pPr algn="l"/>
            <a:r>
              <a:rPr sz="1400" b="0" i="0">
                <a:solidFill>
                  <a:srgbClr val="B0C4DE"/>
                </a:solidFill>
                <a:latin typeface="Calibri"/>
              </a:rPr>
              <a:t>Partner GMV</a:t>
            </a:r>
          </a:p>
        </p:txBody>
      </p:sp>
      <p:sp>
        <p:nvSpPr>
          <p:cNvPr id="22" name="TextBox 21"/>
          <p:cNvSpPr txBox="1"/>
          <p:nvPr/>
        </p:nvSpPr>
        <p:spPr>
          <a:xfrm>
            <a:off x="9610560" y="4176000"/>
            <a:ext cx="2000376" cy="503999"/>
          </a:xfrm>
          <a:prstGeom prst="rect">
            <a:avLst/>
          </a:prstGeom>
          <a:noFill/>
        </p:spPr>
        <p:txBody>
          <a:bodyPr wrap="square">
            <a:spAutoFit/>
          </a:bodyPr>
          <a:lstStyle/>
          <a:p>
            <a:pPr algn="r"/>
            <a:r>
              <a:rPr sz="1400" b="1" i="0">
                <a:solidFill>
                  <a:srgbClr val="FFFFFF"/>
                </a:solidFill>
                <a:latin typeface="Calibri"/>
              </a:rPr>
              <a:t>$2M+ / year</a:t>
            </a:r>
          </a:p>
        </p:txBody>
      </p:sp>
      <p:sp>
        <p:nvSpPr>
          <p:cNvPr id="23" name="TextBox 22"/>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24" name="Connector 23"/>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1473200" y="6462000"/>
            <a:ext cx="576000" cy="288000"/>
          </a:xfrm>
          <a:prstGeom prst="rect">
            <a:avLst/>
          </a:prstGeom>
          <a:noFill/>
        </p:spPr>
        <p:txBody>
          <a:bodyPr wrap="square">
            <a:spAutoFit/>
          </a:bodyPr>
          <a:lstStyle/>
          <a:p>
            <a:pPr algn="r"/>
            <a:r>
              <a:rPr sz="1000" b="0" i="0">
                <a:solidFill>
                  <a:srgbClr val="C9A84C"/>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Your Platform. Our Expertise. One Team.</a:t>
            </a:r>
          </a:p>
        </p:txBody>
      </p:sp>
      <p:sp>
        <p:nvSpPr>
          <p:cNvPr id="3" name="Rectangle 2"/>
          <p:cNvSpPr/>
          <p:nvPr/>
        </p:nvSpPr>
        <p:spPr>
          <a:xfrm>
            <a:off x="3960000" y="1007999"/>
            <a:ext cx="3960000" cy="648000"/>
          </a:xfrm>
          <a:prstGeom prst="rect">
            <a:avLst/>
          </a:prstGeom>
          <a:solidFill>
            <a:srgbClr val="C9A84C"/>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68000" y="1043999"/>
            <a:ext cx="3744000" cy="576000"/>
          </a:xfrm>
          <a:prstGeom prst="rect">
            <a:avLst/>
          </a:prstGeom>
          <a:noFill/>
        </p:spPr>
        <p:txBody>
          <a:bodyPr wrap="square">
            <a:spAutoFit/>
          </a:bodyPr>
          <a:lstStyle/>
          <a:p>
            <a:pPr algn="ctr"/>
            <a:r>
              <a:rPr sz="1300" b="1" i="0">
                <a:solidFill>
                  <a:srgbClr val="0D1B2A"/>
                </a:solidFill>
                <a:latin typeface="Calibri"/>
              </a:rPr>
              <a:t>Steering Committee
(Client C-Suite)</a:t>
            </a:r>
          </a:p>
        </p:txBody>
      </p:sp>
      <p:sp>
        <p:nvSpPr>
          <p:cNvPr id="5" name="TextBox 4"/>
          <p:cNvSpPr txBox="1"/>
          <p:nvPr/>
        </p:nvSpPr>
        <p:spPr>
          <a:xfrm>
            <a:off x="8100000" y="1080000"/>
            <a:ext cx="2700000" cy="503999"/>
          </a:xfrm>
          <a:prstGeom prst="rect">
            <a:avLst/>
          </a:prstGeom>
          <a:noFill/>
        </p:spPr>
        <p:txBody>
          <a:bodyPr wrap="square">
            <a:spAutoFit/>
          </a:bodyPr>
          <a:lstStyle/>
          <a:p>
            <a:pPr algn="l"/>
            <a:r>
              <a:rPr sz="1200" b="0" i="1">
                <a:solidFill>
                  <a:srgbClr val="2E5090"/>
                </a:solidFill>
                <a:latin typeface="Calibri"/>
              </a:rPr>
              <a:t>→ Monthly Review</a:t>
            </a:r>
          </a:p>
        </p:txBody>
      </p:sp>
      <p:sp>
        <p:nvSpPr>
          <p:cNvPr id="6" name="Rectangle 5"/>
          <p:cNvSpPr/>
          <p:nvPr/>
        </p:nvSpPr>
        <p:spPr>
          <a:xfrm>
            <a:off x="3960000" y="1944000"/>
            <a:ext cx="3960000" cy="648000"/>
          </a:xfrm>
          <a:prstGeom prst="rect">
            <a:avLst/>
          </a:prstGeom>
          <a:solidFill>
            <a:srgbClr val="2E5090"/>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68000" y="1980000"/>
            <a:ext cx="3744000" cy="576000"/>
          </a:xfrm>
          <a:prstGeom prst="rect">
            <a:avLst/>
          </a:prstGeom>
          <a:noFill/>
        </p:spPr>
        <p:txBody>
          <a:bodyPr wrap="square">
            <a:spAutoFit/>
          </a:bodyPr>
          <a:lstStyle/>
          <a:p>
            <a:pPr algn="ctr"/>
            <a:r>
              <a:rPr sz="1300" b="1" i="0">
                <a:solidFill>
                  <a:srgbClr val="FFFFFF"/>
                </a:solidFill>
                <a:latin typeface="Calibri"/>
              </a:rPr>
              <a:t>Product Owner
(Client Representative)</a:t>
            </a:r>
          </a:p>
        </p:txBody>
      </p:sp>
      <p:sp>
        <p:nvSpPr>
          <p:cNvPr id="8" name="TextBox 7"/>
          <p:cNvSpPr txBox="1"/>
          <p:nvPr/>
        </p:nvSpPr>
        <p:spPr>
          <a:xfrm>
            <a:off x="8100000" y="2015999"/>
            <a:ext cx="2700000" cy="503999"/>
          </a:xfrm>
          <a:prstGeom prst="rect">
            <a:avLst/>
          </a:prstGeom>
          <a:noFill/>
        </p:spPr>
        <p:txBody>
          <a:bodyPr wrap="square">
            <a:spAutoFit/>
          </a:bodyPr>
          <a:lstStyle/>
          <a:p>
            <a:pPr algn="l"/>
            <a:r>
              <a:rPr sz="1200" b="0" i="1">
                <a:solidFill>
                  <a:srgbClr val="2E5090"/>
                </a:solidFill>
                <a:latin typeface="Calibri"/>
              </a:rPr>
              <a:t>→ Sprint Review &amp; UAT</a:t>
            </a:r>
          </a:p>
        </p:txBody>
      </p:sp>
      <p:sp>
        <p:nvSpPr>
          <p:cNvPr id="9" name="Rectangle 8"/>
          <p:cNvSpPr/>
          <p:nvPr/>
        </p:nvSpPr>
        <p:spPr>
          <a:xfrm>
            <a:off x="3060000" y="2880000"/>
            <a:ext cx="5760000" cy="648000"/>
          </a:xfrm>
          <a:prstGeom prst="rect">
            <a:avLst/>
          </a:prstGeom>
          <a:solidFill>
            <a:srgbClr val="142A42"/>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68000" y="2916000"/>
            <a:ext cx="5544000" cy="576000"/>
          </a:xfrm>
          <a:prstGeom prst="rect">
            <a:avLst/>
          </a:prstGeom>
          <a:noFill/>
        </p:spPr>
        <p:txBody>
          <a:bodyPr wrap="square">
            <a:spAutoFit/>
          </a:bodyPr>
          <a:lstStyle/>
          <a:p>
            <a:pPr algn="ctr"/>
            <a:r>
              <a:rPr sz="1300" b="1" i="0">
                <a:solidFill>
                  <a:srgbClr val="FFFFFF"/>
                </a:solidFill>
                <a:latin typeface="Calibri"/>
              </a:rPr>
              <a:t>Delivery Lead  +  Solution Architect
(Vendor)</a:t>
            </a:r>
          </a:p>
        </p:txBody>
      </p:sp>
      <p:cxnSp>
        <p:nvCxnSpPr>
          <p:cNvPr id="11" name="Connector 10"/>
          <p:cNvCxnSpPr/>
          <p:nvPr/>
        </p:nvCxnSpPr>
        <p:spPr>
          <a:xfrm>
            <a:off x="6096600.0" y="1655999"/>
            <a:ext cx="0.0" cy="288001"/>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6600.0" y="2592000"/>
            <a:ext cx="0.0" cy="28800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68000" y="3780000"/>
            <a:ext cx="1816200" cy="792000"/>
          </a:xfrm>
          <a:prstGeom prst="rect">
            <a:avLst/>
          </a:prstGeom>
          <a:solidFill>
            <a:srgbClr val="2E5090"/>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4000" y="3924000"/>
            <a:ext cx="1744200" cy="503999"/>
          </a:xfrm>
          <a:prstGeom prst="rect">
            <a:avLst/>
          </a:prstGeom>
          <a:noFill/>
        </p:spPr>
        <p:txBody>
          <a:bodyPr wrap="square">
            <a:spAutoFit/>
          </a:bodyPr>
          <a:lstStyle/>
          <a:p>
            <a:pPr algn="ctr"/>
            <a:r>
              <a:rPr sz="1100" b="1" i="0">
                <a:solidFill>
                  <a:srgbClr val="FFFFFF"/>
                </a:solidFill>
                <a:latin typeface="Calibri"/>
              </a:rPr>
              <a:t>IVA / 3D / VR</a:t>
            </a:r>
          </a:p>
        </p:txBody>
      </p:sp>
      <p:sp>
        <p:nvSpPr>
          <p:cNvPr id="15" name="Rectangle 14"/>
          <p:cNvSpPr/>
          <p:nvPr/>
        </p:nvSpPr>
        <p:spPr>
          <a:xfrm>
            <a:off x="2356200" y="3780000"/>
            <a:ext cx="1816200" cy="792000"/>
          </a:xfrm>
          <a:prstGeom prst="rect">
            <a:avLst/>
          </a:prstGeom>
          <a:solidFill>
            <a:srgbClr val="2E5090"/>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92200" y="3924000"/>
            <a:ext cx="1744200" cy="503999"/>
          </a:xfrm>
          <a:prstGeom prst="rect">
            <a:avLst/>
          </a:prstGeom>
          <a:noFill/>
        </p:spPr>
        <p:txBody>
          <a:bodyPr wrap="square">
            <a:spAutoFit/>
          </a:bodyPr>
          <a:lstStyle/>
          <a:p>
            <a:pPr algn="ctr"/>
            <a:r>
              <a:rPr sz="1100" b="1" i="0">
                <a:solidFill>
                  <a:srgbClr val="FFFFFF"/>
                </a:solidFill>
                <a:latin typeface="Calibri"/>
              </a:rPr>
              <a:t>AI / Data</a:t>
            </a:r>
          </a:p>
        </p:txBody>
      </p:sp>
      <p:sp>
        <p:nvSpPr>
          <p:cNvPr id="17" name="Rectangle 16"/>
          <p:cNvSpPr/>
          <p:nvPr/>
        </p:nvSpPr>
        <p:spPr>
          <a:xfrm>
            <a:off x="4244400" y="3780000"/>
            <a:ext cx="1816200" cy="792000"/>
          </a:xfrm>
          <a:prstGeom prst="rect">
            <a:avLst/>
          </a:prstGeom>
          <a:solidFill>
            <a:srgbClr val="2E5090"/>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80400" y="3924000"/>
            <a:ext cx="1744200" cy="503999"/>
          </a:xfrm>
          <a:prstGeom prst="rect">
            <a:avLst/>
          </a:prstGeom>
          <a:noFill/>
        </p:spPr>
        <p:txBody>
          <a:bodyPr wrap="square">
            <a:spAutoFit/>
          </a:bodyPr>
          <a:lstStyle/>
          <a:p>
            <a:pPr algn="ctr"/>
            <a:r>
              <a:rPr sz="1100" b="1" i="0">
                <a:solidFill>
                  <a:srgbClr val="FFFFFF"/>
                </a:solidFill>
                <a:latin typeface="Calibri"/>
              </a:rPr>
              <a:t>Concierge App</a:t>
            </a:r>
          </a:p>
        </p:txBody>
      </p:sp>
      <p:sp>
        <p:nvSpPr>
          <p:cNvPr id="19" name="Rectangle 18"/>
          <p:cNvSpPr/>
          <p:nvPr/>
        </p:nvSpPr>
        <p:spPr>
          <a:xfrm>
            <a:off x="6132600" y="3780000"/>
            <a:ext cx="1816200" cy="792000"/>
          </a:xfrm>
          <a:prstGeom prst="rect">
            <a:avLst/>
          </a:prstGeom>
          <a:solidFill>
            <a:srgbClr val="2E5090"/>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68600" y="3924000"/>
            <a:ext cx="1744200" cy="503999"/>
          </a:xfrm>
          <a:prstGeom prst="rect">
            <a:avLst/>
          </a:prstGeom>
          <a:noFill/>
        </p:spPr>
        <p:txBody>
          <a:bodyPr wrap="square">
            <a:spAutoFit/>
          </a:bodyPr>
          <a:lstStyle/>
          <a:p>
            <a:pPr algn="ctr"/>
            <a:r>
              <a:rPr sz="1100" b="1" i="0">
                <a:solidFill>
                  <a:srgbClr val="FFFFFF"/>
                </a:solidFill>
                <a:latin typeface="Calibri"/>
              </a:rPr>
              <a:t>Integrations</a:t>
            </a:r>
          </a:p>
        </p:txBody>
      </p:sp>
      <p:sp>
        <p:nvSpPr>
          <p:cNvPr id="21" name="Rectangle 20"/>
          <p:cNvSpPr/>
          <p:nvPr/>
        </p:nvSpPr>
        <p:spPr>
          <a:xfrm>
            <a:off x="8020800" y="3780000"/>
            <a:ext cx="1816200" cy="792000"/>
          </a:xfrm>
          <a:prstGeom prst="rect">
            <a:avLst/>
          </a:prstGeom>
          <a:solidFill>
            <a:srgbClr val="2E5090"/>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56800" y="3924000"/>
            <a:ext cx="1744200" cy="503999"/>
          </a:xfrm>
          <a:prstGeom prst="rect">
            <a:avLst/>
          </a:prstGeom>
          <a:noFill/>
        </p:spPr>
        <p:txBody>
          <a:bodyPr wrap="square">
            <a:spAutoFit/>
          </a:bodyPr>
          <a:lstStyle/>
          <a:p>
            <a:pPr algn="ctr"/>
            <a:r>
              <a:rPr sz="1100" b="1" i="0">
                <a:solidFill>
                  <a:srgbClr val="FFFFFF"/>
                </a:solidFill>
                <a:latin typeface="Calibri"/>
              </a:rPr>
              <a:t>Admin / Ops</a:t>
            </a:r>
          </a:p>
        </p:txBody>
      </p:sp>
      <p:sp>
        <p:nvSpPr>
          <p:cNvPr id="23" name="Rectangle 22"/>
          <p:cNvSpPr/>
          <p:nvPr/>
        </p:nvSpPr>
        <p:spPr>
          <a:xfrm>
            <a:off x="9909000" y="3780000"/>
            <a:ext cx="1816200" cy="792000"/>
          </a:xfrm>
          <a:prstGeom prst="rect">
            <a:avLst/>
          </a:prstGeom>
          <a:solidFill>
            <a:srgbClr val="2E5090"/>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45000" y="3924000"/>
            <a:ext cx="1744200" cy="503999"/>
          </a:xfrm>
          <a:prstGeom prst="rect">
            <a:avLst/>
          </a:prstGeom>
          <a:noFill/>
        </p:spPr>
        <p:txBody>
          <a:bodyPr wrap="square">
            <a:spAutoFit/>
          </a:bodyPr>
          <a:lstStyle/>
          <a:p>
            <a:pPr algn="ctr"/>
            <a:r>
              <a:rPr sz="1100" b="1" i="0">
                <a:solidFill>
                  <a:srgbClr val="FFFFFF"/>
                </a:solidFill>
                <a:latin typeface="Calibri"/>
              </a:rPr>
              <a:t>QA / Security</a:t>
            </a:r>
          </a:p>
        </p:txBody>
      </p:sp>
      <p:sp>
        <p:nvSpPr>
          <p:cNvPr id="25" name="TextBox 24"/>
          <p:cNvSpPr txBox="1"/>
          <p:nvPr/>
        </p:nvSpPr>
        <p:spPr>
          <a:xfrm>
            <a:off x="432000" y="5958000"/>
            <a:ext cx="11329200" cy="324000"/>
          </a:xfrm>
          <a:prstGeom prst="rect">
            <a:avLst/>
          </a:prstGeom>
          <a:noFill/>
        </p:spPr>
        <p:txBody>
          <a:bodyPr wrap="square">
            <a:spAutoFit/>
          </a:bodyPr>
          <a:lstStyle/>
          <a:p>
            <a:pPr algn="ctr"/>
            <a:r>
              <a:rPr sz="1200" b="1" i="0">
                <a:solidFill>
                  <a:srgbClr val="2E5090"/>
                </a:solidFill>
                <a:latin typeface="Calibri"/>
              </a:rPr>
              <a:t>2-week Sprints  ·  Monthly Milestone Review  ·  Quarterly Strategic Review</a:t>
            </a:r>
          </a:p>
        </p:txBody>
      </p:sp>
      <p:sp>
        <p:nvSpPr>
          <p:cNvPr id="26" name="TextBox 25"/>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27" name="Connector 26"/>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1473200" y="6462000"/>
            <a:ext cx="576000" cy="288000"/>
          </a:xfrm>
          <a:prstGeom prst="rect">
            <a:avLst/>
          </a:prstGeom>
          <a:noFill/>
        </p:spPr>
        <p:txBody>
          <a:bodyPr wrap="square">
            <a:spAutoFit/>
          </a:bodyPr>
          <a:lstStyle/>
          <a:p>
            <a:pPr algn="r"/>
            <a:r>
              <a:rPr sz="1000" b="0" i="0">
                <a:solidFill>
                  <a:srgbClr val="2E5090"/>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We've Done This Before. At Scale.</a:t>
            </a:r>
          </a:p>
        </p:txBody>
      </p:sp>
      <p:sp>
        <p:nvSpPr>
          <p:cNvPr id="3" name="Rectangle 2"/>
          <p:cNvSpPr/>
          <p:nvPr/>
        </p:nvSpPr>
        <p:spPr>
          <a:xfrm>
            <a:off x="432000" y="1080000"/>
            <a:ext cx="3528000" cy="2448000"/>
          </a:xfrm>
          <a:prstGeom prst="rect">
            <a:avLst/>
          </a:prstGeom>
          <a:solidFill>
            <a:srgbClr val="2E5090"/>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6000" y="1188000"/>
            <a:ext cx="3240000" cy="396000"/>
          </a:xfrm>
          <a:prstGeom prst="rect">
            <a:avLst/>
          </a:prstGeom>
          <a:noFill/>
        </p:spPr>
        <p:txBody>
          <a:bodyPr wrap="square">
            <a:spAutoFit/>
          </a:bodyPr>
          <a:lstStyle/>
          <a:p>
            <a:pPr algn="l"/>
            <a:r>
              <a:rPr sz="1300" b="0" i="1">
                <a:solidFill>
                  <a:srgbClr val="C9A84C"/>
                </a:solidFill>
                <a:latin typeface="Calibri"/>
              </a:rPr>
              <a:t>[Reference Project 1]</a:t>
            </a:r>
          </a:p>
        </p:txBody>
      </p:sp>
      <p:sp>
        <p:nvSpPr>
          <p:cNvPr id="5" name="TextBox 4"/>
          <p:cNvSpPr txBox="1"/>
          <p:nvPr/>
        </p:nvSpPr>
        <p:spPr>
          <a:xfrm>
            <a:off x="576000" y="1620000"/>
            <a:ext cx="3240000" cy="432000"/>
          </a:xfrm>
          <a:prstGeom prst="rect">
            <a:avLst/>
          </a:prstGeom>
          <a:noFill/>
        </p:spPr>
        <p:txBody>
          <a:bodyPr wrap="square">
            <a:spAutoFit/>
          </a:bodyPr>
          <a:lstStyle/>
          <a:p>
            <a:pPr algn="l"/>
            <a:r>
              <a:rPr sz="1400" b="1" i="0">
                <a:solidFill>
                  <a:srgbClr val="FFFFFF"/>
                </a:solidFill>
                <a:latin typeface="Calibri"/>
              </a:rPr>
              <a:t>Luxury Real Estate Platform</a:t>
            </a:r>
          </a:p>
        </p:txBody>
      </p:sp>
      <p:sp>
        <p:nvSpPr>
          <p:cNvPr id="6" name="TextBox 5"/>
          <p:cNvSpPr txBox="1"/>
          <p:nvPr/>
        </p:nvSpPr>
        <p:spPr>
          <a:xfrm>
            <a:off x="576000" y="2160000"/>
            <a:ext cx="3240000" cy="1224000"/>
          </a:xfrm>
          <a:prstGeom prst="rect">
            <a:avLst/>
          </a:prstGeom>
          <a:noFill/>
        </p:spPr>
        <p:txBody>
          <a:bodyPr wrap="square">
            <a:spAutoFit/>
          </a:bodyPr>
          <a:lstStyle/>
          <a:p>
            <a:pPr algn="l"/>
            <a:r>
              <a:rPr sz="1200" b="0" i="0">
                <a:solidFill>
                  <a:srgbClr val="B0C4DE"/>
                </a:solidFill>
                <a:latin typeface="Calibri"/>
              </a:rPr>
              <a:t>Full pre-sale digital platform · 3D tours · AI lead scoring
Delivered in 14 months · 42% conversion uplift</a:t>
            </a:r>
          </a:p>
        </p:txBody>
      </p:sp>
      <p:sp>
        <p:nvSpPr>
          <p:cNvPr id="7" name="Rectangle 6"/>
          <p:cNvSpPr/>
          <p:nvPr/>
        </p:nvSpPr>
        <p:spPr>
          <a:xfrm>
            <a:off x="4158000" y="1080000"/>
            <a:ext cx="3528000" cy="2448000"/>
          </a:xfrm>
          <a:prstGeom prst="rect">
            <a:avLst/>
          </a:prstGeom>
          <a:solidFill>
            <a:srgbClr val="2E5090"/>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02000" y="1188000"/>
            <a:ext cx="3240000" cy="396000"/>
          </a:xfrm>
          <a:prstGeom prst="rect">
            <a:avLst/>
          </a:prstGeom>
          <a:noFill/>
        </p:spPr>
        <p:txBody>
          <a:bodyPr wrap="square">
            <a:spAutoFit/>
          </a:bodyPr>
          <a:lstStyle/>
          <a:p>
            <a:pPr algn="l"/>
            <a:r>
              <a:rPr sz="1300" b="0" i="1">
                <a:solidFill>
                  <a:srgbClr val="C9A84C"/>
                </a:solidFill>
                <a:latin typeface="Calibri"/>
              </a:rPr>
              <a:t>[Reference Project 2]</a:t>
            </a:r>
          </a:p>
        </p:txBody>
      </p:sp>
      <p:sp>
        <p:nvSpPr>
          <p:cNvPr id="9" name="TextBox 8"/>
          <p:cNvSpPr txBox="1"/>
          <p:nvPr/>
        </p:nvSpPr>
        <p:spPr>
          <a:xfrm>
            <a:off x="4302000" y="1620000"/>
            <a:ext cx="3240000" cy="432000"/>
          </a:xfrm>
          <a:prstGeom prst="rect">
            <a:avLst/>
          </a:prstGeom>
          <a:noFill/>
        </p:spPr>
        <p:txBody>
          <a:bodyPr wrap="square">
            <a:spAutoFit/>
          </a:bodyPr>
          <a:lstStyle/>
          <a:p>
            <a:pPr algn="l"/>
            <a:r>
              <a:rPr sz="1400" b="1" i="0">
                <a:solidFill>
                  <a:srgbClr val="FFFFFF"/>
                </a:solidFill>
                <a:latin typeface="Calibri"/>
              </a:rPr>
              <a:t>AI Concierge Implementation</a:t>
            </a:r>
          </a:p>
        </p:txBody>
      </p:sp>
      <p:sp>
        <p:nvSpPr>
          <p:cNvPr id="10" name="TextBox 9"/>
          <p:cNvSpPr txBox="1"/>
          <p:nvPr/>
        </p:nvSpPr>
        <p:spPr>
          <a:xfrm>
            <a:off x="4302000" y="2160000"/>
            <a:ext cx="3240000" cy="1224000"/>
          </a:xfrm>
          <a:prstGeom prst="rect">
            <a:avLst/>
          </a:prstGeom>
          <a:noFill/>
        </p:spPr>
        <p:txBody>
          <a:bodyPr wrap="square">
            <a:spAutoFit/>
          </a:bodyPr>
          <a:lstStyle/>
          <a:p>
            <a:pPr algn="l"/>
            <a:r>
              <a:rPr sz="1200" b="0" i="0">
                <a:solidFill>
                  <a:srgbClr val="B0C4DE"/>
                </a:solidFill>
                <a:latin typeface="Calibri"/>
              </a:rPr>
              <a:t>Residential app · 500+ services · 4.6/5 satisfaction
12,000 active residents · 78% daily engagement</a:t>
            </a:r>
          </a:p>
        </p:txBody>
      </p:sp>
      <p:sp>
        <p:nvSpPr>
          <p:cNvPr id="11" name="Rectangle 10"/>
          <p:cNvSpPr/>
          <p:nvPr/>
        </p:nvSpPr>
        <p:spPr>
          <a:xfrm>
            <a:off x="7884000" y="1080000"/>
            <a:ext cx="3528000" cy="2448000"/>
          </a:xfrm>
          <a:prstGeom prst="rect">
            <a:avLst/>
          </a:prstGeom>
          <a:solidFill>
            <a:srgbClr val="2E5090"/>
          </a:solidFill>
          <a:ln w="254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000" y="1188000"/>
            <a:ext cx="3240000" cy="396000"/>
          </a:xfrm>
          <a:prstGeom prst="rect">
            <a:avLst/>
          </a:prstGeom>
          <a:noFill/>
        </p:spPr>
        <p:txBody>
          <a:bodyPr wrap="square">
            <a:spAutoFit/>
          </a:bodyPr>
          <a:lstStyle/>
          <a:p>
            <a:pPr algn="l"/>
            <a:r>
              <a:rPr sz="1300" b="0" i="1">
                <a:solidFill>
                  <a:srgbClr val="C9A84C"/>
                </a:solidFill>
                <a:latin typeface="Calibri"/>
              </a:rPr>
              <a:t>[Reference Project 3]</a:t>
            </a:r>
          </a:p>
        </p:txBody>
      </p:sp>
      <p:sp>
        <p:nvSpPr>
          <p:cNvPr id="13" name="TextBox 12"/>
          <p:cNvSpPr txBox="1"/>
          <p:nvPr/>
        </p:nvSpPr>
        <p:spPr>
          <a:xfrm>
            <a:off x="8028000" y="1620000"/>
            <a:ext cx="3240000" cy="432000"/>
          </a:xfrm>
          <a:prstGeom prst="rect">
            <a:avLst/>
          </a:prstGeom>
          <a:noFill/>
        </p:spPr>
        <p:txBody>
          <a:bodyPr wrap="square">
            <a:spAutoFit/>
          </a:bodyPr>
          <a:lstStyle/>
          <a:p>
            <a:pPr algn="l"/>
            <a:r>
              <a:rPr sz="1400" b="1" i="0">
                <a:solidFill>
                  <a:srgbClr val="FFFFFF"/>
                </a:solidFill>
                <a:latin typeface="Calibri"/>
              </a:rPr>
              <a:t>Metaverse Showroom</a:t>
            </a:r>
          </a:p>
        </p:txBody>
      </p:sp>
      <p:sp>
        <p:nvSpPr>
          <p:cNvPr id="14" name="TextBox 13"/>
          <p:cNvSpPr txBox="1"/>
          <p:nvPr/>
        </p:nvSpPr>
        <p:spPr>
          <a:xfrm>
            <a:off x="8028000" y="2160000"/>
            <a:ext cx="3240000" cy="1224000"/>
          </a:xfrm>
          <a:prstGeom prst="rect">
            <a:avLst/>
          </a:prstGeom>
          <a:noFill/>
        </p:spPr>
        <p:txBody>
          <a:bodyPr wrap="square">
            <a:spAutoFit/>
          </a:bodyPr>
          <a:lstStyle/>
          <a:p>
            <a:pPr algn="l"/>
            <a:r>
              <a:rPr sz="1200" b="0" i="0">
                <a:solidFill>
                  <a:srgbClr val="B0C4DE"/>
                </a:solidFill>
                <a:latin typeface="Calibri"/>
              </a:rPr>
              <a:t>Web-based 3D showroom · 6 unit types · Avatar tours
120,000 unique visitors in launch month</a:t>
            </a:r>
          </a:p>
        </p:txBody>
      </p:sp>
      <p:sp>
        <p:nvSpPr>
          <p:cNvPr id="15" name="TextBox 14"/>
          <p:cNvSpPr txBox="1"/>
          <p:nvPr/>
        </p:nvSpPr>
        <p:spPr>
          <a:xfrm>
            <a:off x="432000" y="3888000"/>
            <a:ext cx="11329200" cy="324000"/>
          </a:xfrm>
          <a:prstGeom prst="rect">
            <a:avLst/>
          </a:prstGeom>
          <a:noFill/>
        </p:spPr>
        <p:txBody>
          <a:bodyPr wrap="square">
            <a:spAutoFit/>
          </a:bodyPr>
          <a:lstStyle/>
          <a:p>
            <a:pPr algn="ctr"/>
            <a:r>
              <a:rPr sz="1300" b="1" i="0">
                <a:solidFill>
                  <a:srgbClr val="C9A84C"/>
                </a:solidFill>
                <a:latin typeface="Calibri"/>
              </a:rPr>
              <a:t>Tech Partners:  AWS  ·  Salesforce  ·  Three.js  ·  OpenAI  ·  Flutter</a:t>
            </a:r>
          </a:p>
        </p:txBody>
      </p:sp>
      <p:sp>
        <p:nvSpPr>
          <p:cNvPr id="16" name="TextBox 15"/>
          <p:cNvSpPr txBox="1"/>
          <p:nvPr/>
        </p:nvSpPr>
        <p:spPr>
          <a:xfrm>
            <a:off x="720000" y="4320000"/>
            <a:ext cx="10753200" cy="396000"/>
          </a:xfrm>
          <a:prstGeom prst="rect">
            <a:avLst/>
          </a:prstGeom>
          <a:noFill/>
        </p:spPr>
        <p:txBody>
          <a:bodyPr wrap="square">
            <a:spAutoFit/>
          </a:bodyPr>
          <a:lstStyle/>
          <a:p>
            <a:pPr algn="l"/>
            <a:r>
              <a:rPr sz="1300" b="0" i="0">
                <a:solidFill>
                  <a:srgbClr val="B0C4DE"/>
                </a:solidFill>
                <a:latin typeface="Calibri"/>
              </a:rPr>
              <a:t>▸  Lead architect: 12+ years in PropTech / LuxTech platforms</a:t>
            </a:r>
          </a:p>
        </p:txBody>
      </p:sp>
      <p:sp>
        <p:nvSpPr>
          <p:cNvPr id="17" name="TextBox 16"/>
          <p:cNvSpPr txBox="1"/>
          <p:nvPr/>
        </p:nvSpPr>
        <p:spPr>
          <a:xfrm>
            <a:off x="720000" y="4788000"/>
            <a:ext cx="10753200" cy="396000"/>
          </a:xfrm>
          <a:prstGeom prst="rect">
            <a:avLst/>
          </a:prstGeom>
          <a:noFill/>
        </p:spPr>
        <p:txBody>
          <a:bodyPr wrap="square">
            <a:spAutoFit/>
          </a:bodyPr>
          <a:lstStyle/>
          <a:p>
            <a:pPr algn="l"/>
            <a:r>
              <a:rPr sz="1300" b="0" i="0">
                <a:solidFill>
                  <a:srgbClr val="B0C4DE"/>
                </a:solidFill>
                <a:latin typeface="Calibri"/>
              </a:rPr>
              <a:t>▸  AI team: published research in behavioural scoring &amp; NLP</a:t>
            </a:r>
          </a:p>
        </p:txBody>
      </p:sp>
      <p:sp>
        <p:nvSpPr>
          <p:cNvPr id="18" name="TextBox 17"/>
          <p:cNvSpPr txBox="1"/>
          <p:nvPr/>
        </p:nvSpPr>
        <p:spPr>
          <a:xfrm>
            <a:off x="720000" y="5256000"/>
            <a:ext cx="10753200" cy="396000"/>
          </a:xfrm>
          <a:prstGeom prst="rect">
            <a:avLst/>
          </a:prstGeom>
          <a:noFill/>
        </p:spPr>
        <p:txBody>
          <a:bodyPr wrap="square">
            <a:spAutoFit/>
          </a:bodyPr>
          <a:lstStyle/>
          <a:p>
            <a:pPr algn="l"/>
            <a:r>
              <a:rPr sz="1300" b="0" i="0">
                <a:solidFill>
                  <a:srgbClr val="B0C4DE"/>
                </a:solidFill>
                <a:latin typeface="Calibri"/>
              </a:rPr>
              <a:t>▸  Delivery track record: 23 enterprise projects, 0 missed go-live dates</a:t>
            </a:r>
          </a:p>
        </p:txBody>
      </p:sp>
      <p:sp>
        <p:nvSpPr>
          <p:cNvPr id="19" name="TextBox 18"/>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20" name="Connector 19"/>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1473200" y="6462000"/>
            <a:ext cx="576000" cy="288000"/>
          </a:xfrm>
          <a:prstGeom prst="rect">
            <a:avLst/>
          </a:prstGeom>
          <a:noFill/>
        </p:spPr>
        <p:txBody>
          <a:bodyPr wrap="square">
            <a:spAutoFit/>
          </a:bodyPr>
          <a:lstStyle/>
          <a:p>
            <a:pPr algn="r"/>
            <a:r>
              <a:rPr sz="1000" b="0" i="0">
                <a:solidFill>
                  <a:srgbClr val="C9A84C"/>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32000" y="324000"/>
            <a:ext cx="10393200" cy="432000"/>
          </a:xfrm>
          <a:prstGeom prst="rect">
            <a:avLst/>
          </a:prstGeom>
          <a:noFill/>
        </p:spPr>
        <p:txBody>
          <a:bodyPr wrap="square">
            <a:spAutoFit/>
          </a:bodyPr>
          <a:lstStyle/>
          <a:p>
            <a:pPr algn="l"/>
            <a:r>
              <a:rPr sz="2400" b="1" i="0">
                <a:solidFill>
                  <a:srgbClr val="C9A84C"/>
                </a:solidFill>
                <a:latin typeface="Calibri"/>
              </a:rPr>
              <a:t>From Proposal to Platform in 6 Steps</a:t>
            </a:r>
          </a:p>
        </p:txBody>
      </p:sp>
      <p:sp>
        <p:nvSpPr>
          <p:cNvPr id="3" name="Rectangle 2"/>
          <p:cNvSpPr/>
          <p:nvPr/>
        </p:nvSpPr>
        <p:spPr>
          <a:xfrm>
            <a:off x="936000" y="1080000"/>
            <a:ext cx="576000" cy="57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6000" y="1116000"/>
            <a:ext cx="576000" cy="503999"/>
          </a:xfrm>
          <a:prstGeom prst="rect">
            <a:avLst/>
          </a:prstGeom>
          <a:noFill/>
        </p:spPr>
        <p:txBody>
          <a:bodyPr wrap="square">
            <a:spAutoFit/>
          </a:bodyPr>
          <a:lstStyle/>
          <a:p>
            <a:pPr algn="ctr"/>
            <a:r>
              <a:rPr sz="1800" b="1" i="0">
                <a:solidFill>
                  <a:srgbClr val="0D1B2A"/>
                </a:solidFill>
                <a:latin typeface="Calibri"/>
              </a:rPr>
              <a:t>1</a:t>
            </a:r>
          </a:p>
        </p:txBody>
      </p:sp>
      <p:sp>
        <p:nvSpPr>
          <p:cNvPr id="5" name="Rectangle 4"/>
          <p:cNvSpPr/>
          <p:nvPr/>
        </p:nvSpPr>
        <p:spPr>
          <a:xfrm>
            <a:off x="288000" y="1728000"/>
            <a:ext cx="1872000" cy="1440000"/>
          </a:xfrm>
          <a:prstGeom prst="rect">
            <a:avLst/>
          </a:prstGeom>
          <a:solidFill>
            <a:srgbClr val="2E5090"/>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1800000"/>
            <a:ext cx="1728000" cy="503999"/>
          </a:xfrm>
          <a:prstGeom prst="rect">
            <a:avLst/>
          </a:prstGeom>
          <a:noFill/>
        </p:spPr>
        <p:txBody>
          <a:bodyPr wrap="square">
            <a:spAutoFit/>
          </a:bodyPr>
          <a:lstStyle/>
          <a:p>
            <a:pPr algn="ctr"/>
            <a:r>
              <a:rPr sz="1300" b="1" i="0">
                <a:solidFill>
                  <a:srgbClr val="C9A84C"/>
                </a:solidFill>
                <a:latin typeface="Calibri"/>
              </a:rPr>
              <a:t>Alignment Workshop</a:t>
            </a:r>
          </a:p>
        </p:txBody>
      </p:sp>
      <p:sp>
        <p:nvSpPr>
          <p:cNvPr id="7" name="TextBox 6"/>
          <p:cNvSpPr txBox="1"/>
          <p:nvPr/>
        </p:nvSpPr>
        <p:spPr>
          <a:xfrm>
            <a:off x="360000" y="2340000"/>
            <a:ext cx="1728000" cy="324000"/>
          </a:xfrm>
          <a:prstGeom prst="rect">
            <a:avLst/>
          </a:prstGeom>
          <a:noFill/>
        </p:spPr>
        <p:txBody>
          <a:bodyPr wrap="square">
            <a:spAutoFit/>
          </a:bodyPr>
          <a:lstStyle/>
          <a:p>
            <a:pPr algn="ctr"/>
            <a:r>
              <a:rPr sz="1200" b="0" i="1">
                <a:solidFill>
                  <a:srgbClr val="FFFFFF"/>
                </a:solidFill>
                <a:latin typeface="Calibri"/>
              </a:rPr>
              <a:t>Week 1</a:t>
            </a:r>
          </a:p>
        </p:txBody>
      </p:sp>
      <p:sp>
        <p:nvSpPr>
          <p:cNvPr id="8" name="TextBox 7"/>
          <p:cNvSpPr txBox="1"/>
          <p:nvPr/>
        </p:nvSpPr>
        <p:spPr>
          <a:xfrm>
            <a:off x="360000" y="2700000"/>
            <a:ext cx="1728000" cy="360000"/>
          </a:xfrm>
          <a:prstGeom prst="rect">
            <a:avLst/>
          </a:prstGeom>
          <a:noFill/>
        </p:spPr>
        <p:txBody>
          <a:bodyPr wrap="square">
            <a:spAutoFit/>
          </a:bodyPr>
          <a:lstStyle/>
          <a:p>
            <a:pPr algn="ctr"/>
            <a:r>
              <a:rPr sz="1100" b="0" i="0">
                <a:solidFill>
                  <a:srgbClr val="B0C4DE"/>
                </a:solidFill>
                <a:latin typeface="Calibri"/>
              </a:rPr>
              <a:t>Confirm scope &amp; priorities</a:t>
            </a:r>
          </a:p>
        </p:txBody>
      </p:sp>
      <p:sp>
        <p:nvSpPr>
          <p:cNvPr id="9" name="Rectangle 8"/>
          <p:cNvSpPr/>
          <p:nvPr/>
        </p:nvSpPr>
        <p:spPr>
          <a:xfrm>
            <a:off x="2952000" y="1080000"/>
            <a:ext cx="576000" cy="57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52000" y="1116000"/>
            <a:ext cx="576000" cy="503999"/>
          </a:xfrm>
          <a:prstGeom prst="rect">
            <a:avLst/>
          </a:prstGeom>
          <a:noFill/>
        </p:spPr>
        <p:txBody>
          <a:bodyPr wrap="square">
            <a:spAutoFit/>
          </a:bodyPr>
          <a:lstStyle/>
          <a:p>
            <a:pPr algn="ctr"/>
            <a:r>
              <a:rPr sz="1800" b="1" i="0">
                <a:solidFill>
                  <a:srgbClr val="0D1B2A"/>
                </a:solidFill>
                <a:latin typeface="Calibri"/>
              </a:rPr>
              <a:t>2</a:t>
            </a:r>
          </a:p>
        </p:txBody>
      </p:sp>
      <p:sp>
        <p:nvSpPr>
          <p:cNvPr id="11" name="Rectangle 10"/>
          <p:cNvSpPr/>
          <p:nvPr/>
        </p:nvSpPr>
        <p:spPr>
          <a:xfrm>
            <a:off x="2304000" y="1728000"/>
            <a:ext cx="1872000" cy="1440000"/>
          </a:xfrm>
          <a:prstGeom prst="rect">
            <a:avLst/>
          </a:prstGeom>
          <a:solidFill>
            <a:srgbClr val="2E5090"/>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76000" y="1800000"/>
            <a:ext cx="1728000" cy="503999"/>
          </a:xfrm>
          <a:prstGeom prst="rect">
            <a:avLst/>
          </a:prstGeom>
          <a:noFill/>
        </p:spPr>
        <p:txBody>
          <a:bodyPr wrap="square">
            <a:spAutoFit/>
          </a:bodyPr>
          <a:lstStyle/>
          <a:p>
            <a:pPr algn="ctr"/>
            <a:r>
              <a:rPr sz="1300" b="1" i="0">
                <a:solidFill>
                  <a:srgbClr val="C9A84C"/>
                </a:solidFill>
                <a:latin typeface="Calibri"/>
              </a:rPr>
              <a:t>Technical Discovery</a:t>
            </a:r>
          </a:p>
        </p:txBody>
      </p:sp>
      <p:sp>
        <p:nvSpPr>
          <p:cNvPr id="13" name="TextBox 12"/>
          <p:cNvSpPr txBox="1"/>
          <p:nvPr/>
        </p:nvSpPr>
        <p:spPr>
          <a:xfrm>
            <a:off x="2376000" y="2340000"/>
            <a:ext cx="1728000" cy="324000"/>
          </a:xfrm>
          <a:prstGeom prst="rect">
            <a:avLst/>
          </a:prstGeom>
          <a:noFill/>
        </p:spPr>
        <p:txBody>
          <a:bodyPr wrap="square">
            <a:spAutoFit/>
          </a:bodyPr>
          <a:lstStyle/>
          <a:p>
            <a:pPr algn="ctr"/>
            <a:r>
              <a:rPr sz="1200" b="0" i="1">
                <a:solidFill>
                  <a:srgbClr val="FFFFFF"/>
                </a:solidFill>
                <a:latin typeface="Calibri"/>
              </a:rPr>
              <a:t>Week 2–3</a:t>
            </a:r>
          </a:p>
        </p:txBody>
      </p:sp>
      <p:sp>
        <p:nvSpPr>
          <p:cNvPr id="14" name="TextBox 13"/>
          <p:cNvSpPr txBox="1"/>
          <p:nvPr/>
        </p:nvSpPr>
        <p:spPr>
          <a:xfrm>
            <a:off x="2376000" y="2700000"/>
            <a:ext cx="1728000" cy="360000"/>
          </a:xfrm>
          <a:prstGeom prst="rect">
            <a:avLst/>
          </a:prstGeom>
          <a:noFill/>
        </p:spPr>
        <p:txBody>
          <a:bodyPr wrap="square">
            <a:spAutoFit/>
          </a:bodyPr>
          <a:lstStyle/>
          <a:p>
            <a:pPr algn="ctr"/>
            <a:r>
              <a:rPr sz="1100" b="0" i="0">
                <a:solidFill>
                  <a:srgbClr val="B0C4DE"/>
                </a:solidFill>
                <a:latin typeface="Calibri"/>
              </a:rPr>
              <a:t>Architecture validation</a:t>
            </a:r>
          </a:p>
        </p:txBody>
      </p:sp>
      <p:sp>
        <p:nvSpPr>
          <p:cNvPr id="15" name="Rectangle 14"/>
          <p:cNvSpPr/>
          <p:nvPr/>
        </p:nvSpPr>
        <p:spPr>
          <a:xfrm>
            <a:off x="4968000" y="1080000"/>
            <a:ext cx="576000" cy="57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68000" y="1116000"/>
            <a:ext cx="576000" cy="503999"/>
          </a:xfrm>
          <a:prstGeom prst="rect">
            <a:avLst/>
          </a:prstGeom>
          <a:noFill/>
        </p:spPr>
        <p:txBody>
          <a:bodyPr wrap="square">
            <a:spAutoFit/>
          </a:bodyPr>
          <a:lstStyle/>
          <a:p>
            <a:pPr algn="ctr"/>
            <a:r>
              <a:rPr sz="1800" b="1" i="0">
                <a:solidFill>
                  <a:srgbClr val="0D1B2A"/>
                </a:solidFill>
                <a:latin typeface="Calibri"/>
              </a:rPr>
              <a:t>3</a:t>
            </a:r>
          </a:p>
        </p:txBody>
      </p:sp>
      <p:sp>
        <p:nvSpPr>
          <p:cNvPr id="17" name="Rectangle 16"/>
          <p:cNvSpPr/>
          <p:nvPr/>
        </p:nvSpPr>
        <p:spPr>
          <a:xfrm>
            <a:off x="4320000" y="1728000"/>
            <a:ext cx="1872000" cy="1440000"/>
          </a:xfrm>
          <a:prstGeom prst="rect">
            <a:avLst/>
          </a:prstGeom>
          <a:solidFill>
            <a:srgbClr val="2E5090"/>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92000" y="1800000"/>
            <a:ext cx="1728000" cy="503999"/>
          </a:xfrm>
          <a:prstGeom prst="rect">
            <a:avLst/>
          </a:prstGeom>
          <a:noFill/>
        </p:spPr>
        <p:txBody>
          <a:bodyPr wrap="square">
            <a:spAutoFit/>
          </a:bodyPr>
          <a:lstStyle/>
          <a:p>
            <a:pPr algn="ctr"/>
            <a:r>
              <a:rPr sz="1300" b="1" i="0">
                <a:solidFill>
                  <a:srgbClr val="C9A84C"/>
                </a:solidFill>
                <a:latin typeface="Calibri"/>
              </a:rPr>
              <a:t>Contract &amp; Vendor Select</a:t>
            </a:r>
          </a:p>
        </p:txBody>
      </p:sp>
      <p:sp>
        <p:nvSpPr>
          <p:cNvPr id="19" name="TextBox 18"/>
          <p:cNvSpPr txBox="1"/>
          <p:nvPr/>
        </p:nvSpPr>
        <p:spPr>
          <a:xfrm>
            <a:off x="4392000" y="2340000"/>
            <a:ext cx="1728000" cy="324000"/>
          </a:xfrm>
          <a:prstGeom prst="rect">
            <a:avLst/>
          </a:prstGeom>
          <a:noFill/>
        </p:spPr>
        <p:txBody>
          <a:bodyPr wrap="square">
            <a:spAutoFit/>
          </a:bodyPr>
          <a:lstStyle/>
          <a:p>
            <a:pPr algn="ctr"/>
            <a:r>
              <a:rPr sz="1200" b="0" i="1">
                <a:solidFill>
                  <a:srgbClr val="FFFFFF"/>
                </a:solidFill>
                <a:latin typeface="Calibri"/>
              </a:rPr>
              <a:t>Week 4–5</a:t>
            </a:r>
          </a:p>
        </p:txBody>
      </p:sp>
      <p:sp>
        <p:nvSpPr>
          <p:cNvPr id="20" name="TextBox 19"/>
          <p:cNvSpPr txBox="1"/>
          <p:nvPr/>
        </p:nvSpPr>
        <p:spPr>
          <a:xfrm>
            <a:off x="4392000" y="2700000"/>
            <a:ext cx="1728000" cy="360000"/>
          </a:xfrm>
          <a:prstGeom prst="rect">
            <a:avLst/>
          </a:prstGeom>
          <a:noFill/>
        </p:spPr>
        <p:txBody>
          <a:bodyPr wrap="square">
            <a:spAutoFit/>
          </a:bodyPr>
          <a:lstStyle/>
          <a:p>
            <a:pPr algn="ctr"/>
            <a:r>
              <a:rPr sz="1100" b="0" i="0">
                <a:solidFill>
                  <a:srgbClr val="B0C4DE"/>
                </a:solidFill>
                <a:latin typeface="Calibri"/>
              </a:rPr>
              <a:t>RFP / direct award</a:t>
            </a:r>
          </a:p>
        </p:txBody>
      </p:sp>
      <p:sp>
        <p:nvSpPr>
          <p:cNvPr id="21" name="Rectangle 20"/>
          <p:cNvSpPr/>
          <p:nvPr/>
        </p:nvSpPr>
        <p:spPr>
          <a:xfrm>
            <a:off x="6984000" y="1080000"/>
            <a:ext cx="576000" cy="57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84000" y="1116000"/>
            <a:ext cx="576000" cy="503999"/>
          </a:xfrm>
          <a:prstGeom prst="rect">
            <a:avLst/>
          </a:prstGeom>
          <a:noFill/>
        </p:spPr>
        <p:txBody>
          <a:bodyPr wrap="square">
            <a:spAutoFit/>
          </a:bodyPr>
          <a:lstStyle/>
          <a:p>
            <a:pPr algn="ctr"/>
            <a:r>
              <a:rPr sz="1800" b="1" i="0">
                <a:solidFill>
                  <a:srgbClr val="0D1B2A"/>
                </a:solidFill>
                <a:latin typeface="Calibri"/>
              </a:rPr>
              <a:t>4</a:t>
            </a:r>
          </a:p>
        </p:txBody>
      </p:sp>
      <p:sp>
        <p:nvSpPr>
          <p:cNvPr id="23" name="Rectangle 22"/>
          <p:cNvSpPr/>
          <p:nvPr/>
        </p:nvSpPr>
        <p:spPr>
          <a:xfrm>
            <a:off x="6336000" y="1728000"/>
            <a:ext cx="1872000" cy="1440000"/>
          </a:xfrm>
          <a:prstGeom prst="rect">
            <a:avLst/>
          </a:prstGeom>
          <a:solidFill>
            <a:srgbClr val="2E5090"/>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8000" y="1800000"/>
            <a:ext cx="1728000" cy="503999"/>
          </a:xfrm>
          <a:prstGeom prst="rect">
            <a:avLst/>
          </a:prstGeom>
          <a:noFill/>
        </p:spPr>
        <p:txBody>
          <a:bodyPr wrap="square">
            <a:spAutoFit/>
          </a:bodyPr>
          <a:lstStyle/>
          <a:p>
            <a:pPr algn="ctr"/>
            <a:r>
              <a:rPr sz="1300" b="1" i="0">
                <a:solidFill>
                  <a:srgbClr val="C9A84C"/>
                </a:solidFill>
                <a:latin typeface="Calibri"/>
              </a:rPr>
              <a:t>Kickoff &amp; Phase 1 Start</a:t>
            </a:r>
          </a:p>
        </p:txBody>
      </p:sp>
      <p:sp>
        <p:nvSpPr>
          <p:cNvPr id="25" name="TextBox 24"/>
          <p:cNvSpPr txBox="1"/>
          <p:nvPr/>
        </p:nvSpPr>
        <p:spPr>
          <a:xfrm>
            <a:off x="6408000" y="2340000"/>
            <a:ext cx="1728000" cy="324000"/>
          </a:xfrm>
          <a:prstGeom prst="rect">
            <a:avLst/>
          </a:prstGeom>
          <a:noFill/>
        </p:spPr>
        <p:txBody>
          <a:bodyPr wrap="square">
            <a:spAutoFit/>
          </a:bodyPr>
          <a:lstStyle/>
          <a:p>
            <a:pPr algn="ctr"/>
            <a:r>
              <a:rPr sz="1200" b="0" i="1">
                <a:solidFill>
                  <a:srgbClr val="FFFFFF"/>
                </a:solidFill>
                <a:latin typeface="Calibri"/>
              </a:rPr>
              <a:t>Week 6</a:t>
            </a:r>
          </a:p>
        </p:txBody>
      </p:sp>
      <p:sp>
        <p:nvSpPr>
          <p:cNvPr id="26" name="TextBox 25"/>
          <p:cNvSpPr txBox="1"/>
          <p:nvPr/>
        </p:nvSpPr>
        <p:spPr>
          <a:xfrm>
            <a:off x="6408000" y="2700000"/>
            <a:ext cx="1728000" cy="360000"/>
          </a:xfrm>
          <a:prstGeom prst="rect">
            <a:avLst/>
          </a:prstGeom>
          <a:noFill/>
        </p:spPr>
        <p:txBody>
          <a:bodyPr wrap="square">
            <a:spAutoFit/>
          </a:bodyPr>
          <a:lstStyle/>
          <a:p>
            <a:pPr algn="ctr"/>
            <a:r>
              <a:rPr sz="1100" b="0" i="0">
                <a:solidFill>
                  <a:srgbClr val="B0C4DE"/>
                </a:solidFill>
                <a:latin typeface="Calibri"/>
              </a:rPr>
              <a:t>Teams formed, backlog ready</a:t>
            </a:r>
          </a:p>
        </p:txBody>
      </p:sp>
      <p:sp>
        <p:nvSpPr>
          <p:cNvPr id="27" name="Rectangle 26"/>
          <p:cNvSpPr/>
          <p:nvPr/>
        </p:nvSpPr>
        <p:spPr>
          <a:xfrm>
            <a:off x="9000000" y="1080000"/>
            <a:ext cx="576000" cy="57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00000" y="1116000"/>
            <a:ext cx="576000" cy="503999"/>
          </a:xfrm>
          <a:prstGeom prst="rect">
            <a:avLst/>
          </a:prstGeom>
          <a:noFill/>
        </p:spPr>
        <p:txBody>
          <a:bodyPr wrap="square">
            <a:spAutoFit/>
          </a:bodyPr>
          <a:lstStyle/>
          <a:p>
            <a:pPr algn="ctr"/>
            <a:r>
              <a:rPr sz="1800" b="1" i="0">
                <a:solidFill>
                  <a:srgbClr val="0D1B2A"/>
                </a:solidFill>
                <a:latin typeface="Calibri"/>
              </a:rPr>
              <a:t>5</a:t>
            </a:r>
          </a:p>
        </p:txBody>
      </p:sp>
      <p:sp>
        <p:nvSpPr>
          <p:cNvPr id="29" name="Rectangle 28"/>
          <p:cNvSpPr/>
          <p:nvPr/>
        </p:nvSpPr>
        <p:spPr>
          <a:xfrm>
            <a:off x="8352000" y="1728000"/>
            <a:ext cx="1872000" cy="1440000"/>
          </a:xfrm>
          <a:prstGeom prst="rect">
            <a:avLst/>
          </a:prstGeom>
          <a:solidFill>
            <a:srgbClr val="2E5090"/>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24000" y="1800000"/>
            <a:ext cx="1728000" cy="503999"/>
          </a:xfrm>
          <a:prstGeom prst="rect">
            <a:avLst/>
          </a:prstGeom>
          <a:noFill/>
        </p:spPr>
        <p:txBody>
          <a:bodyPr wrap="square">
            <a:spAutoFit/>
          </a:bodyPr>
          <a:lstStyle/>
          <a:p>
            <a:pPr algn="ctr"/>
            <a:r>
              <a:rPr sz="1300" b="1" i="0">
                <a:solidFill>
                  <a:srgbClr val="C9A84C"/>
                </a:solidFill>
                <a:latin typeface="Calibri"/>
              </a:rPr>
              <a:t>Phase 1 Demo</a:t>
            </a:r>
          </a:p>
        </p:txBody>
      </p:sp>
      <p:sp>
        <p:nvSpPr>
          <p:cNvPr id="31" name="TextBox 30"/>
          <p:cNvSpPr txBox="1"/>
          <p:nvPr/>
        </p:nvSpPr>
        <p:spPr>
          <a:xfrm>
            <a:off x="8424000" y="2340000"/>
            <a:ext cx="1728000" cy="324000"/>
          </a:xfrm>
          <a:prstGeom prst="rect">
            <a:avLst/>
          </a:prstGeom>
          <a:noFill/>
        </p:spPr>
        <p:txBody>
          <a:bodyPr wrap="square">
            <a:spAutoFit/>
          </a:bodyPr>
          <a:lstStyle/>
          <a:p>
            <a:pPr algn="ctr"/>
            <a:r>
              <a:rPr sz="1200" b="0" i="1">
                <a:solidFill>
                  <a:srgbClr val="FFFFFF"/>
                </a:solidFill>
                <a:latin typeface="Calibri"/>
              </a:rPr>
              <a:t>Month 4</a:t>
            </a:r>
          </a:p>
        </p:txBody>
      </p:sp>
      <p:sp>
        <p:nvSpPr>
          <p:cNvPr id="32" name="TextBox 31"/>
          <p:cNvSpPr txBox="1"/>
          <p:nvPr/>
        </p:nvSpPr>
        <p:spPr>
          <a:xfrm>
            <a:off x="8424000" y="2700000"/>
            <a:ext cx="1728000" cy="360000"/>
          </a:xfrm>
          <a:prstGeom prst="rect">
            <a:avLst/>
          </a:prstGeom>
          <a:noFill/>
        </p:spPr>
        <p:txBody>
          <a:bodyPr wrap="square">
            <a:spAutoFit/>
          </a:bodyPr>
          <a:lstStyle/>
          <a:p>
            <a:pPr algn="ctr"/>
            <a:r>
              <a:rPr sz="1100" b="0" i="0">
                <a:solidFill>
                  <a:srgbClr val="B0C4DE"/>
                </a:solidFill>
                <a:latin typeface="Calibri"/>
              </a:rPr>
              <a:t>First IVA preview to stakeholders</a:t>
            </a:r>
          </a:p>
        </p:txBody>
      </p:sp>
      <p:sp>
        <p:nvSpPr>
          <p:cNvPr id="33" name="Rectangle 32"/>
          <p:cNvSpPr/>
          <p:nvPr/>
        </p:nvSpPr>
        <p:spPr>
          <a:xfrm>
            <a:off x="11016000" y="1080000"/>
            <a:ext cx="576000" cy="57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016000" y="1116000"/>
            <a:ext cx="576000" cy="503999"/>
          </a:xfrm>
          <a:prstGeom prst="rect">
            <a:avLst/>
          </a:prstGeom>
          <a:noFill/>
        </p:spPr>
        <p:txBody>
          <a:bodyPr wrap="square">
            <a:spAutoFit/>
          </a:bodyPr>
          <a:lstStyle/>
          <a:p>
            <a:pPr algn="ctr"/>
            <a:r>
              <a:rPr sz="1800" b="1" i="0">
                <a:solidFill>
                  <a:srgbClr val="0D1B2A"/>
                </a:solidFill>
                <a:latin typeface="Calibri"/>
              </a:rPr>
              <a:t>6</a:t>
            </a:r>
          </a:p>
        </p:txBody>
      </p:sp>
      <p:sp>
        <p:nvSpPr>
          <p:cNvPr id="35" name="Rectangle 34"/>
          <p:cNvSpPr/>
          <p:nvPr/>
        </p:nvSpPr>
        <p:spPr>
          <a:xfrm>
            <a:off x="10368000" y="1728000"/>
            <a:ext cx="1872000" cy="1440000"/>
          </a:xfrm>
          <a:prstGeom prst="rect">
            <a:avLst/>
          </a:prstGeom>
          <a:solidFill>
            <a:srgbClr val="2E5090"/>
          </a:solid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440000" y="1800000"/>
            <a:ext cx="1728000" cy="503999"/>
          </a:xfrm>
          <a:prstGeom prst="rect">
            <a:avLst/>
          </a:prstGeom>
          <a:noFill/>
        </p:spPr>
        <p:txBody>
          <a:bodyPr wrap="square">
            <a:spAutoFit/>
          </a:bodyPr>
          <a:lstStyle/>
          <a:p>
            <a:pPr algn="ctr"/>
            <a:r>
              <a:rPr sz="1300" b="1" i="0">
                <a:solidFill>
                  <a:srgbClr val="C9A84C"/>
                </a:solidFill>
                <a:latin typeface="Calibri"/>
              </a:rPr>
              <a:t>Phase 1 Go-Live</a:t>
            </a:r>
          </a:p>
        </p:txBody>
      </p:sp>
      <p:sp>
        <p:nvSpPr>
          <p:cNvPr id="37" name="TextBox 36"/>
          <p:cNvSpPr txBox="1"/>
          <p:nvPr/>
        </p:nvSpPr>
        <p:spPr>
          <a:xfrm>
            <a:off x="10440000" y="2340000"/>
            <a:ext cx="1728000" cy="324000"/>
          </a:xfrm>
          <a:prstGeom prst="rect">
            <a:avLst/>
          </a:prstGeom>
          <a:noFill/>
        </p:spPr>
        <p:txBody>
          <a:bodyPr wrap="square">
            <a:spAutoFit/>
          </a:bodyPr>
          <a:lstStyle/>
          <a:p>
            <a:pPr algn="ctr"/>
            <a:r>
              <a:rPr sz="1200" b="0" i="1">
                <a:solidFill>
                  <a:srgbClr val="FFFFFF"/>
                </a:solidFill>
                <a:latin typeface="Calibri"/>
              </a:rPr>
              <a:t>Month 8</a:t>
            </a:r>
          </a:p>
        </p:txBody>
      </p:sp>
      <p:sp>
        <p:nvSpPr>
          <p:cNvPr id="38" name="TextBox 37"/>
          <p:cNvSpPr txBox="1"/>
          <p:nvPr/>
        </p:nvSpPr>
        <p:spPr>
          <a:xfrm>
            <a:off x="10440000" y="2700000"/>
            <a:ext cx="1728000" cy="360000"/>
          </a:xfrm>
          <a:prstGeom prst="rect">
            <a:avLst/>
          </a:prstGeom>
          <a:noFill/>
        </p:spPr>
        <p:txBody>
          <a:bodyPr wrap="square">
            <a:spAutoFit/>
          </a:bodyPr>
          <a:lstStyle/>
          <a:p>
            <a:pPr algn="ctr"/>
            <a:r>
              <a:rPr sz="1100" b="0" i="0">
                <a:solidFill>
                  <a:srgbClr val="B0C4DE"/>
                </a:solidFill>
                <a:latin typeface="Calibri"/>
              </a:rPr>
              <a:t>Pre-sale campaign launch</a:t>
            </a:r>
          </a:p>
        </p:txBody>
      </p:sp>
      <p:sp>
        <p:nvSpPr>
          <p:cNvPr id="39" name="Rectangle 38"/>
          <p:cNvSpPr/>
          <p:nvPr/>
        </p:nvSpPr>
        <p:spPr>
          <a:xfrm>
            <a:off x="1980000" y="5778000"/>
            <a:ext cx="8233200" cy="503999"/>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052000" y="5814000"/>
            <a:ext cx="8089200" cy="432000"/>
          </a:xfrm>
          <a:prstGeom prst="rect">
            <a:avLst/>
          </a:prstGeom>
          <a:noFill/>
        </p:spPr>
        <p:txBody>
          <a:bodyPr wrap="square">
            <a:spAutoFit/>
          </a:bodyPr>
          <a:lstStyle/>
          <a:p>
            <a:pPr algn="ctr"/>
            <a:r>
              <a:rPr sz="1500" b="1" i="0">
                <a:solidFill>
                  <a:srgbClr val="0D1B2A"/>
                </a:solidFill>
                <a:latin typeface="Calibri"/>
              </a:rPr>
              <a:t>Decision needed by [Date] to hit pre-sale launch window</a:t>
            </a:r>
          </a:p>
        </p:txBody>
      </p:sp>
      <p:sp>
        <p:nvSpPr>
          <p:cNvPr id="41" name="TextBox 40"/>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cxnSp>
        <p:nvCxnSpPr>
          <p:cNvPr id="42" name="Connector 41"/>
          <p:cNvCxnSpPr/>
          <p:nvPr/>
        </p:nvCxnSpPr>
        <p:spPr>
          <a:xfrm>
            <a:off x="360000" y="6354001"/>
            <a:ext cx="11473200" cy="0"/>
          </a:xfrm>
          <a:prstGeom prst="line">
            <a:avLst/>
          </a:prstGeom>
          <a:ln w="19050">
            <a:solidFill>
              <a:srgbClr val="C9A84C"/>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1473200" y="6462000"/>
            <a:ext cx="576000" cy="288000"/>
          </a:xfrm>
          <a:prstGeom prst="rect">
            <a:avLst/>
          </a:prstGeom>
          <a:noFill/>
        </p:spPr>
        <p:txBody>
          <a:bodyPr wrap="square">
            <a:spAutoFit/>
          </a:bodyPr>
          <a:lstStyle/>
          <a:p>
            <a:pPr algn="r"/>
            <a:r>
              <a:rPr sz="1000" b="0" i="0">
                <a:solidFill>
                  <a:srgbClr val="C9A84C"/>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720000" y="648000"/>
            <a:ext cx="10753200" cy="720000"/>
          </a:xfrm>
          <a:prstGeom prst="rect">
            <a:avLst/>
          </a:prstGeom>
          <a:noFill/>
        </p:spPr>
        <p:txBody>
          <a:bodyPr wrap="square">
            <a:spAutoFit/>
          </a:bodyPr>
          <a:lstStyle/>
          <a:p>
            <a:pPr algn="ctr"/>
            <a:r>
              <a:rPr sz="3400" b="1" i="1">
                <a:solidFill>
                  <a:srgbClr val="FFFFFF"/>
                </a:solidFill>
                <a:latin typeface="Calibri"/>
              </a:rPr>
              <a:t>This Is More Than a Platform.</a:t>
            </a:r>
          </a:p>
        </p:txBody>
      </p:sp>
      <p:sp>
        <p:nvSpPr>
          <p:cNvPr id="3" name="TextBox 2"/>
          <p:cNvSpPr txBox="1"/>
          <p:nvPr/>
        </p:nvSpPr>
        <p:spPr>
          <a:xfrm>
            <a:off x="1080000" y="1512000"/>
            <a:ext cx="10033200" cy="3600000"/>
          </a:xfrm>
          <a:prstGeom prst="rect">
            <a:avLst/>
          </a:prstGeom>
          <a:noFill/>
        </p:spPr>
        <p:txBody>
          <a:bodyPr wrap="square">
            <a:spAutoFit/>
          </a:bodyPr>
          <a:lstStyle/>
          <a:p>
            <a:pPr algn="ctr"/>
            <a:r>
              <a:rPr sz="1800" b="0" i="1">
                <a:solidFill>
                  <a:srgbClr val="B0C4DE"/>
                </a:solidFill>
                <a:latin typeface="Calibri"/>
              </a:rPr>
              <a:t>It is the first impression every future resident will have of Splendora HH4 —
before they visit, before they buy, before they move in.
It is the daily companion they will trust for years after.
It is the data, the relationship, and the brand equity
that no competitor can replicate overnight.
The question is not whether to build it.
The question is whether to build it first.</a:t>
            </a:r>
          </a:p>
        </p:txBody>
      </p:sp>
      <p:cxnSp>
        <p:nvCxnSpPr>
          <p:cNvPr id="4" name="Connector 3"/>
          <p:cNvCxnSpPr/>
          <p:nvPr/>
        </p:nvCxnSpPr>
        <p:spPr>
          <a:xfrm>
            <a:off x="1440000" y="5850001"/>
            <a:ext cx="9313200" cy="0"/>
          </a:xfrm>
          <a:prstGeom prst="line">
            <a:avLst/>
          </a:prstGeom>
          <a:ln w="25400">
            <a:solidFill>
              <a:srgbClr val="C9A84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20000" y="6030001"/>
            <a:ext cx="10753200" cy="324000"/>
          </a:xfrm>
          <a:prstGeom prst="rect">
            <a:avLst/>
          </a:prstGeom>
          <a:noFill/>
        </p:spPr>
        <p:txBody>
          <a:bodyPr wrap="square">
            <a:spAutoFit/>
          </a:bodyPr>
          <a:lstStyle/>
          <a:p>
            <a:pPr algn="ctr"/>
            <a:r>
              <a:rPr sz="1300" b="0" i="1">
                <a:solidFill>
                  <a:srgbClr val="C9A84C"/>
                </a:solidFill>
                <a:latin typeface="Calibri"/>
              </a:rPr>
              <a:t>HH4 Digital Platform  ·  Confidential  ·  March 2026</a:t>
            </a:r>
          </a:p>
        </p:txBody>
      </p:sp>
      <p:sp>
        <p:nvSpPr>
          <p:cNvPr id="6" name="TextBox 5"/>
          <p:cNvSpPr txBox="1"/>
          <p:nvPr/>
        </p:nvSpPr>
        <p:spPr>
          <a:xfrm>
            <a:off x="11041200" y="108000"/>
            <a:ext cx="1007999" cy="324000"/>
          </a:xfrm>
          <a:prstGeom prst="rect">
            <a:avLst/>
          </a:prstGeom>
          <a:noFill/>
        </p:spPr>
        <p:txBody>
          <a:bodyPr wrap="square">
            <a:spAutoFit/>
          </a:bodyPr>
          <a:lstStyle/>
          <a:p>
            <a:pPr algn="r"/>
            <a:r>
              <a:rPr sz="1600" b="1" i="0">
                <a:solidFill>
                  <a:srgbClr val="C9A84C"/>
                </a:solidFill>
                <a:latin typeface="Calibri"/>
              </a:rPr>
              <a:t>HH4</a:t>
            </a:r>
          </a:p>
        </p:txBody>
      </p:sp>
      <p:sp>
        <p:nvSpPr>
          <p:cNvPr id="7" name="TextBox 6"/>
          <p:cNvSpPr txBox="1"/>
          <p:nvPr/>
        </p:nvSpPr>
        <p:spPr>
          <a:xfrm>
            <a:off x="11473200" y="6462000"/>
            <a:ext cx="576000" cy="288000"/>
          </a:xfrm>
          <a:prstGeom prst="rect">
            <a:avLst/>
          </a:prstGeom>
          <a:noFill/>
        </p:spPr>
        <p:txBody>
          <a:bodyPr wrap="square">
            <a:spAutoFit/>
          </a:bodyPr>
          <a:lstStyle/>
          <a:p>
            <a:pPr algn="r"/>
            <a:r>
              <a:rPr sz="1000" b="0" i="0">
                <a:solidFill>
                  <a:srgbClr val="C9A84C"/>
                </a:solidFill>
                <a:latin typeface="Calibri"/>
              </a:rP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